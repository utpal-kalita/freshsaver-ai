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as a story: food can move from sellable inventory to a supermarket waste container because the intervention came too late. FreshSaver gives the owner an evidence-based action while the product still has value. Image: “Supermarket dumpster” by KVDP, public domain, Wikimedia Commons: https://commons.wikimedia.org/wiki/File:Supermarket_dumpster.jpg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story from global to local. UNEP reports 1.05 billion tonnes of food waste in 2022 across retail, food service and households; 12% occurred at retail. Food loss and waste cost roughly US$1 trillion and generate 8–10% of global greenhouse gas emissions. Separately, the European Commission estimates up to 10% of EU food waste is linked to date marking. Do not say all global food waste is caused by expiry dates. Bring the story back to the grocer choosing between holding, marking down, or losing stock.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Emphasize that a prediction alone does not rescue food. The value is the closed loop from inventory to owner action to shopper pickup.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two personas. Owners get four focused pages; shoppers see only approved active deals and can reserve for pickup.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XGBoost as the live primary AI. Gemini is an evidence-grounded adapter with a safe template fallback; it never calculates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caveat before the numbers: these metrics validate the train/serve/evaluate pipeline on synthetic data. The next claim must come from merchant data and a controlled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separation of duties: model predicts, policy constrains, owner decides. Candidate values on this slide are illustrative and should not be presented as measured store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store_id as the tenant key. Service-role access stays server-side; recommendation and approval evidence is persisted for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honesty is intentional. Separate what the deployed product proves from outcomes that require a controlled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disciplined ambition: the product already connects the decision to action. Ask judges or merchants for a shadow pilot, not blind autonomy.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6F3E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82938D"/>
                </a:solidFill>
                <a:latin typeface="Aptos"/>
                <a:ea typeface="Aptos"/>
                <a:cs typeface="Apto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73D31"/>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6ADA4"/>
                </a:solidFill>
                <a:latin typeface="Aptos"/>
                <a:ea typeface="Aptos"/>
                <a:cs typeface="Aptos"/>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82938D"/>
                </a:solidFill>
                <a:latin typeface="Aptos"/>
                <a:ea typeface="Aptos"/>
                <a:cs typeface="Apto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freshsaver-ai.vercel.app/demo" TargetMode="External"/><Relationship Id="rId3" Type="http://schemas.openxmlformats.org/officeDocument/2006/relationships/hyperlink" Target="https://github.com/Utpal-Kalita/FreshSaver-AI" TargetMode="External"/><Relationship Id="rId5" Type="http://schemas.openxmlformats.org/officeDocument/2006/relationships/hyperlink" Target="https://freshsaver-ai.vercel.app/demo" TargetMode="External"/><Relationship Id="rId1" Type="http://schemas.openxmlformats.org/officeDocument/2006/relationships/image" Target="../media/image-1-1.jpg"/><Relationship Id="rId4" Type="http://schemas.openxmlformats.org/officeDocument/2006/relationships/image" Target="../media/image-1-2.png"/><Relationship Id="rId6" Type="http://schemas.openxmlformats.org/officeDocument/2006/relationships/slideLayout" Target="../slideLayouts/slideLayout3.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unep.org/news-and-stories/press-release/world-squanders-over-1-billion-meals-day-un-report" TargetMode="External"/><Relationship Id="rId2" Type="http://schemas.openxmlformats.org/officeDocument/2006/relationships/hyperlink" Target="https://food.ec.europa.eu/food-safety/food-waste/eu-actions-against-food-waste/date-marking-and-food-waste-prevention_en" TargetMode="External"/><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freshsaver-ai.vercel.app" TargetMode="External"/><Relationship Id="rId2" Type="http://schemas.openxmlformats.org/officeDocument/2006/relationships/hyperlink" Target="https://freshsaver-demand-model.onrender.com" TargetMode="External"/><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freshsaver-ai.vercel.app/demo" TargetMode="External"/><Relationship Id="rId3" Type="http://schemas.openxmlformats.org/officeDocument/2006/relationships/hyperlink" Target="https://freshsaver-ai.vercel.app/demo" TargetMode="External"/><Relationship Id="rId5" Type="http://schemas.openxmlformats.org/officeDocument/2006/relationships/hyperlink" Target="https://github.com/Utpal-Kalita/FreshSaver-AI" TargetMode="External"/><Relationship Id="rId2" Type="http://schemas.openxmlformats.org/officeDocument/2006/relationships/image" Target="../media/image-10-1.png"/><Relationship Id="rId4" Type="http://schemas.openxmlformats.org/officeDocument/2006/relationships/image" Target="../media/image-10-2.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D31"/>
        </a:solidFill>
      </p:bgPr>
    </p:bg>
    <p:spTree>
      <p:nvGrpSpPr>
        <p:cNvPr id="1" name=""/>
        <p:cNvGrpSpPr/>
        <p:nvPr/>
      </p:nvGrpSpPr>
      <p:grpSpPr>
        <a:xfrm>
          <a:off x="0" y="0"/>
          <a:ext cx="0" cy="0"/>
          <a:chOff x="0" y="0"/>
          <a:chExt cx="0" cy="0"/>
        </a:xfrm>
      </p:grpSpPr>
      <p:sp>
        <p:nvSpPr>
          <p:cNvPr id="2" name="Shape 0"/>
          <p:cNvSpPr/>
          <p:nvPr/>
        </p:nvSpPr>
        <p:spPr>
          <a:xfrm>
            <a:off x="8686800" y="-2011680"/>
            <a:ext cx="5303520" cy="5303520"/>
          </a:xfrm>
          <a:prstGeom prst="ellipse">
            <a:avLst/>
          </a:prstGeom>
          <a:solidFill>
            <a:srgbClr val="BEF264">
              <a:alpha val="15000"/>
            </a:srgbClr>
          </a:solidFill>
          <a:ln w="12700">
            <a:solidFill>
              <a:srgbClr val="BEF264">
                <a:alpha val="0"/>
              </a:srgbClr>
            </a:solidFill>
            <a:prstDash val="solid"/>
          </a:ln>
        </p:spPr>
      </p:sp>
      <p:sp>
        <p:nvSpPr>
          <p:cNvPr id="3" name="Shape 1"/>
          <p:cNvSpPr/>
          <p:nvPr/>
        </p:nvSpPr>
        <p:spPr>
          <a:xfrm>
            <a:off x="-1463040" y="5166360"/>
            <a:ext cx="3840480" cy="3840480"/>
          </a:xfrm>
          <a:prstGeom prst="ellipse">
            <a:avLst/>
          </a:prstGeom>
          <a:solidFill>
            <a:srgbClr val="10B981">
              <a:alpha val="15000"/>
            </a:srgbClr>
          </a:solidFill>
          <a:ln w="12700">
            <a:solidFill>
              <a:srgbClr val="10B981">
                <a:alpha val="0"/>
              </a:srgbClr>
            </a:solidFill>
            <a:prstDash val="solid"/>
          </a:ln>
        </p:spPr>
      </p:sp>
      <p:sp>
        <p:nvSpPr>
          <p:cNvPr id="4" name="Shape 2"/>
          <p:cNvSpPr/>
          <p:nvPr/>
        </p:nvSpPr>
        <p:spPr>
          <a:xfrm>
            <a:off x="594360" y="457200"/>
            <a:ext cx="438912" cy="438912"/>
          </a:xfrm>
          <a:prstGeom prst="ellipse">
            <a:avLst/>
          </a:prstGeom>
          <a:solidFill>
            <a:srgbClr val="BEF264"/>
          </a:solidFill>
          <a:ln w="12700">
            <a:solidFill>
              <a:srgbClr val="BEF264"/>
            </a:solidFill>
            <a:prstDash val="solid"/>
          </a:ln>
        </p:spPr>
      </p:sp>
      <p:sp>
        <p:nvSpPr>
          <p:cNvPr id="5" name="Text 3"/>
          <p:cNvSpPr/>
          <p:nvPr/>
        </p:nvSpPr>
        <p:spPr>
          <a:xfrm>
            <a:off x="594360" y="457200"/>
            <a:ext cx="438912" cy="438912"/>
          </a:xfrm>
          <a:prstGeom prst="rect">
            <a:avLst/>
          </a:prstGeom>
          <a:noFill/>
          <a:ln/>
        </p:spPr>
        <p:txBody>
          <a:bodyPr wrap="square" lIns="0" tIns="0" rIns="0" bIns="0" rtlCol="0" anchor="ctr">
            <a:normAutofit/>
          </a:bodyPr>
          <a:lstStyle/>
          <a:p>
            <a:pPr algn="ctr" indent="0" marL="0">
              <a:buNone/>
            </a:pPr>
            <a:r>
              <a:rPr lang="en-US" sz="1600" b="1" dirty="0">
                <a:solidFill>
                  <a:srgbClr val="173D31"/>
                </a:solidFill>
                <a:latin typeface="Aptos" pitchFamily="34" charset="0"/>
                <a:ea typeface="Aptos" pitchFamily="34" charset="-122"/>
                <a:cs typeface="Aptos" pitchFamily="34" charset="-120"/>
              </a:rPr>
              <a:t>F</a:t>
            </a:r>
            <a:endParaRPr lang="en-US" sz="1600" dirty="0"/>
          </a:p>
        </p:txBody>
      </p:sp>
      <p:sp>
        <p:nvSpPr>
          <p:cNvPr id="6" name="Text 4"/>
          <p:cNvSpPr/>
          <p:nvPr/>
        </p:nvSpPr>
        <p:spPr>
          <a:xfrm>
            <a:off x="1143000" y="475488"/>
            <a:ext cx="2011680" cy="365760"/>
          </a:xfrm>
          <a:prstGeom prst="rect">
            <a:avLst/>
          </a:prstGeom>
          <a:noFill/>
          <a:ln/>
        </p:spPr>
        <p:txBody>
          <a:bodyPr wrap="square" lIns="0" tIns="0" rIns="0" bIns="0" rtlCol="0" anchor="ctr">
            <a:normAutofit/>
          </a:bodyPr>
          <a:lstStyle/>
          <a:p>
            <a:pPr algn="l" indent="0" marL="0">
              <a:buNone/>
            </a:pPr>
            <a:r>
              <a:rPr lang="en-US" sz="1300" b="1" spc="120" kern="0" dirty="0">
                <a:solidFill>
                  <a:srgbClr val="FFFFFF"/>
                </a:solidFill>
                <a:latin typeface="Aptos" pitchFamily="34" charset="0"/>
                <a:ea typeface="Aptos" pitchFamily="34" charset="-122"/>
                <a:cs typeface="Aptos" pitchFamily="34" charset="-120"/>
              </a:rPr>
              <a:t>FRESHSAVER AI</a:t>
            </a:r>
            <a:endParaRPr lang="en-US" sz="1300" dirty="0"/>
          </a:p>
        </p:txBody>
      </p:sp>
      <p:sp>
        <p:nvSpPr>
          <p:cNvPr id="7" name="Shape 5"/>
          <p:cNvSpPr/>
          <p:nvPr/>
        </p:nvSpPr>
        <p:spPr>
          <a:xfrm>
            <a:off x="594360" y="1234440"/>
            <a:ext cx="2331720" cy="292608"/>
          </a:xfrm>
          <a:prstGeom prst="roundRect">
            <a:avLst>
              <a:gd name="adj" fmla="val 50000"/>
            </a:avLst>
          </a:prstGeom>
          <a:solidFill>
            <a:srgbClr val="244F42"/>
          </a:solidFill>
          <a:ln w="12700">
            <a:solidFill>
              <a:srgbClr val="244F42">
                <a:alpha val="0"/>
              </a:srgbClr>
            </a:solidFill>
            <a:prstDash val="solid"/>
          </a:ln>
        </p:spPr>
      </p:sp>
      <p:sp>
        <p:nvSpPr>
          <p:cNvPr id="8" name="Text 6"/>
          <p:cNvSpPr/>
          <p:nvPr/>
        </p:nvSpPr>
        <p:spPr>
          <a:xfrm>
            <a:off x="667512" y="1234440"/>
            <a:ext cx="2185416" cy="292608"/>
          </a:xfrm>
          <a:prstGeom prst="rect">
            <a:avLst/>
          </a:prstGeom>
          <a:noFill/>
          <a:ln/>
        </p:spPr>
        <p:txBody>
          <a:bodyPr wrap="square" lIns="0" tIns="0" rIns="0" bIns="0" rtlCol="0" anchor="ctr">
            <a:normAutofit/>
          </a:bodyPr>
          <a:lstStyle/>
          <a:p>
            <a:pPr algn="ctr" indent="0" marL="0">
              <a:buNone/>
            </a:pPr>
            <a:r>
              <a:rPr lang="en-US" sz="900" b="1" dirty="0">
                <a:solidFill>
                  <a:srgbClr val="BEF264"/>
                </a:solidFill>
                <a:latin typeface="Aptos" pitchFamily="34" charset="0"/>
                <a:ea typeface="Aptos" pitchFamily="34" charset="-122"/>
                <a:cs typeface="Aptos" pitchFamily="34" charset="-120"/>
              </a:rPr>
              <a:t>AI BUILDERS HACKATHON 2026</a:t>
            </a:r>
            <a:endParaRPr lang="en-US" sz="900" dirty="0"/>
          </a:p>
        </p:txBody>
      </p:sp>
      <p:sp>
        <p:nvSpPr>
          <p:cNvPr id="9" name="Text 7"/>
          <p:cNvSpPr/>
          <p:nvPr/>
        </p:nvSpPr>
        <p:spPr>
          <a:xfrm>
            <a:off x="594360" y="1755648"/>
            <a:ext cx="5623560" cy="2395728"/>
          </a:xfrm>
          <a:prstGeom prst="rect">
            <a:avLst/>
          </a:prstGeom>
          <a:noFill/>
          <a:ln/>
        </p:spPr>
        <p:txBody>
          <a:bodyPr wrap="square" lIns="0" tIns="0" rIns="0" bIns="0" rtlCol="0" anchor="t">
            <a:normAutofit/>
          </a:bodyPr>
          <a:lstStyle/>
          <a:p>
            <a:pPr algn="l" indent="0" marL="0">
              <a:buNone/>
            </a:pPr>
            <a:r>
              <a:rPr lang="en-US" sz="3700" b="1" dirty="0">
                <a:solidFill>
                  <a:srgbClr val="FFFFFF"/>
                </a:solidFill>
                <a:latin typeface="Aptos Display" pitchFamily="34" charset="0"/>
                <a:ea typeface="Aptos Display" pitchFamily="34" charset="-122"/>
                <a:cs typeface="Aptos Display" pitchFamily="34" charset="-120"/>
              </a:rPr>
              <a:t>Fresh today.</a:t>
            </a:r>
            <a:endParaRPr lang="en-US" sz="3700" dirty="0"/>
          </a:p>
          <a:p>
            <a:pPr algn="l" indent="0" marL="0">
              <a:buNone/>
            </a:pPr>
            <a:r>
              <a:rPr lang="en-US" sz="3700" b="1" dirty="0">
                <a:solidFill>
                  <a:srgbClr val="FFFFFF"/>
                </a:solidFill>
                <a:latin typeface="Aptos Display" pitchFamily="34" charset="0"/>
                <a:ea typeface="Aptos Display" pitchFamily="34" charset="-122"/>
                <a:cs typeface="Aptos Display" pitchFamily="34" charset="-120"/>
              </a:rPr>
              <a:t>Expired tomorrow.</a:t>
            </a:r>
            <a:endParaRPr lang="en-US" sz="3700" dirty="0"/>
          </a:p>
          <a:p>
            <a:pPr algn="l" indent="0" marL="0">
              <a:buNone/>
            </a:pPr>
            <a:r>
              <a:rPr lang="en-US" sz="3700" b="1" dirty="0">
                <a:solidFill>
                  <a:srgbClr val="FFFFFF"/>
                </a:solidFill>
                <a:latin typeface="Aptos Display" pitchFamily="34" charset="0"/>
                <a:ea typeface="Aptos Display" pitchFamily="34" charset="-122"/>
                <a:cs typeface="Aptos Display" pitchFamily="34" charset="-120"/>
              </a:rPr>
              <a:t>Wasted forever.</a:t>
            </a:r>
            <a:endParaRPr lang="en-US" sz="3700" dirty="0"/>
          </a:p>
        </p:txBody>
      </p:sp>
      <p:sp>
        <p:nvSpPr>
          <p:cNvPr id="10" name="Text 8"/>
          <p:cNvSpPr/>
          <p:nvPr/>
        </p:nvSpPr>
        <p:spPr>
          <a:xfrm>
            <a:off x="658368" y="4407408"/>
            <a:ext cx="5138928" cy="713232"/>
          </a:xfrm>
          <a:prstGeom prst="rect">
            <a:avLst/>
          </a:prstGeom>
          <a:noFill/>
          <a:ln/>
        </p:spPr>
        <p:txBody>
          <a:bodyPr wrap="square" lIns="0" tIns="0" rIns="0" bIns="0" rtlCol="0" anchor="t">
            <a:normAutofit/>
          </a:bodyPr>
          <a:lstStyle/>
          <a:p>
            <a:pPr algn="l" indent="0" marL="0">
              <a:buNone/>
            </a:pPr>
            <a:r>
              <a:rPr lang="en-US" sz="1500" dirty="0">
                <a:solidFill>
                  <a:srgbClr val="C6D7D0"/>
                </a:solidFill>
                <a:latin typeface="Aptos" pitchFamily="34" charset="0"/>
                <a:ea typeface="Aptos" pitchFamily="34" charset="-122"/>
                <a:cs typeface="Aptos" pitchFamily="34" charset="-120"/>
              </a:rPr>
              <a:t>FreshSaver gives a grocer one more chance to protect margin and find a buyer before the expiry clock runs out.</a:t>
            </a:r>
            <a:endParaRPr lang="en-US" sz="1500" dirty="0"/>
          </a:p>
        </p:txBody>
      </p:sp>
      <p:pic>
        <p:nvPicPr>
          <p:cNvPr id="11" name="Image 0" descr="Discarded food from a supermarket in a waste container">    </p:cNvPr>
          <p:cNvPicPr>
            <a:picLocks noChangeAspect="1"/>
          </p:cNvPicPr>
          <p:nvPr/>
        </p:nvPicPr>
        <p:blipFill>
          <a:blip r:embed="rId1"/>
          <a:srcRect l="0" r="0" t="0" b="0"/>
          <a:stretch/>
        </p:blipFill>
        <p:spPr>
          <a:xfrm>
            <a:off x="6565392" y="1051560"/>
            <a:ext cx="4983480" cy="4773168"/>
          </a:xfrm>
          <a:prstGeom prst="rect">
            <a:avLst/>
          </a:prstGeom>
        </p:spPr>
      </p:pic>
      <p:sp>
        <p:nvSpPr>
          <p:cNvPr id="12" name="Shape 9"/>
          <p:cNvSpPr/>
          <p:nvPr/>
        </p:nvSpPr>
        <p:spPr>
          <a:xfrm>
            <a:off x="6565392" y="4370832"/>
            <a:ext cx="4983480" cy="1453896"/>
          </a:xfrm>
          <a:prstGeom prst="rect">
            <a:avLst/>
          </a:prstGeom>
          <a:solidFill>
            <a:srgbClr val="0D2B22">
              <a:alpha val="88000"/>
            </a:srgbClr>
          </a:solidFill>
          <a:ln w="12700">
            <a:solidFill>
              <a:srgbClr val="0D2B22">
                <a:alpha val="0"/>
              </a:srgbClr>
            </a:solidFill>
            <a:prstDash val="solid"/>
          </a:ln>
        </p:spPr>
      </p:sp>
      <p:sp>
        <p:nvSpPr>
          <p:cNvPr id="13" name="Shape 10"/>
          <p:cNvSpPr/>
          <p:nvPr/>
        </p:nvSpPr>
        <p:spPr>
          <a:xfrm>
            <a:off x="6931152" y="4645152"/>
            <a:ext cx="1481328" cy="292608"/>
          </a:xfrm>
          <a:prstGeom prst="roundRect">
            <a:avLst>
              <a:gd name="adj" fmla="val 50000"/>
            </a:avLst>
          </a:prstGeom>
          <a:solidFill>
            <a:srgbClr val="F97316"/>
          </a:solidFill>
          <a:ln w="12700">
            <a:solidFill>
              <a:srgbClr val="F97316">
                <a:alpha val="0"/>
              </a:srgbClr>
            </a:solidFill>
            <a:prstDash val="solid"/>
          </a:ln>
        </p:spPr>
      </p:sp>
      <p:sp>
        <p:nvSpPr>
          <p:cNvPr id="14" name="Text 11"/>
          <p:cNvSpPr/>
          <p:nvPr/>
        </p:nvSpPr>
        <p:spPr>
          <a:xfrm>
            <a:off x="7004304" y="4645152"/>
            <a:ext cx="1335024" cy="292608"/>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THE COST OF WAITING</a:t>
            </a:r>
            <a:endParaRPr lang="en-US" sz="900" dirty="0"/>
          </a:p>
        </p:txBody>
      </p:sp>
      <p:sp>
        <p:nvSpPr>
          <p:cNvPr id="15" name="Text 12"/>
          <p:cNvSpPr/>
          <p:nvPr/>
        </p:nvSpPr>
        <p:spPr>
          <a:xfrm>
            <a:off x="6931152" y="5010912"/>
            <a:ext cx="3401568" cy="566928"/>
          </a:xfrm>
          <a:prstGeom prst="rect">
            <a:avLst/>
          </a:prstGeom>
          <a:noFill/>
          <a:ln/>
        </p:spPr>
        <p:txBody>
          <a:bodyPr wrap="square" lIns="0" tIns="0" rIns="0" bIns="0" rtlCol="0" anchor="t">
            <a:normAutofit/>
          </a:bodyPr>
          <a:lstStyle/>
          <a:p>
            <a:pPr algn="l" indent="0" marL="0">
              <a:buNone/>
            </a:pPr>
            <a:r>
              <a:rPr lang="en-US" sz="1900" b="1" dirty="0">
                <a:solidFill>
                  <a:srgbClr val="FFFFFF"/>
                </a:solidFill>
                <a:latin typeface="Aptos Display" pitchFamily="34" charset="0"/>
                <a:ea typeface="Aptos Display" pitchFamily="34" charset="-122"/>
                <a:cs typeface="Aptos Display" pitchFamily="34" charset="-120"/>
              </a:rPr>
              <a:t>What was inventory</a:t>
            </a:r>
            <a:endParaRPr lang="en-US" sz="1900" dirty="0"/>
          </a:p>
          <a:p>
            <a:pPr algn="l" indent="0" marL="0">
              <a:buNone/>
            </a:pPr>
            <a:r>
              <a:rPr lang="en-US" sz="1900" b="1" dirty="0">
                <a:solidFill>
                  <a:srgbClr val="FFFFFF"/>
                </a:solidFill>
                <a:latin typeface="Aptos Display" pitchFamily="34" charset="0"/>
                <a:ea typeface="Aptos Display" pitchFamily="34" charset="-122"/>
                <a:cs typeface="Aptos Display" pitchFamily="34" charset="-120"/>
              </a:rPr>
              <a:t>becomes avoidable waste.</a:t>
            </a:r>
            <a:endParaRPr lang="en-US" sz="1900" dirty="0"/>
          </a:p>
        </p:txBody>
      </p:sp>
      <p:sp>
        <p:nvSpPr>
          <p:cNvPr id="16" name="Text 13"/>
          <p:cNvSpPr/>
          <p:nvPr/>
        </p:nvSpPr>
        <p:spPr>
          <a:xfrm>
            <a:off x="6931152" y="5614416"/>
            <a:ext cx="3520440" cy="146304"/>
          </a:xfrm>
          <a:prstGeom prst="rect">
            <a:avLst/>
          </a:prstGeom>
          <a:noFill/>
          <a:ln/>
        </p:spPr>
        <p:txBody>
          <a:bodyPr wrap="square" lIns="0" tIns="0" rIns="0" bIns="0" rtlCol="0" anchor="ctr">
            <a:normAutofit/>
          </a:bodyPr>
          <a:lstStyle/>
          <a:p>
            <a:pPr algn="l" indent="0" marL="0">
              <a:buNone/>
            </a:pPr>
            <a:r>
              <a:rPr lang="en-US" sz="680" dirty="0">
                <a:solidFill>
                  <a:srgbClr val="D3DDD9"/>
                </a:solidFill>
                <a:latin typeface="Aptos" pitchFamily="34" charset="0"/>
                <a:ea typeface="Aptos" pitchFamily="34" charset="-122"/>
                <a:cs typeface="Aptos" pitchFamily="34" charset="-120"/>
              </a:rPr>
              <a:t>Public-domain image: KVDP / Wikimedia Commons</a:t>
            </a:r>
            <a:endParaRPr lang="en-US" sz="680" dirty="0"/>
          </a:p>
        </p:txBody>
      </p:sp>
      <p:sp>
        <p:nvSpPr>
          <p:cNvPr id="17" name="Text 14"/>
          <p:cNvSpPr/>
          <p:nvPr/>
        </p:nvSpPr>
        <p:spPr>
          <a:xfrm>
            <a:off x="658368" y="5715000"/>
            <a:ext cx="1417320" cy="274320"/>
          </a:xfrm>
          <a:prstGeom prst="rect">
            <a:avLst/>
          </a:prstGeom>
          <a:noFill/>
          <a:ln/>
        </p:spPr>
        <p:txBody>
          <a:bodyPr wrap="square" lIns="0" tIns="0" rIns="0" bIns="0" rtlCol="0" anchor="ctr">
            <a:normAutofit/>
          </a:bodyPr>
          <a:lstStyle/>
          <a:p>
            <a:pPr algn="l" indent="0" marL="0">
              <a:buNone/>
            </a:pPr>
            <a:r>
              <a:rPr lang="en-US" sz="1000" b="1" u="sng" dirty="0">
                <a:solidFill>
                  <a:srgbClr val="BEF264"/>
                </a:solidFill>
                <a:uFill>
                  <a:solidFill>
                    <a:srgbClr val="BEF264"/>
                  </a:solidFill>
                </a:u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LIVE DEMO  →</a:t>
            </a:r>
            <a:endParaRPr lang="en-US" sz="1000" dirty="0"/>
          </a:p>
        </p:txBody>
      </p:sp>
      <p:sp>
        <p:nvSpPr>
          <p:cNvPr id="18" name="Text 15"/>
          <p:cNvSpPr/>
          <p:nvPr/>
        </p:nvSpPr>
        <p:spPr>
          <a:xfrm>
            <a:off x="2331720" y="5715000"/>
            <a:ext cx="1234440" cy="274320"/>
          </a:xfrm>
          <a:prstGeom prst="rect">
            <a:avLst/>
          </a:prstGeom>
          <a:noFill/>
          <a:ln/>
        </p:spPr>
        <p:txBody>
          <a:bodyPr wrap="square" lIns="0" tIns="0" rIns="0" bIns="0" rtlCol="0" anchor="ctr">
            <a:normAutofit/>
          </a:bodyPr>
          <a:lstStyle/>
          <a:p>
            <a:pPr algn="l" indent="0" marL="0">
              <a:buNone/>
            </a:pPr>
            <a:r>
              <a:rPr lang="en-US" sz="1000" b="1" u="sng" dirty="0">
                <a:solidFill>
                  <a:srgbClr val="BEF264"/>
                </a:solidFill>
                <a:uFill>
                  <a:solidFill>
                    <a:srgbClr val="BEF264"/>
                  </a:solidFill>
                </a:uFill>
                <a:latin typeface="Aptos" pitchFamily="34" charset="0"/>
                <a:ea typeface="Aptos" pitchFamily="34" charset="-122"/>
                <a:cs typeface="Aptos" pitchFamily="34" charset="-120"/>
                <a:hlinkClick r:id="rId3" invalidUrl="" action="" tgtFrame="" tooltip="" history="1" highlightClick="0" endSnd="0">
                  <a:extLst>
                    <a:ext uri="{A12FA001-AC4F-418D-AE19-62706E023703}">
                      <ahyp:hlinkClr xmlns:ahyp="http://schemas.microsoft.com/office/drawing/2018/hyperlinkcolor" val="tx"/>
                    </a:ext>
                  </a:extLst>
                </a:hlinkClick>
              </a:rPr>
              <a:t>SOURCE  →</a:t>
            </a:r>
            <a:endParaRPr lang="en-US" sz="1000" dirty="0"/>
          </a:p>
        </p:txBody>
      </p:sp>
      <p:sp>
        <p:nvSpPr>
          <p:cNvPr id="19" name="Shape 16"/>
          <p:cNvSpPr/>
          <p:nvPr/>
        </p:nvSpPr>
        <p:spPr>
          <a:xfrm>
            <a:off x="502920" y="6419088"/>
            <a:ext cx="10744200" cy="0"/>
          </a:xfrm>
          <a:prstGeom prst="line">
            <a:avLst/>
          </a:prstGeom>
          <a:noFill/>
          <a:ln w="10160">
            <a:solidFill>
              <a:srgbClr val="406459"/>
            </a:solidFill>
            <a:prstDash val="solid"/>
          </a:ln>
        </p:spPr>
      </p:sp>
      <p:sp>
        <p:nvSpPr>
          <p:cNvPr id="20" name="Text 17"/>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BEF264"/>
                </a:solidFill>
                <a:latin typeface="Aptos" pitchFamily="34" charset="0"/>
                <a:ea typeface="Aptos" pitchFamily="34" charset="-122"/>
                <a:cs typeface="Aptos" pitchFamily="34" charset="-120"/>
              </a:rPr>
              <a:t>FRESHSAVER</a:t>
            </a:r>
            <a:endParaRPr lang="en-US" sz="750" dirty="0"/>
          </a:p>
        </p:txBody>
      </p:sp>
      <p:sp>
        <p:nvSpPr>
          <p:cNvPr id="21" name="Text 18"/>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90A99F"/>
                </a:solidFill>
                <a:latin typeface="Aptos" pitchFamily="34" charset="0"/>
                <a:ea typeface="Aptos" pitchFamily="34" charset="-122"/>
                <a:cs typeface="Aptos" pitchFamily="34" charset="-120"/>
              </a:rPr>
              <a:t>The global waste problem appears as a local pricing decision</a:t>
            </a:r>
            <a:endParaRPr lang="en-US" sz="750" dirty="0"/>
          </a:p>
        </p:txBody>
      </p:sp>
      <p:pic>
        <p:nvPicPr>
          <p:cNvPr id="23" name="Image 1" descr="preencoded.png">
            <a:hlinkClick r:id="rId5" tooltip=""/>
          </p:cNvPr>
          <p:cNvPicPr>
            <a:picLocks noChangeAspect="1"/>
          </p:cNvPicPr>
          <p:nvPr/>
        </p:nvPicPr>
        <p:blipFill>
          <a:blip r:embed="rId4"/>
          <a:stretch>
            <a:fillRect/>
          </a:stretch>
        </p:blipFill>
        <p:spPr>
          <a:xfrm>
            <a:off x="10716768" y="5577840"/>
            <a:ext cx="658368" cy="658368"/>
          </a:xfrm>
          <a:prstGeom prst="rect">
            <a:avLst/>
          </a:prstGeom>
        </p:spPr>
      </p:pic>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6ADA4"/>
                </a:solidFill>
                <a:latin typeface="Aptos"/>
                <a:ea typeface="Aptos"/>
                <a:cs typeface="Apto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10B981"/>
                </a:solidFill>
                <a:latin typeface="Aptos" pitchFamily="34" charset="0"/>
                <a:ea typeface="Aptos" pitchFamily="34" charset="-122"/>
                <a:cs typeface="Aptos" pitchFamily="34" charset="-120"/>
              </a:rPr>
              <a:t>PROBLEM STATEMENT</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15352C"/>
                </a:solidFill>
                <a:latin typeface="Aptos Display" pitchFamily="34" charset="0"/>
                <a:ea typeface="Aptos Display" pitchFamily="34" charset="-122"/>
                <a:cs typeface="Aptos Display" pitchFamily="34" charset="-120"/>
              </a:rPr>
              <a:t>The waste is global. The decision is local.</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667D75"/>
                </a:solidFill>
                <a:latin typeface="Aptos" pitchFamily="34" charset="0"/>
                <a:ea typeface="Aptos" pitchFamily="34" charset="-122"/>
                <a:cs typeface="Aptos" pitchFamily="34" charset="-120"/>
              </a:rPr>
              <a:t>Every number below is sourced; not all global food waste is caused by expiry dates.</a:t>
            </a:r>
            <a:endParaRPr lang="en-US" sz="1250" dirty="0"/>
          </a:p>
        </p:txBody>
      </p:sp>
      <p:sp>
        <p:nvSpPr>
          <p:cNvPr id="5" name="Shape 3"/>
          <p:cNvSpPr/>
          <p:nvPr/>
        </p:nvSpPr>
        <p:spPr>
          <a:xfrm>
            <a:off x="621792" y="1975104"/>
            <a:ext cx="2971800" cy="1627632"/>
          </a:xfrm>
          <a:prstGeom prst="roundRect">
            <a:avLst>
              <a:gd name="adj" fmla="val 12921"/>
            </a:avLst>
          </a:prstGeom>
          <a:solidFill>
            <a:srgbClr val="173D31"/>
          </a:solidFill>
          <a:ln w="12700">
            <a:solidFill>
              <a:srgbClr val="173D31">
                <a:alpha val="0"/>
              </a:srgbClr>
            </a:solidFill>
            <a:prstDash val="solid"/>
          </a:ln>
          <a:effectLst>
            <a:outerShdw sx="100000" sy="100000" kx="0" ky="0" algn="bl" rotWithShape="0" blurRad="25400" dist="50800" dir="2700000">
              <a:srgbClr val="0A241C">
                <a:alpha val="13000"/>
              </a:srgbClr>
            </a:outerShdw>
          </a:effectLst>
        </p:spPr>
      </p:sp>
      <p:sp>
        <p:nvSpPr>
          <p:cNvPr id="6" name="Text 4"/>
          <p:cNvSpPr/>
          <p:nvPr/>
        </p:nvSpPr>
        <p:spPr>
          <a:xfrm>
            <a:off x="841248" y="2212848"/>
            <a:ext cx="1600200" cy="502920"/>
          </a:xfrm>
          <a:prstGeom prst="rect">
            <a:avLst/>
          </a:prstGeom>
          <a:noFill/>
          <a:ln/>
        </p:spPr>
        <p:txBody>
          <a:bodyPr wrap="square" lIns="0" tIns="0" rIns="0" bIns="0" rtlCol="0" anchor="ctr">
            <a:normAutofit/>
          </a:bodyPr>
          <a:lstStyle/>
          <a:p>
            <a:pPr algn="l" indent="0" marL="0">
              <a:buNone/>
            </a:pPr>
            <a:r>
              <a:rPr lang="en-US" sz="3100" b="1" dirty="0">
                <a:solidFill>
                  <a:srgbClr val="BEF264"/>
                </a:solidFill>
                <a:latin typeface="Aptos Display" pitchFamily="34" charset="0"/>
                <a:ea typeface="Aptos Display" pitchFamily="34" charset="-122"/>
                <a:cs typeface="Aptos Display" pitchFamily="34" charset="-120"/>
              </a:rPr>
              <a:t>1.05B</a:t>
            </a:r>
            <a:endParaRPr lang="en-US" sz="3100" dirty="0"/>
          </a:p>
        </p:txBody>
      </p:sp>
      <p:sp>
        <p:nvSpPr>
          <p:cNvPr id="7" name="Text 5"/>
          <p:cNvSpPr/>
          <p:nvPr/>
        </p:nvSpPr>
        <p:spPr>
          <a:xfrm>
            <a:off x="2359152" y="2414016"/>
            <a:ext cx="914400" cy="219456"/>
          </a:xfrm>
          <a:prstGeom prst="rect">
            <a:avLst/>
          </a:prstGeom>
          <a:noFill/>
          <a:ln/>
        </p:spPr>
        <p:txBody>
          <a:bodyPr wrap="square" lIns="0" tIns="0" rIns="0" bIns="0" rtlCol="0" anchor="ctr">
            <a:normAutofit/>
          </a:bodyPr>
          <a:lstStyle/>
          <a:p>
            <a:pPr algn="r" indent="0" marL="0">
              <a:buNone/>
            </a:pPr>
            <a:r>
              <a:rPr lang="en-US" sz="1000" b="1" dirty="0">
                <a:solidFill>
                  <a:srgbClr val="FFFFFF"/>
                </a:solidFill>
                <a:latin typeface="Aptos" pitchFamily="34" charset="0"/>
                <a:ea typeface="Aptos" pitchFamily="34" charset="-122"/>
                <a:cs typeface="Aptos" pitchFamily="34" charset="-120"/>
              </a:rPr>
              <a:t>tonnes</a:t>
            </a:r>
            <a:endParaRPr lang="en-US" sz="1000" dirty="0"/>
          </a:p>
        </p:txBody>
      </p:sp>
      <p:sp>
        <p:nvSpPr>
          <p:cNvPr id="8" name="Text 6"/>
          <p:cNvSpPr/>
          <p:nvPr/>
        </p:nvSpPr>
        <p:spPr>
          <a:xfrm>
            <a:off x="841248" y="2852928"/>
            <a:ext cx="2468880" cy="530352"/>
          </a:xfrm>
          <a:prstGeom prst="rect">
            <a:avLst/>
          </a:prstGeom>
          <a:noFill/>
          <a:ln/>
        </p:spPr>
        <p:txBody>
          <a:bodyPr wrap="square" lIns="0" tIns="0" rIns="0" bIns="0" rtlCol="0" anchor="t">
            <a:normAutofit/>
          </a:bodyPr>
          <a:lstStyle/>
          <a:p>
            <a:pPr algn="l" indent="0" marL="0">
              <a:buNone/>
            </a:pPr>
            <a:r>
              <a:rPr lang="en-US" sz="1050" dirty="0">
                <a:solidFill>
                  <a:srgbClr val="CAD9D3"/>
                </a:solidFill>
                <a:latin typeface="Aptos" pitchFamily="34" charset="0"/>
                <a:ea typeface="Aptos" pitchFamily="34" charset="-122"/>
                <a:cs typeface="Aptos" pitchFamily="34" charset="-120"/>
              </a:rPr>
              <a:t>food waste generated at retail, food service and household level in 2022</a:t>
            </a:r>
            <a:endParaRPr lang="en-US" sz="1050" dirty="0"/>
          </a:p>
        </p:txBody>
      </p:sp>
      <p:sp>
        <p:nvSpPr>
          <p:cNvPr id="9" name="Shape 7"/>
          <p:cNvSpPr/>
          <p:nvPr/>
        </p:nvSpPr>
        <p:spPr>
          <a:xfrm>
            <a:off x="3986784" y="1975104"/>
            <a:ext cx="2971800" cy="1627632"/>
          </a:xfrm>
          <a:prstGeom prst="roundRect">
            <a:avLst>
              <a:gd name="adj" fmla="val 12921"/>
            </a:avLst>
          </a:prstGeom>
          <a:solidFill>
            <a:srgbClr val="F2ECFF"/>
          </a:solidFill>
          <a:ln w="12700">
            <a:solidFill>
              <a:srgbClr val="D9E3DD"/>
            </a:solidFill>
            <a:prstDash val="solid"/>
          </a:ln>
          <a:effectLst>
            <a:outerShdw sx="100000" sy="100000" kx="0" ky="0" algn="bl" rotWithShape="0" blurRad="322580000" dist="645160000" dir="162000000000">
              <a:srgbClr val="0A241C">
                <a:alpha val="1300000000"/>
              </a:srgbClr>
            </a:outerShdw>
          </a:effectLst>
        </p:spPr>
      </p:sp>
      <p:sp>
        <p:nvSpPr>
          <p:cNvPr id="10" name="Text 8"/>
          <p:cNvSpPr/>
          <p:nvPr/>
        </p:nvSpPr>
        <p:spPr>
          <a:xfrm>
            <a:off x="4206240" y="2212848"/>
            <a:ext cx="1600200" cy="502920"/>
          </a:xfrm>
          <a:prstGeom prst="rect">
            <a:avLst/>
          </a:prstGeom>
          <a:noFill/>
          <a:ln/>
        </p:spPr>
        <p:txBody>
          <a:bodyPr wrap="square" lIns="0" tIns="0" rIns="0" bIns="0" rtlCol="0" anchor="ctr">
            <a:normAutofit/>
          </a:bodyPr>
          <a:lstStyle/>
          <a:p>
            <a:pPr algn="l" indent="0" marL="0">
              <a:buNone/>
            </a:pPr>
            <a:r>
              <a:rPr lang="en-US" sz="3100" b="1" dirty="0">
                <a:solidFill>
                  <a:srgbClr val="7C3AED"/>
                </a:solidFill>
                <a:latin typeface="Aptos Display" pitchFamily="34" charset="0"/>
                <a:ea typeface="Aptos Display" pitchFamily="34" charset="-122"/>
                <a:cs typeface="Aptos Display" pitchFamily="34" charset="-120"/>
              </a:rPr>
              <a:t>~$1T</a:t>
            </a:r>
            <a:endParaRPr lang="en-US" sz="3100" dirty="0"/>
          </a:p>
        </p:txBody>
      </p:sp>
      <p:sp>
        <p:nvSpPr>
          <p:cNvPr id="11" name="Text 9"/>
          <p:cNvSpPr/>
          <p:nvPr/>
        </p:nvSpPr>
        <p:spPr>
          <a:xfrm>
            <a:off x="5724144" y="2414016"/>
            <a:ext cx="914400" cy="219456"/>
          </a:xfrm>
          <a:prstGeom prst="rect">
            <a:avLst/>
          </a:prstGeom>
          <a:noFill/>
          <a:ln/>
        </p:spPr>
        <p:txBody>
          <a:bodyPr wrap="square" lIns="0" tIns="0" rIns="0" bIns="0" rtlCol="0" anchor="ctr">
            <a:normAutofit/>
          </a:bodyPr>
          <a:lstStyle/>
          <a:p>
            <a:pPr algn="r" indent="0" marL="0">
              <a:buNone/>
            </a:pPr>
            <a:r>
              <a:rPr lang="en-US" sz="1000" b="1" dirty="0">
                <a:solidFill>
                  <a:srgbClr val="7C3AED"/>
                </a:solidFill>
                <a:latin typeface="Aptos" pitchFamily="34" charset="0"/>
                <a:ea typeface="Aptos" pitchFamily="34" charset="-122"/>
                <a:cs typeface="Aptos" pitchFamily="34" charset="-120"/>
              </a:rPr>
              <a:t>each year</a:t>
            </a:r>
            <a:endParaRPr lang="en-US" sz="1000" dirty="0"/>
          </a:p>
        </p:txBody>
      </p:sp>
      <p:sp>
        <p:nvSpPr>
          <p:cNvPr id="12" name="Text 10"/>
          <p:cNvSpPr/>
          <p:nvPr/>
        </p:nvSpPr>
        <p:spPr>
          <a:xfrm>
            <a:off x="4206240" y="2852928"/>
            <a:ext cx="2468880" cy="530352"/>
          </a:xfrm>
          <a:prstGeom prst="rect">
            <a:avLst/>
          </a:prstGeom>
          <a:noFill/>
          <a:ln/>
        </p:spPr>
        <p:txBody>
          <a:bodyPr wrap="square" lIns="0" tIns="0" rIns="0" bIns="0" rtlCol="0" anchor="t">
            <a:normAutofit/>
          </a:bodyPr>
          <a:lstStyle/>
          <a:p>
            <a:pPr algn="l" indent="0" marL="0">
              <a:buNone/>
            </a:pPr>
            <a:r>
              <a:rPr lang="en-US" sz="1050" dirty="0">
                <a:solidFill>
                  <a:srgbClr val="667D75"/>
                </a:solidFill>
                <a:latin typeface="Aptos" pitchFamily="34" charset="0"/>
                <a:ea typeface="Aptos" pitchFamily="34" charset="-122"/>
                <a:cs typeface="Aptos" pitchFamily="34" charset="-120"/>
              </a:rPr>
              <a:t>estimated global economic toll of food loss and waste</a:t>
            </a:r>
            <a:endParaRPr lang="en-US" sz="1050" dirty="0"/>
          </a:p>
        </p:txBody>
      </p:sp>
      <p:sp>
        <p:nvSpPr>
          <p:cNvPr id="13" name="Shape 11"/>
          <p:cNvSpPr/>
          <p:nvPr/>
        </p:nvSpPr>
        <p:spPr>
          <a:xfrm>
            <a:off x="7351776" y="1975104"/>
            <a:ext cx="2971800" cy="1627632"/>
          </a:xfrm>
          <a:prstGeom prst="roundRect">
            <a:avLst>
              <a:gd name="adj" fmla="val 12921"/>
            </a:avLst>
          </a:prstGeom>
          <a:solidFill>
            <a:srgbClr val="FFF0E7"/>
          </a:solidFill>
          <a:ln w="12700">
            <a:solidFill>
              <a:srgbClr val="D9E3DD"/>
            </a:solidFill>
            <a:prstDash val="solid"/>
          </a:ln>
          <a:effectLst>
            <a:outerShdw sx="100000" sy="100000" kx="0" ky="0" algn="bl" rotWithShape="0" blurRad="4096766000000" dist="8193532000000" dir="9720000000000000">
              <a:srgbClr val="0A241C">
                <a:alpha val="130000000000000"/>
              </a:srgbClr>
            </a:outerShdw>
          </a:effectLst>
        </p:spPr>
      </p:sp>
      <p:sp>
        <p:nvSpPr>
          <p:cNvPr id="14" name="Text 12"/>
          <p:cNvSpPr/>
          <p:nvPr/>
        </p:nvSpPr>
        <p:spPr>
          <a:xfrm>
            <a:off x="7571232" y="2212848"/>
            <a:ext cx="1600200" cy="502920"/>
          </a:xfrm>
          <a:prstGeom prst="rect">
            <a:avLst/>
          </a:prstGeom>
          <a:noFill/>
          <a:ln/>
        </p:spPr>
        <p:txBody>
          <a:bodyPr wrap="square" lIns="0" tIns="0" rIns="0" bIns="0" rtlCol="0" anchor="ctr">
            <a:normAutofit/>
          </a:bodyPr>
          <a:lstStyle/>
          <a:p>
            <a:pPr algn="l" indent="0" marL="0">
              <a:buNone/>
            </a:pPr>
            <a:r>
              <a:rPr lang="en-US" sz="3100" b="1" dirty="0">
                <a:solidFill>
                  <a:srgbClr val="F97316"/>
                </a:solidFill>
                <a:latin typeface="Aptos Display" pitchFamily="34" charset="0"/>
                <a:ea typeface="Aptos Display" pitchFamily="34" charset="-122"/>
                <a:cs typeface="Aptos Display" pitchFamily="34" charset="-120"/>
              </a:rPr>
              <a:t>8–10%</a:t>
            </a:r>
            <a:endParaRPr lang="en-US" sz="3100" dirty="0"/>
          </a:p>
        </p:txBody>
      </p:sp>
      <p:sp>
        <p:nvSpPr>
          <p:cNvPr id="15" name="Text 13"/>
          <p:cNvSpPr/>
          <p:nvPr/>
        </p:nvSpPr>
        <p:spPr>
          <a:xfrm>
            <a:off x="9089136" y="2414016"/>
            <a:ext cx="914400" cy="219456"/>
          </a:xfrm>
          <a:prstGeom prst="rect">
            <a:avLst/>
          </a:prstGeom>
          <a:noFill/>
          <a:ln/>
        </p:spPr>
        <p:txBody>
          <a:bodyPr wrap="square" lIns="0" tIns="0" rIns="0" bIns="0" rtlCol="0" anchor="ctr">
            <a:normAutofit/>
          </a:bodyPr>
          <a:lstStyle/>
          <a:p>
            <a:pPr algn="r" indent="0" marL="0">
              <a:buNone/>
            </a:pPr>
            <a:r>
              <a:rPr lang="en-US" sz="1000" b="1" dirty="0">
                <a:solidFill>
                  <a:srgbClr val="F97316"/>
                </a:solidFill>
                <a:latin typeface="Aptos" pitchFamily="34" charset="0"/>
                <a:ea typeface="Aptos" pitchFamily="34" charset="-122"/>
                <a:cs typeface="Aptos" pitchFamily="34" charset="-120"/>
              </a:rPr>
              <a:t>of GHGs</a:t>
            </a:r>
            <a:endParaRPr lang="en-US" sz="1000" dirty="0"/>
          </a:p>
        </p:txBody>
      </p:sp>
      <p:sp>
        <p:nvSpPr>
          <p:cNvPr id="16" name="Text 14"/>
          <p:cNvSpPr/>
          <p:nvPr/>
        </p:nvSpPr>
        <p:spPr>
          <a:xfrm>
            <a:off x="7571232" y="2852928"/>
            <a:ext cx="2468880" cy="530352"/>
          </a:xfrm>
          <a:prstGeom prst="rect">
            <a:avLst/>
          </a:prstGeom>
          <a:noFill/>
          <a:ln/>
        </p:spPr>
        <p:txBody>
          <a:bodyPr wrap="square" lIns="0" tIns="0" rIns="0" bIns="0" rtlCol="0" anchor="t">
            <a:normAutofit/>
          </a:bodyPr>
          <a:lstStyle/>
          <a:p>
            <a:pPr algn="l" indent="0" marL="0">
              <a:buNone/>
            </a:pPr>
            <a:r>
              <a:rPr lang="en-US" sz="1050" dirty="0">
                <a:solidFill>
                  <a:srgbClr val="667D75"/>
                </a:solidFill>
                <a:latin typeface="Aptos" pitchFamily="34" charset="0"/>
                <a:ea typeface="Aptos" pitchFamily="34" charset="-122"/>
                <a:cs typeface="Aptos" pitchFamily="34" charset="-120"/>
              </a:rPr>
              <a:t>annual global emissions attributed to food loss and waste</a:t>
            </a:r>
            <a:endParaRPr lang="en-US" sz="1050" dirty="0"/>
          </a:p>
        </p:txBody>
      </p:sp>
      <p:sp>
        <p:nvSpPr>
          <p:cNvPr id="17" name="Shape 15"/>
          <p:cNvSpPr/>
          <p:nvPr/>
        </p:nvSpPr>
        <p:spPr>
          <a:xfrm>
            <a:off x="621792" y="3858768"/>
            <a:ext cx="5349240" cy="1444752"/>
          </a:xfrm>
          <a:prstGeom prst="roundRect">
            <a:avLst>
              <a:gd name="adj" fmla="val 14557"/>
            </a:avLst>
          </a:prstGeom>
          <a:solidFill>
            <a:srgbClr val="173D31"/>
          </a:solidFill>
          <a:ln w="12700">
            <a:solidFill>
              <a:srgbClr val="173D31">
                <a:alpha val="0"/>
              </a:srgbClr>
            </a:solidFill>
            <a:prstDash val="solid"/>
          </a:ln>
        </p:spPr>
      </p:sp>
      <p:sp>
        <p:nvSpPr>
          <p:cNvPr id="18" name="Text 16"/>
          <p:cNvSpPr/>
          <p:nvPr/>
        </p:nvSpPr>
        <p:spPr>
          <a:xfrm>
            <a:off x="914400" y="4114800"/>
            <a:ext cx="1207008" cy="502920"/>
          </a:xfrm>
          <a:prstGeom prst="rect">
            <a:avLst/>
          </a:prstGeom>
          <a:noFill/>
          <a:ln/>
        </p:spPr>
        <p:txBody>
          <a:bodyPr wrap="square" lIns="0" tIns="0" rIns="0" bIns="0" rtlCol="0" anchor="ctr">
            <a:normAutofit/>
          </a:bodyPr>
          <a:lstStyle/>
          <a:p>
            <a:pPr algn="l" indent="0" marL="0">
              <a:buNone/>
            </a:pPr>
            <a:r>
              <a:rPr lang="en-US" sz="3100" b="1" dirty="0">
                <a:solidFill>
                  <a:srgbClr val="BEF264"/>
                </a:solidFill>
                <a:latin typeface="Aptos Display" pitchFamily="34" charset="0"/>
                <a:ea typeface="Aptos Display" pitchFamily="34" charset="-122"/>
                <a:cs typeface="Aptos Display" pitchFamily="34" charset="-120"/>
              </a:rPr>
              <a:t>12%</a:t>
            </a:r>
            <a:endParaRPr lang="en-US" sz="3100" dirty="0"/>
          </a:p>
        </p:txBody>
      </p:sp>
      <p:sp>
        <p:nvSpPr>
          <p:cNvPr id="19" name="Text 17"/>
          <p:cNvSpPr/>
          <p:nvPr/>
        </p:nvSpPr>
        <p:spPr>
          <a:xfrm>
            <a:off x="2057400" y="4142232"/>
            <a:ext cx="3401568" cy="292608"/>
          </a:xfrm>
          <a:prstGeom prst="rect">
            <a:avLst/>
          </a:prstGeom>
          <a:noFill/>
          <a:ln/>
        </p:spPr>
        <p:txBody>
          <a:bodyPr wrap="square" lIns="0" tIns="0" rIns="0" bIns="0" rtlCol="0" anchor="ctr">
            <a:normAutofit/>
          </a:bodyPr>
          <a:lstStyle/>
          <a:p>
            <a:pPr algn="l" indent="0" marL="0">
              <a:buNone/>
            </a:pPr>
            <a:r>
              <a:rPr lang="en-US" sz="1400" b="1" dirty="0">
                <a:solidFill>
                  <a:srgbClr val="FFFFFF"/>
                </a:solidFill>
                <a:latin typeface="Aptos" pitchFamily="34" charset="0"/>
                <a:ea typeface="Aptos" pitchFamily="34" charset="-122"/>
                <a:cs typeface="Aptos" pitchFamily="34" charset="-120"/>
              </a:rPr>
              <a:t>of 2022 food waste occurred at retail.</a:t>
            </a:r>
            <a:endParaRPr lang="en-US" sz="1400" dirty="0"/>
          </a:p>
        </p:txBody>
      </p:sp>
      <p:sp>
        <p:nvSpPr>
          <p:cNvPr id="20" name="Shape 18"/>
          <p:cNvSpPr/>
          <p:nvPr/>
        </p:nvSpPr>
        <p:spPr>
          <a:xfrm>
            <a:off x="914400" y="4718304"/>
            <a:ext cx="868680" cy="292608"/>
          </a:xfrm>
          <a:prstGeom prst="roundRect">
            <a:avLst>
              <a:gd name="adj" fmla="val 50000"/>
            </a:avLst>
          </a:prstGeom>
          <a:solidFill>
            <a:srgbClr val="2B5548"/>
          </a:solidFill>
          <a:ln w="12700">
            <a:solidFill>
              <a:srgbClr val="2B5548">
                <a:alpha val="0"/>
              </a:srgbClr>
            </a:solidFill>
            <a:prstDash val="solid"/>
          </a:ln>
        </p:spPr>
      </p:sp>
      <p:sp>
        <p:nvSpPr>
          <p:cNvPr id="21" name="Text 19"/>
          <p:cNvSpPr/>
          <p:nvPr/>
        </p:nvSpPr>
        <p:spPr>
          <a:xfrm>
            <a:off x="987552" y="4718304"/>
            <a:ext cx="722376" cy="292608"/>
          </a:xfrm>
          <a:prstGeom prst="rect">
            <a:avLst/>
          </a:prstGeom>
          <a:noFill/>
          <a:ln/>
        </p:spPr>
        <p:txBody>
          <a:bodyPr wrap="square" lIns="0" tIns="0" rIns="0" bIns="0" rtlCol="0" anchor="ctr">
            <a:normAutofit/>
          </a:bodyPr>
          <a:lstStyle/>
          <a:p>
            <a:pPr algn="ctr" indent="0" marL="0">
              <a:buNone/>
            </a:pPr>
            <a:r>
              <a:rPr lang="en-US" sz="900" b="1" dirty="0">
                <a:solidFill>
                  <a:srgbClr val="BEF264"/>
                </a:solidFill>
                <a:latin typeface="Aptos" pitchFamily="34" charset="0"/>
                <a:ea typeface="Aptos" pitchFamily="34" charset="-122"/>
                <a:cs typeface="Aptos" pitchFamily="34" charset="-120"/>
              </a:rPr>
              <a:t>OUR WEDGE</a:t>
            </a:r>
            <a:endParaRPr lang="en-US" sz="900" dirty="0"/>
          </a:p>
        </p:txBody>
      </p:sp>
      <p:sp>
        <p:nvSpPr>
          <p:cNvPr id="22" name="Text 20"/>
          <p:cNvSpPr/>
          <p:nvPr/>
        </p:nvSpPr>
        <p:spPr>
          <a:xfrm>
            <a:off x="1965960" y="4690872"/>
            <a:ext cx="3456432" cy="310896"/>
          </a:xfrm>
          <a:prstGeom prst="rect">
            <a:avLst/>
          </a:prstGeom>
          <a:noFill/>
          <a:ln/>
        </p:spPr>
        <p:txBody>
          <a:bodyPr wrap="square" lIns="0" tIns="0" rIns="0" bIns="0" rtlCol="0" anchor="ctr">
            <a:normAutofit/>
          </a:bodyPr>
          <a:lstStyle/>
          <a:p>
            <a:pPr algn="l" indent="0" marL="0">
              <a:buNone/>
            </a:pPr>
            <a:r>
              <a:rPr lang="en-US" sz="1050" dirty="0">
                <a:solidFill>
                  <a:srgbClr val="C5D7D0"/>
                </a:solidFill>
                <a:latin typeface="Aptos" pitchFamily="34" charset="0"/>
                <a:ea typeface="Aptos" pitchFamily="34" charset="-122"/>
                <a:cs typeface="Aptos" pitchFamily="34" charset="-120"/>
              </a:rPr>
              <a:t>Independent grocers making product-level decisions every day.</a:t>
            </a:r>
            <a:endParaRPr lang="en-US" sz="1050" dirty="0"/>
          </a:p>
        </p:txBody>
      </p:sp>
      <p:sp>
        <p:nvSpPr>
          <p:cNvPr id="23" name="Shape 21"/>
          <p:cNvSpPr/>
          <p:nvPr/>
        </p:nvSpPr>
        <p:spPr>
          <a:xfrm>
            <a:off x="6199632" y="3858768"/>
            <a:ext cx="5330952" cy="1444752"/>
          </a:xfrm>
          <a:prstGeom prst="roundRect">
            <a:avLst>
              <a:gd name="adj" fmla="val 14557"/>
            </a:avLst>
          </a:prstGeom>
          <a:solidFill>
            <a:srgbClr val="FFFFFF"/>
          </a:solidFill>
          <a:ln w="12700">
            <a:solidFill>
              <a:srgbClr val="D9E3DD"/>
            </a:solidFill>
            <a:prstDash val="solid"/>
          </a:ln>
          <a:effectLst>
            <a:outerShdw sx="100000" sy="100000" kx="0" ky="0" algn="bl" rotWithShape="0" blurRad="52028928200000000" dist="104057856400000000" dir="583200000000000000000">
              <a:srgbClr val="0A241C">
                <a:alpha val="13000000000000000000"/>
              </a:srgbClr>
            </a:outerShdw>
          </a:effectLst>
        </p:spPr>
      </p:sp>
      <p:sp>
        <p:nvSpPr>
          <p:cNvPr id="24" name="Text 22"/>
          <p:cNvSpPr/>
          <p:nvPr/>
        </p:nvSpPr>
        <p:spPr>
          <a:xfrm>
            <a:off x="6492240" y="4096512"/>
            <a:ext cx="1737360" cy="502920"/>
          </a:xfrm>
          <a:prstGeom prst="rect">
            <a:avLst/>
          </a:prstGeom>
          <a:noFill/>
          <a:ln/>
        </p:spPr>
        <p:txBody>
          <a:bodyPr wrap="square" lIns="0" tIns="0" rIns="0" bIns="0" rtlCol="0" anchor="ctr">
            <a:normAutofit/>
          </a:bodyPr>
          <a:lstStyle/>
          <a:p>
            <a:pPr algn="l" indent="0" marL="0">
              <a:buNone/>
            </a:pPr>
            <a:r>
              <a:rPr lang="en-US" sz="2800" b="1" dirty="0">
                <a:solidFill>
                  <a:srgbClr val="DC5B57"/>
                </a:solidFill>
                <a:latin typeface="Aptos Display" pitchFamily="34" charset="0"/>
                <a:ea typeface="Aptos Display" pitchFamily="34" charset="-122"/>
                <a:cs typeface="Aptos Display" pitchFamily="34" charset="-120"/>
              </a:rPr>
              <a:t>Up to 10%</a:t>
            </a:r>
            <a:endParaRPr lang="en-US" sz="2800" dirty="0"/>
          </a:p>
        </p:txBody>
      </p:sp>
      <p:sp>
        <p:nvSpPr>
          <p:cNvPr id="25" name="Text 23"/>
          <p:cNvSpPr/>
          <p:nvPr/>
        </p:nvSpPr>
        <p:spPr>
          <a:xfrm>
            <a:off x="8183880" y="4087368"/>
            <a:ext cx="2834640" cy="438912"/>
          </a:xfrm>
          <a:prstGeom prst="rect">
            <a:avLst/>
          </a:prstGeom>
          <a:noFill/>
          <a:ln/>
        </p:spPr>
        <p:txBody>
          <a:bodyPr wrap="square" lIns="0" tIns="0" rIns="0" bIns="0" rtlCol="0" anchor="ctr">
            <a:normAutofit/>
          </a:bodyPr>
          <a:lstStyle/>
          <a:p>
            <a:pPr algn="l" indent="0" marL="0">
              <a:buNone/>
            </a:pPr>
            <a:r>
              <a:rPr lang="en-US" sz="1350" b="1" dirty="0">
                <a:solidFill>
                  <a:srgbClr val="15352C"/>
                </a:solidFill>
                <a:latin typeface="Aptos" pitchFamily="34" charset="0"/>
                <a:ea typeface="Aptos" pitchFamily="34" charset="-122"/>
                <a:cs typeface="Aptos" pitchFamily="34" charset="-120"/>
              </a:rPr>
              <a:t>of annual EU food waste is linked to date marking.</a:t>
            </a:r>
            <a:endParaRPr lang="en-US" sz="1350" dirty="0"/>
          </a:p>
        </p:txBody>
      </p:sp>
      <p:sp>
        <p:nvSpPr>
          <p:cNvPr id="26" name="Text 24"/>
          <p:cNvSpPr/>
          <p:nvPr/>
        </p:nvSpPr>
        <p:spPr>
          <a:xfrm>
            <a:off x="6510528" y="4782312"/>
            <a:ext cx="4434840" cy="219456"/>
          </a:xfrm>
          <a:prstGeom prst="rect">
            <a:avLst/>
          </a:prstGeom>
          <a:noFill/>
          <a:ln/>
        </p:spPr>
        <p:txBody>
          <a:bodyPr wrap="square" lIns="0" tIns="0" rIns="0" bIns="0" rtlCol="0" anchor="ctr">
            <a:normAutofit/>
          </a:bodyPr>
          <a:lstStyle/>
          <a:p>
            <a:pPr algn="l" indent="0" marL="0">
              <a:buNone/>
            </a:pPr>
            <a:r>
              <a:rPr lang="en-US" sz="900" i="1" dirty="0">
                <a:solidFill>
                  <a:srgbClr val="667D75"/>
                </a:solidFill>
                <a:latin typeface="Aptos" pitchFamily="34" charset="0"/>
                <a:ea typeface="Aptos" pitchFamily="34" charset="-122"/>
                <a:cs typeface="Aptos" pitchFamily="34" charset="-120"/>
              </a:rPr>
              <a:t>European Commission estimate — not a global expiry-waste estimate.</a:t>
            </a:r>
            <a:endParaRPr lang="en-US" sz="900" dirty="0"/>
          </a:p>
        </p:txBody>
      </p:sp>
      <p:sp>
        <p:nvSpPr>
          <p:cNvPr id="27" name="Shape 25"/>
          <p:cNvSpPr/>
          <p:nvPr/>
        </p:nvSpPr>
        <p:spPr>
          <a:xfrm>
            <a:off x="1024128" y="5577840"/>
            <a:ext cx="10149840" cy="393192"/>
          </a:xfrm>
          <a:prstGeom prst="roundRect">
            <a:avLst>
              <a:gd name="adj" fmla="val 32558"/>
            </a:avLst>
          </a:prstGeom>
          <a:solidFill>
            <a:srgbClr val="BEF264"/>
          </a:solidFill>
          <a:ln w="12700">
            <a:solidFill>
              <a:srgbClr val="BEF264">
                <a:alpha val="0"/>
              </a:srgbClr>
            </a:solidFill>
            <a:prstDash val="solid"/>
          </a:ln>
        </p:spPr>
      </p:sp>
      <p:sp>
        <p:nvSpPr>
          <p:cNvPr id="28" name="Text 26"/>
          <p:cNvSpPr/>
          <p:nvPr/>
        </p:nvSpPr>
        <p:spPr>
          <a:xfrm>
            <a:off x="1261872" y="5577840"/>
            <a:ext cx="9674352" cy="393192"/>
          </a:xfrm>
          <a:prstGeom prst="rect">
            <a:avLst/>
          </a:prstGeom>
          <a:noFill/>
          <a:ln/>
        </p:spPr>
        <p:txBody>
          <a:bodyPr wrap="square" lIns="0" tIns="0" rIns="0" bIns="0" rtlCol="0" anchor="ctr">
            <a:normAutofit/>
          </a:bodyPr>
          <a:lstStyle/>
          <a:p>
            <a:pPr algn="ctr" indent="0" marL="0">
              <a:buNone/>
            </a:pPr>
            <a:r>
              <a:rPr lang="en-US" sz="1200" b="1" dirty="0">
                <a:solidFill>
                  <a:srgbClr val="173D31"/>
                </a:solidFill>
                <a:latin typeface="Aptos" pitchFamily="34" charset="0"/>
                <a:ea typeface="Aptos" pitchFamily="34" charset="-122"/>
                <a:cs typeface="Aptos" pitchFamily="34" charset="-120"/>
              </a:rPr>
              <a:t>For one grocer, this becomes a recurring question: hold, markdown, or lose the stock?</a:t>
            </a:r>
            <a:endParaRPr lang="en-US" sz="1200" dirty="0"/>
          </a:p>
        </p:txBody>
      </p:sp>
      <p:sp>
        <p:nvSpPr>
          <p:cNvPr id="29" name="Text 27"/>
          <p:cNvSpPr/>
          <p:nvPr/>
        </p:nvSpPr>
        <p:spPr>
          <a:xfrm>
            <a:off x="658368" y="6126480"/>
            <a:ext cx="5166360" cy="164592"/>
          </a:xfrm>
          <a:prstGeom prst="rect">
            <a:avLst/>
          </a:prstGeom>
          <a:noFill/>
          <a:ln/>
        </p:spPr>
        <p:txBody>
          <a:bodyPr wrap="square" lIns="0" tIns="0" rIns="0" bIns="0" rtlCol="0" anchor="ctr">
            <a:normAutofit/>
          </a:bodyPr>
          <a:lstStyle/>
          <a:p>
            <a:pPr algn="l" indent="0" marL="0">
              <a:buNone/>
            </a:pPr>
            <a:r>
              <a:rPr lang="en-US" sz="750" b="1" u="sng" dirty="0">
                <a:solidFill>
                  <a:srgbClr val="667D75"/>
                </a:solidFill>
                <a:uFill>
                  <a:solidFill>
                    <a:srgbClr val="667D75"/>
                  </a:solidFill>
                </a:u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Source: UNEP Food Waste Index Report 2024 (2022 data)</a:t>
            </a:r>
            <a:endParaRPr lang="en-US" sz="750" dirty="0"/>
          </a:p>
        </p:txBody>
      </p:sp>
      <p:sp>
        <p:nvSpPr>
          <p:cNvPr id="30" name="Text 28"/>
          <p:cNvSpPr/>
          <p:nvPr/>
        </p:nvSpPr>
        <p:spPr>
          <a:xfrm>
            <a:off x="6419088" y="6126480"/>
            <a:ext cx="4572000" cy="164592"/>
          </a:xfrm>
          <a:prstGeom prst="rect">
            <a:avLst/>
          </a:prstGeom>
          <a:noFill/>
          <a:ln/>
        </p:spPr>
        <p:txBody>
          <a:bodyPr wrap="square" lIns="0" tIns="0" rIns="0" bIns="0" rtlCol="0" anchor="ctr">
            <a:normAutofit/>
          </a:bodyPr>
          <a:lstStyle/>
          <a:p>
            <a:pPr algn="r" indent="0" marL="0">
              <a:buNone/>
            </a:pPr>
            <a:r>
              <a:rPr lang="en-US" sz="750" b="1" u="sng" dirty="0">
                <a:solidFill>
                  <a:srgbClr val="667D75"/>
                </a:solidFill>
                <a:uFill>
                  <a:solidFill>
                    <a:srgbClr val="667D75"/>
                  </a:solidFill>
                </a:u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Source: European Commission date-marking study (2018)</a:t>
            </a:r>
            <a:endParaRPr lang="en-US" sz="750" dirty="0"/>
          </a:p>
        </p:txBody>
      </p:sp>
      <p:sp>
        <p:nvSpPr>
          <p:cNvPr id="31" name="Shape 29"/>
          <p:cNvSpPr/>
          <p:nvPr/>
        </p:nvSpPr>
        <p:spPr>
          <a:xfrm>
            <a:off x="502920" y="6419088"/>
            <a:ext cx="10744200" cy="0"/>
          </a:xfrm>
          <a:prstGeom prst="line">
            <a:avLst/>
          </a:prstGeom>
          <a:noFill/>
          <a:ln w="10160">
            <a:solidFill>
              <a:srgbClr val="D9E3DD"/>
            </a:solidFill>
            <a:prstDash val="solid"/>
          </a:ln>
        </p:spPr>
      </p:sp>
      <p:sp>
        <p:nvSpPr>
          <p:cNvPr id="32" name="Text 30"/>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10B981"/>
                </a:solidFill>
                <a:latin typeface="Aptos" pitchFamily="34" charset="0"/>
                <a:ea typeface="Aptos" pitchFamily="34" charset="-122"/>
                <a:cs typeface="Aptos" pitchFamily="34" charset="-120"/>
              </a:rPr>
              <a:t>FRESHSAVER</a:t>
            </a:r>
            <a:endParaRPr lang="en-US" sz="750" dirty="0"/>
          </a:p>
        </p:txBody>
      </p:sp>
      <p:sp>
        <p:nvSpPr>
          <p:cNvPr id="33" name="Text 31"/>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82938D"/>
                </a:solidFill>
                <a:latin typeface="Aptos" pitchFamily="34" charset="0"/>
                <a:ea typeface="Aptos" pitchFamily="34" charset="-122"/>
                <a:cs typeface="Aptos" pitchFamily="34" charset="-120"/>
              </a:rPr>
              <a:t>Problem statement · sourced global scale and local wedge</a:t>
            </a:r>
            <a:endParaRPr lang="en-US" sz="750" dirty="0"/>
          </a:p>
        </p:txBody>
      </p:sp>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82938D"/>
                </a:solidFill>
                <a:latin typeface="Aptos"/>
                <a:ea typeface="Aptos"/>
                <a:cs typeface="Apto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BEF264"/>
                </a:solidFill>
                <a:latin typeface="Aptos" pitchFamily="34" charset="0"/>
                <a:ea typeface="Aptos" pitchFamily="34" charset="-122"/>
                <a:cs typeface="Aptos" pitchFamily="34" charset="-120"/>
              </a:rPr>
              <a:t>THE PRODUCT LOOP</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FFFFFF"/>
                </a:solidFill>
                <a:latin typeface="Aptos Display" pitchFamily="34" charset="0"/>
                <a:ea typeface="Aptos Display" pitchFamily="34" charset="-122"/>
                <a:cs typeface="Aptos Display" pitchFamily="34" charset="-120"/>
              </a:rPr>
              <a:t>One decision loop. Two users. One outcome.</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B9CBC4"/>
                </a:solidFill>
                <a:latin typeface="Aptos" pitchFamily="34" charset="0"/>
                <a:ea typeface="Aptos" pitchFamily="34" charset="-122"/>
                <a:cs typeface="Aptos" pitchFamily="34" charset="-120"/>
              </a:rPr>
              <a:t>FreshSaver does not stop at a forecast — it carries the decision to a shopper and records what happened.</a:t>
            </a:r>
            <a:endParaRPr lang="en-US" sz="1250" dirty="0"/>
          </a:p>
        </p:txBody>
      </p:sp>
      <p:sp>
        <p:nvSpPr>
          <p:cNvPr id="5" name="Shape 3"/>
          <p:cNvSpPr/>
          <p:nvPr/>
        </p:nvSpPr>
        <p:spPr>
          <a:xfrm>
            <a:off x="566928" y="2359152"/>
            <a:ext cx="1627632" cy="2194560"/>
          </a:xfrm>
          <a:prstGeom prst="roundRect">
            <a:avLst>
              <a:gd name="adj" fmla="val 12921"/>
            </a:avLst>
          </a:prstGeom>
          <a:solidFill>
            <a:srgbClr val="DDF7E8"/>
          </a:solidFill>
          <a:ln w="12700">
            <a:solidFill>
              <a:srgbClr val="DDF7E8">
                <a:alpha val="0"/>
              </a:srgbClr>
            </a:solidFill>
            <a:prstDash val="solid"/>
          </a:ln>
        </p:spPr>
      </p:sp>
      <p:sp>
        <p:nvSpPr>
          <p:cNvPr id="6" name="Text 4"/>
          <p:cNvSpPr/>
          <p:nvPr/>
        </p:nvSpPr>
        <p:spPr>
          <a:xfrm>
            <a:off x="713232" y="2514600"/>
            <a:ext cx="438912" cy="228600"/>
          </a:xfrm>
          <a:prstGeom prst="rect">
            <a:avLst/>
          </a:prstGeom>
          <a:noFill/>
          <a:ln/>
        </p:spPr>
        <p:txBody>
          <a:bodyPr wrap="square" lIns="0" tIns="0" rIns="0" bIns="0" rtlCol="0" anchor="ctr">
            <a:normAutofit/>
          </a:bodyPr>
          <a:lstStyle/>
          <a:p>
            <a:pPr algn="l" indent="0" marL="0">
              <a:buNone/>
            </a:pPr>
            <a:r>
              <a:rPr lang="en-US" sz="900" b="1" spc="100" kern="0" dirty="0">
                <a:solidFill>
                  <a:srgbClr val="173D31"/>
                </a:solidFill>
                <a:latin typeface="Aptos" pitchFamily="34" charset="0"/>
                <a:ea typeface="Aptos" pitchFamily="34" charset="-122"/>
                <a:cs typeface="Aptos" pitchFamily="34" charset="-120"/>
              </a:rPr>
              <a:t>01</a:t>
            </a:r>
            <a:endParaRPr lang="en-US" sz="900" dirty="0"/>
          </a:p>
        </p:txBody>
      </p:sp>
      <p:sp>
        <p:nvSpPr>
          <p:cNvPr id="7" name="Shape 5"/>
          <p:cNvSpPr/>
          <p:nvPr/>
        </p:nvSpPr>
        <p:spPr>
          <a:xfrm>
            <a:off x="713232" y="2907792"/>
            <a:ext cx="475488" cy="475488"/>
          </a:xfrm>
          <a:prstGeom prst="ellipse">
            <a:avLst/>
          </a:prstGeom>
          <a:solidFill>
            <a:srgbClr val="173D31"/>
          </a:solidFill>
          <a:ln w="12700">
            <a:solidFill>
              <a:srgbClr val="173D31"/>
            </a:solidFill>
            <a:prstDash val="solid"/>
          </a:ln>
        </p:spPr>
      </p:sp>
      <p:sp>
        <p:nvSpPr>
          <p:cNvPr id="8" name="Text 6"/>
          <p:cNvSpPr/>
          <p:nvPr/>
        </p:nvSpPr>
        <p:spPr>
          <a:xfrm>
            <a:off x="713232" y="2907792"/>
            <a:ext cx="475488" cy="475488"/>
          </a:xfrm>
          <a:prstGeom prst="rect">
            <a:avLst/>
          </a:prstGeom>
          <a:noFill/>
          <a:ln/>
        </p:spPr>
        <p:txBody>
          <a:bodyPr wrap="square" lIns="0" tIns="0" rIns="0" bIns="0" rtlCol="0" anchor="ctr">
            <a:normAutofit/>
          </a:bodyPr>
          <a:lstStyle/>
          <a:p>
            <a:pPr algn="ctr" indent="0" marL="0">
              <a:buNone/>
            </a:pPr>
            <a:r>
              <a:rPr lang="en-US" sz="1500" b="1" dirty="0">
                <a:solidFill>
                  <a:srgbClr val="DDF7E8"/>
                </a:solidFill>
                <a:latin typeface="Aptos" pitchFamily="34" charset="0"/>
                <a:ea typeface="Aptos" pitchFamily="34" charset="-122"/>
                <a:cs typeface="Aptos" pitchFamily="34" charset="-120"/>
              </a:rPr>
              <a:t>I</a:t>
            </a:r>
            <a:endParaRPr lang="en-US" sz="1500" dirty="0"/>
          </a:p>
        </p:txBody>
      </p:sp>
      <p:sp>
        <p:nvSpPr>
          <p:cNvPr id="9" name="Text 7"/>
          <p:cNvSpPr/>
          <p:nvPr/>
        </p:nvSpPr>
        <p:spPr>
          <a:xfrm>
            <a:off x="713232" y="3566160"/>
            <a:ext cx="1298448" cy="256032"/>
          </a:xfrm>
          <a:prstGeom prst="rect">
            <a:avLst/>
          </a:prstGeom>
          <a:noFill/>
          <a:ln/>
        </p:spPr>
        <p:txBody>
          <a:bodyPr wrap="square" lIns="0" tIns="0" rIns="0" bIns="0" rtlCol="0" anchor="ctr">
            <a:normAutofit/>
          </a:bodyPr>
          <a:lstStyle/>
          <a:p>
            <a:pPr algn="l" indent="0" marL="0">
              <a:buNone/>
            </a:pPr>
            <a:r>
              <a:rPr lang="en-US" sz="1100" b="1" spc="80" kern="0" dirty="0">
                <a:solidFill>
                  <a:srgbClr val="173D31"/>
                </a:solidFill>
                <a:latin typeface="Aptos" pitchFamily="34" charset="0"/>
                <a:ea typeface="Aptos" pitchFamily="34" charset="-122"/>
                <a:cs typeface="Aptos" pitchFamily="34" charset="-120"/>
              </a:rPr>
              <a:t>IMPORT</a:t>
            </a:r>
            <a:endParaRPr lang="en-US" sz="1100" dirty="0"/>
          </a:p>
        </p:txBody>
      </p:sp>
      <p:sp>
        <p:nvSpPr>
          <p:cNvPr id="10" name="Text 8"/>
          <p:cNvSpPr/>
          <p:nvPr/>
        </p:nvSpPr>
        <p:spPr>
          <a:xfrm>
            <a:off x="713232" y="3913632"/>
            <a:ext cx="1280160" cy="420624"/>
          </a:xfrm>
          <a:prstGeom prst="rect">
            <a:avLst/>
          </a:prstGeom>
          <a:noFill/>
          <a:ln/>
        </p:spPr>
        <p:txBody>
          <a:bodyPr wrap="square" lIns="0" tIns="0" rIns="0" bIns="0" rtlCol="0" anchor="t">
            <a:normAutofit/>
          </a:bodyPr>
          <a:lstStyle/>
          <a:p>
            <a:pPr algn="l" indent="0" marL="0">
              <a:buNone/>
            </a:pPr>
            <a:r>
              <a:rPr lang="en-US" sz="1050" dirty="0">
                <a:solidFill>
                  <a:srgbClr val="173D31"/>
                </a:solidFill>
                <a:latin typeface="Aptos" pitchFamily="34" charset="0"/>
                <a:ea typeface="Aptos" pitchFamily="34" charset="-122"/>
                <a:cs typeface="Aptos" pitchFamily="34" charset="-120"/>
              </a:rPr>
              <a:t>CSV inventory</a:t>
            </a:r>
            <a:endParaRPr lang="en-US" sz="1050" dirty="0"/>
          </a:p>
        </p:txBody>
      </p:sp>
      <p:sp>
        <p:nvSpPr>
          <p:cNvPr id="11" name="Shape 9"/>
          <p:cNvSpPr/>
          <p:nvPr/>
        </p:nvSpPr>
        <p:spPr>
          <a:xfrm>
            <a:off x="2249424" y="3246120"/>
            <a:ext cx="310896" cy="310896"/>
          </a:xfrm>
          <a:prstGeom prst="chevron">
            <a:avLst/>
          </a:prstGeom>
          <a:solidFill>
            <a:srgbClr val="BEF264"/>
          </a:solidFill>
          <a:ln w="12700">
            <a:solidFill>
              <a:srgbClr val="BEF264"/>
            </a:solidFill>
            <a:prstDash val="solid"/>
          </a:ln>
        </p:spPr>
      </p:sp>
      <p:sp>
        <p:nvSpPr>
          <p:cNvPr id="12" name="Shape 10"/>
          <p:cNvSpPr/>
          <p:nvPr/>
        </p:nvSpPr>
        <p:spPr>
          <a:xfrm>
            <a:off x="2487168" y="2359152"/>
            <a:ext cx="1627632" cy="2194560"/>
          </a:xfrm>
          <a:prstGeom prst="roundRect">
            <a:avLst>
              <a:gd name="adj" fmla="val 12921"/>
            </a:avLst>
          </a:prstGeom>
          <a:solidFill>
            <a:srgbClr val="F2ECFF"/>
          </a:solidFill>
          <a:ln w="12700">
            <a:solidFill>
              <a:srgbClr val="F2ECFF">
                <a:alpha val="0"/>
              </a:srgbClr>
            </a:solidFill>
            <a:prstDash val="solid"/>
          </a:ln>
        </p:spPr>
      </p:sp>
      <p:sp>
        <p:nvSpPr>
          <p:cNvPr id="13" name="Text 11"/>
          <p:cNvSpPr/>
          <p:nvPr/>
        </p:nvSpPr>
        <p:spPr>
          <a:xfrm>
            <a:off x="2633472" y="2514600"/>
            <a:ext cx="438912" cy="228600"/>
          </a:xfrm>
          <a:prstGeom prst="rect">
            <a:avLst/>
          </a:prstGeom>
          <a:noFill/>
          <a:ln/>
        </p:spPr>
        <p:txBody>
          <a:bodyPr wrap="square" lIns="0" tIns="0" rIns="0" bIns="0" rtlCol="0" anchor="ctr">
            <a:normAutofit/>
          </a:bodyPr>
          <a:lstStyle/>
          <a:p>
            <a:pPr algn="l" indent="0" marL="0">
              <a:buNone/>
            </a:pPr>
            <a:r>
              <a:rPr lang="en-US" sz="900" b="1" spc="100" kern="0" dirty="0">
                <a:solidFill>
                  <a:srgbClr val="7C3AED"/>
                </a:solidFill>
                <a:latin typeface="Aptos" pitchFamily="34" charset="0"/>
                <a:ea typeface="Aptos" pitchFamily="34" charset="-122"/>
                <a:cs typeface="Aptos" pitchFamily="34" charset="-120"/>
              </a:rPr>
              <a:t>02</a:t>
            </a:r>
            <a:endParaRPr lang="en-US" sz="900" dirty="0"/>
          </a:p>
        </p:txBody>
      </p:sp>
      <p:sp>
        <p:nvSpPr>
          <p:cNvPr id="14" name="Shape 12"/>
          <p:cNvSpPr/>
          <p:nvPr/>
        </p:nvSpPr>
        <p:spPr>
          <a:xfrm>
            <a:off x="2633472" y="2907792"/>
            <a:ext cx="475488" cy="475488"/>
          </a:xfrm>
          <a:prstGeom prst="ellipse">
            <a:avLst/>
          </a:prstGeom>
          <a:solidFill>
            <a:srgbClr val="7C3AED"/>
          </a:solidFill>
          <a:ln w="12700">
            <a:solidFill>
              <a:srgbClr val="7C3AED"/>
            </a:solidFill>
            <a:prstDash val="solid"/>
          </a:ln>
        </p:spPr>
      </p:sp>
      <p:sp>
        <p:nvSpPr>
          <p:cNvPr id="15" name="Text 13"/>
          <p:cNvSpPr/>
          <p:nvPr/>
        </p:nvSpPr>
        <p:spPr>
          <a:xfrm>
            <a:off x="2633472" y="2907792"/>
            <a:ext cx="475488" cy="475488"/>
          </a:xfrm>
          <a:prstGeom prst="rect">
            <a:avLst/>
          </a:prstGeom>
          <a:noFill/>
          <a:ln/>
        </p:spPr>
        <p:txBody>
          <a:bodyPr wrap="square" lIns="0" tIns="0" rIns="0" bIns="0" rtlCol="0" anchor="ctr">
            <a:normAutofit/>
          </a:bodyPr>
          <a:lstStyle/>
          <a:p>
            <a:pPr algn="ctr" indent="0" marL="0">
              <a:buNone/>
            </a:pPr>
            <a:r>
              <a:rPr lang="en-US" sz="1500" b="1" dirty="0">
                <a:solidFill>
                  <a:srgbClr val="F2ECFF"/>
                </a:solidFill>
                <a:latin typeface="Aptos" pitchFamily="34" charset="0"/>
                <a:ea typeface="Aptos" pitchFamily="34" charset="-122"/>
                <a:cs typeface="Aptos" pitchFamily="34" charset="-120"/>
              </a:rPr>
              <a:t>P</a:t>
            </a:r>
            <a:endParaRPr lang="en-US" sz="1500" dirty="0"/>
          </a:p>
        </p:txBody>
      </p:sp>
      <p:sp>
        <p:nvSpPr>
          <p:cNvPr id="16" name="Text 14"/>
          <p:cNvSpPr/>
          <p:nvPr/>
        </p:nvSpPr>
        <p:spPr>
          <a:xfrm>
            <a:off x="2633472" y="3566160"/>
            <a:ext cx="1298448" cy="256032"/>
          </a:xfrm>
          <a:prstGeom prst="rect">
            <a:avLst/>
          </a:prstGeom>
          <a:noFill/>
          <a:ln/>
        </p:spPr>
        <p:txBody>
          <a:bodyPr wrap="square" lIns="0" tIns="0" rIns="0" bIns="0" rtlCol="0" anchor="ctr">
            <a:normAutofit/>
          </a:bodyPr>
          <a:lstStyle/>
          <a:p>
            <a:pPr algn="l" indent="0" marL="0">
              <a:buNone/>
            </a:pPr>
            <a:r>
              <a:rPr lang="en-US" sz="1100" b="1" spc="80" kern="0" dirty="0">
                <a:solidFill>
                  <a:srgbClr val="7C3AED"/>
                </a:solidFill>
                <a:latin typeface="Aptos" pitchFamily="34" charset="0"/>
                <a:ea typeface="Aptos" pitchFamily="34" charset="-122"/>
                <a:cs typeface="Aptos" pitchFamily="34" charset="-120"/>
              </a:rPr>
              <a:t>PREDICT</a:t>
            </a:r>
            <a:endParaRPr lang="en-US" sz="1100" dirty="0"/>
          </a:p>
        </p:txBody>
      </p:sp>
      <p:sp>
        <p:nvSpPr>
          <p:cNvPr id="17" name="Text 15"/>
          <p:cNvSpPr/>
          <p:nvPr/>
        </p:nvSpPr>
        <p:spPr>
          <a:xfrm>
            <a:off x="2633472" y="3913632"/>
            <a:ext cx="1280160" cy="420624"/>
          </a:xfrm>
          <a:prstGeom prst="rect">
            <a:avLst/>
          </a:prstGeom>
          <a:noFill/>
          <a:ln/>
        </p:spPr>
        <p:txBody>
          <a:bodyPr wrap="square" lIns="0" tIns="0" rIns="0" bIns="0" rtlCol="0" anchor="t">
            <a:normAutofit/>
          </a:bodyPr>
          <a:lstStyle/>
          <a:p>
            <a:pPr algn="l" indent="0" marL="0">
              <a:buNone/>
            </a:pPr>
            <a:r>
              <a:rPr lang="en-US" sz="1050" dirty="0">
                <a:solidFill>
                  <a:srgbClr val="7C3AED"/>
                </a:solidFill>
                <a:latin typeface="Aptos" pitchFamily="34" charset="0"/>
                <a:ea typeface="Aptos" pitchFamily="34" charset="-122"/>
                <a:cs typeface="Aptos" pitchFamily="34" charset="-120"/>
              </a:rPr>
              <a:t>Sell-through by price</a:t>
            </a:r>
            <a:endParaRPr lang="en-US" sz="1050" dirty="0"/>
          </a:p>
        </p:txBody>
      </p:sp>
      <p:sp>
        <p:nvSpPr>
          <p:cNvPr id="18" name="Shape 16"/>
          <p:cNvSpPr/>
          <p:nvPr/>
        </p:nvSpPr>
        <p:spPr>
          <a:xfrm>
            <a:off x="4169664" y="3246120"/>
            <a:ext cx="310896" cy="310896"/>
          </a:xfrm>
          <a:prstGeom prst="chevron">
            <a:avLst/>
          </a:prstGeom>
          <a:solidFill>
            <a:srgbClr val="BEF264"/>
          </a:solidFill>
          <a:ln w="12700">
            <a:solidFill>
              <a:srgbClr val="BEF264"/>
            </a:solidFill>
            <a:prstDash val="solid"/>
          </a:ln>
        </p:spPr>
      </p:sp>
      <p:sp>
        <p:nvSpPr>
          <p:cNvPr id="19" name="Shape 17"/>
          <p:cNvSpPr/>
          <p:nvPr/>
        </p:nvSpPr>
        <p:spPr>
          <a:xfrm>
            <a:off x="4407408" y="2359152"/>
            <a:ext cx="1627632" cy="2194560"/>
          </a:xfrm>
          <a:prstGeom prst="roundRect">
            <a:avLst>
              <a:gd name="adj" fmla="val 12921"/>
            </a:avLst>
          </a:prstGeom>
          <a:solidFill>
            <a:srgbClr val="FFF0E7"/>
          </a:solidFill>
          <a:ln w="12700">
            <a:solidFill>
              <a:srgbClr val="FFF0E7">
                <a:alpha val="0"/>
              </a:srgbClr>
            </a:solidFill>
            <a:prstDash val="solid"/>
          </a:ln>
          <a:effectLst>
            <a:outerShdw sx="100000" sy="100000" kx="0" ky="0" algn="bl" rotWithShape="0" blurRad="660767388140000000000" dist="1.32153477628e+21" dir="3.4992e+25">
              <a:srgbClr val="0A241C">
                <a:alpha val="1.3e+24"/>
              </a:srgbClr>
            </a:outerShdw>
          </a:effectLst>
        </p:spPr>
      </p:sp>
      <p:sp>
        <p:nvSpPr>
          <p:cNvPr id="20" name="Text 18"/>
          <p:cNvSpPr/>
          <p:nvPr/>
        </p:nvSpPr>
        <p:spPr>
          <a:xfrm>
            <a:off x="4553712" y="2514600"/>
            <a:ext cx="438912" cy="228600"/>
          </a:xfrm>
          <a:prstGeom prst="rect">
            <a:avLst/>
          </a:prstGeom>
          <a:noFill/>
          <a:ln/>
        </p:spPr>
        <p:txBody>
          <a:bodyPr wrap="square" lIns="0" tIns="0" rIns="0" bIns="0" rtlCol="0" anchor="ctr">
            <a:normAutofit/>
          </a:bodyPr>
          <a:lstStyle/>
          <a:p>
            <a:pPr algn="l" indent="0" marL="0">
              <a:buNone/>
            </a:pPr>
            <a:r>
              <a:rPr lang="en-US" sz="900" b="1" spc="100" kern="0" dirty="0">
                <a:solidFill>
                  <a:srgbClr val="F97316"/>
                </a:solidFill>
                <a:latin typeface="Aptos" pitchFamily="34" charset="0"/>
                <a:ea typeface="Aptos" pitchFamily="34" charset="-122"/>
                <a:cs typeface="Aptos" pitchFamily="34" charset="-120"/>
              </a:rPr>
              <a:t>03</a:t>
            </a:r>
            <a:endParaRPr lang="en-US" sz="900" dirty="0"/>
          </a:p>
        </p:txBody>
      </p:sp>
      <p:sp>
        <p:nvSpPr>
          <p:cNvPr id="21" name="Shape 19"/>
          <p:cNvSpPr/>
          <p:nvPr/>
        </p:nvSpPr>
        <p:spPr>
          <a:xfrm>
            <a:off x="4553712" y="2907792"/>
            <a:ext cx="475488" cy="475488"/>
          </a:xfrm>
          <a:prstGeom prst="ellipse">
            <a:avLst/>
          </a:prstGeom>
          <a:solidFill>
            <a:srgbClr val="F97316"/>
          </a:solidFill>
          <a:ln w="12700">
            <a:solidFill>
              <a:srgbClr val="F97316"/>
            </a:solidFill>
            <a:prstDash val="solid"/>
          </a:ln>
        </p:spPr>
      </p:sp>
      <p:sp>
        <p:nvSpPr>
          <p:cNvPr id="22" name="Text 20"/>
          <p:cNvSpPr/>
          <p:nvPr/>
        </p:nvSpPr>
        <p:spPr>
          <a:xfrm>
            <a:off x="4553712" y="2907792"/>
            <a:ext cx="475488" cy="475488"/>
          </a:xfrm>
          <a:prstGeom prst="rect">
            <a:avLst/>
          </a:prstGeom>
          <a:noFill/>
          <a:ln/>
        </p:spPr>
        <p:txBody>
          <a:bodyPr wrap="square" lIns="0" tIns="0" rIns="0" bIns="0" rtlCol="0" anchor="ctr">
            <a:normAutofit/>
          </a:bodyPr>
          <a:lstStyle/>
          <a:p>
            <a:pPr algn="ctr" indent="0" marL="0">
              <a:buNone/>
            </a:pPr>
            <a:r>
              <a:rPr lang="en-US" sz="1500" b="1" dirty="0">
                <a:solidFill>
                  <a:srgbClr val="FFF0E7"/>
                </a:solidFill>
                <a:latin typeface="Aptos" pitchFamily="34" charset="0"/>
                <a:ea typeface="Aptos" pitchFamily="34" charset="-122"/>
                <a:cs typeface="Aptos" pitchFamily="34" charset="-120"/>
              </a:rPr>
              <a:t>O</a:t>
            </a:r>
            <a:endParaRPr lang="en-US" sz="1500" dirty="0"/>
          </a:p>
        </p:txBody>
      </p:sp>
      <p:sp>
        <p:nvSpPr>
          <p:cNvPr id="23" name="Text 21"/>
          <p:cNvSpPr/>
          <p:nvPr/>
        </p:nvSpPr>
        <p:spPr>
          <a:xfrm>
            <a:off x="4553712" y="3566160"/>
            <a:ext cx="1298448" cy="256032"/>
          </a:xfrm>
          <a:prstGeom prst="rect">
            <a:avLst/>
          </a:prstGeom>
          <a:noFill/>
          <a:ln/>
        </p:spPr>
        <p:txBody>
          <a:bodyPr wrap="square" lIns="0" tIns="0" rIns="0" bIns="0" rtlCol="0" anchor="ctr">
            <a:normAutofit/>
          </a:bodyPr>
          <a:lstStyle/>
          <a:p>
            <a:pPr algn="l" indent="0" marL="0">
              <a:buNone/>
            </a:pPr>
            <a:r>
              <a:rPr lang="en-US" sz="1100" b="1" spc="80" kern="0" dirty="0">
                <a:solidFill>
                  <a:srgbClr val="F97316"/>
                </a:solidFill>
                <a:latin typeface="Aptos" pitchFamily="34" charset="0"/>
                <a:ea typeface="Aptos" pitchFamily="34" charset="-122"/>
                <a:cs typeface="Aptos" pitchFamily="34" charset="-120"/>
              </a:rPr>
              <a:t>OPTIMIZE</a:t>
            </a:r>
            <a:endParaRPr lang="en-US" sz="1100" dirty="0"/>
          </a:p>
        </p:txBody>
      </p:sp>
      <p:sp>
        <p:nvSpPr>
          <p:cNvPr id="24" name="Text 22"/>
          <p:cNvSpPr/>
          <p:nvPr/>
        </p:nvSpPr>
        <p:spPr>
          <a:xfrm>
            <a:off x="4553712" y="3913632"/>
            <a:ext cx="1280160" cy="420624"/>
          </a:xfrm>
          <a:prstGeom prst="rect">
            <a:avLst/>
          </a:prstGeom>
          <a:noFill/>
          <a:ln/>
        </p:spPr>
        <p:txBody>
          <a:bodyPr wrap="square" lIns="0" tIns="0" rIns="0" bIns="0" rtlCol="0" anchor="t">
            <a:normAutofit/>
          </a:bodyPr>
          <a:lstStyle/>
          <a:p>
            <a:pPr algn="l" indent="0" marL="0">
              <a:buNone/>
            </a:pPr>
            <a:r>
              <a:rPr lang="en-US" sz="1050" dirty="0">
                <a:solidFill>
                  <a:srgbClr val="F97316"/>
                </a:solidFill>
                <a:latin typeface="Aptos" pitchFamily="34" charset="0"/>
                <a:ea typeface="Aptos" pitchFamily="34" charset="-122"/>
                <a:cs typeface="Aptos" pitchFamily="34" charset="-120"/>
              </a:rPr>
              <a:t>Margin-aware candidate</a:t>
            </a:r>
            <a:endParaRPr lang="en-US" sz="1050" dirty="0"/>
          </a:p>
        </p:txBody>
      </p:sp>
      <p:sp>
        <p:nvSpPr>
          <p:cNvPr id="25" name="Shape 23"/>
          <p:cNvSpPr/>
          <p:nvPr/>
        </p:nvSpPr>
        <p:spPr>
          <a:xfrm>
            <a:off x="6089904" y="3246120"/>
            <a:ext cx="310896" cy="310896"/>
          </a:xfrm>
          <a:prstGeom prst="chevron">
            <a:avLst/>
          </a:prstGeom>
          <a:solidFill>
            <a:srgbClr val="BEF264"/>
          </a:solidFill>
          <a:ln w="12700">
            <a:solidFill>
              <a:srgbClr val="BEF264"/>
            </a:solidFill>
            <a:prstDash val="solid"/>
          </a:ln>
        </p:spPr>
      </p:sp>
      <p:sp>
        <p:nvSpPr>
          <p:cNvPr id="26" name="Shape 24"/>
          <p:cNvSpPr/>
          <p:nvPr/>
        </p:nvSpPr>
        <p:spPr>
          <a:xfrm>
            <a:off x="6327648" y="2359152"/>
            <a:ext cx="1627632" cy="2194560"/>
          </a:xfrm>
          <a:prstGeom prst="roundRect">
            <a:avLst>
              <a:gd name="adj" fmla="val 12921"/>
            </a:avLst>
          </a:prstGeom>
          <a:solidFill>
            <a:srgbClr val="E4F7E9"/>
          </a:solidFill>
          <a:ln w="12700">
            <a:solidFill>
              <a:srgbClr val="E4F7E9">
                <a:alpha val="0"/>
              </a:srgbClr>
            </a:solidFill>
            <a:prstDash val="solid"/>
          </a:ln>
          <a:effectLst>
            <a:outerShdw sx="100000" sy="100000" kx="0" ky="0" algn="bl" rotWithShape="0" blurRad="8.391745829378e+24" dist="1.6783491658756e+25" dir="2.09952e+30">
              <a:srgbClr val="0A241C">
                <a:alpha val="1.3e+29"/>
              </a:srgbClr>
            </a:outerShdw>
          </a:effectLst>
        </p:spPr>
      </p:sp>
      <p:sp>
        <p:nvSpPr>
          <p:cNvPr id="27" name="Text 25"/>
          <p:cNvSpPr/>
          <p:nvPr/>
        </p:nvSpPr>
        <p:spPr>
          <a:xfrm>
            <a:off x="6473952" y="2514600"/>
            <a:ext cx="438912" cy="228600"/>
          </a:xfrm>
          <a:prstGeom prst="rect">
            <a:avLst/>
          </a:prstGeom>
          <a:noFill/>
          <a:ln/>
        </p:spPr>
        <p:txBody>
          <a:bodyPr wrap="square" lIns="0" tIns="0" rIns="0" bIns="0" rtlCol="0" anchor="ctr">
            <a:normAutofit/>
          </a:bodyPr>
          <a:lstStyle/>
          <a:p>
            <a:pPr algn="l" indent="0" marL="0">
              <a:buNone/>
            </a:pPr>
            <a:r>
              <a:rPr lang="en-US" sz="900" b="1" spc="100" kern="0" dirty="0">
                <a:solidFill>
                  <a:srgbClr val="10B981"/>
                </a:solidFill>
                <a:latin typeface="Aptos" pitchFamily="34" charset="0"/>
                <a:ea typeface="Aptos" pitchFamily="34" charset="-122"/>
                <a:cs typeface="Aptos" pitchFamily="34" charset="-120"/>
              </a:rPr>
              <a:t>04</a:t>
            </a:r>
            <a:endParaRPr lang="en-US" sz="900" dirty="0"/>
          </a:p>
        </p:txBody>
      </p:sp>
      <p:sp>
        <p:nvSpPr>
          <p:cNvPr id="28" name="Shape 26"/>
          <p:cNvSpPr/>
          <p:nvPr/>
        </p:nvSpPr>
        <p:spPr>
          <a:xfrm>
            <a:off x="6473952" y="2907792"/>
            <a:ext cx="475488" cy="475488"/>
          </a:xfrm>
          <a:prstGeom prst="ellipse">
            <a:avLst/>
          </a:prstGeom>
          <a:solidFill>
            <a:srgbClr val="10B981"/>
          </a:solidFill>
          <a:ln w="12700">
            <a:solidFill>
              <a:srgbClr val="10B981"/>
            </a:solidFill>
            <a:prstDash val="solid"/>
          </a:ln>
        </p:spPr>
      </p:sp>
      <p:sp>
        <p:nvSpPr>
          <p:cNvPr id="29" name="Text 27"/>
          <p:cNvSpPr/>
          <p:nvPr/>
        </p:nvSpPr>
        <p:spPr>
          <a:xfrm>
            <a:off x="6473952" y="2907792"/>
            <a:ext cx="475488" cy="475488"/>
          </a:xfrm>
          <a:prstGeom prst="rect">
            <a:avLst/>
          </a:prstGeom>
          <a:noFill/>
          <a:ln/>
        </p:spPr>
        <p:txBody>
          <a:bodyPr wrap="square" lIns="0" tIns="0" rIns="0" bIns="0" rtlCol="0" anchor="ctr">
            <a:normAutofit/>
          </a:bodyPr>
          <a:lstStyle/>
          <a:p>
            <a:pPr algn="ctr" indent="0" marL="0">
              <a:buNone/>
            </a:pPr>
            <a:r>
              <a:rPr lang="en-US" sz="1500" b="1" dirty="0">
                <a:solidFill>
                  <a:srgbClr val="E4F7E9"/>
                </a:solidFill>
                <a:latin typeface="Aptos" pitchFamily="34" charset="0"/>
                <a:ea typeface="Aptos" pitchFamily="34" charset="-122"/>
                <a:cs typeface="Aptos" pitchFamily="34" charset="-120"/>
              </a:rPr>
              <a:t>A</a:t>
            </a:r>
            <a:endParaRPr lang="en-US" sz="1500" dirty="0"/>
          </a:p>
        </p:txBody>
      </p:sp>
      <p:sp>
        <p:nvSpPr>
          <p:cNvPr id="30" name="Text 28"/>
          <p:cNvSpPr/>
          <p:nvPr/>
        </p:nvSpPr>
        <p:spPr>
          <a:xfrm>
            <a:off x="6473952" y="3566160"/>
            <a:ext cx="1298448" cy="256032"/>
          </a:xfrm>
          <a:prstGeom prst="rect">
            <a:avLst/>
          </a:prstGeom>
          <a:noFill/>
          <a:ln/>
        </p:spPr>
        <p:txBody>
          <a:bodyPr wrap="square" lIns="0" tIns="0" rIns="0" bIns="0" rtlCol="0" anchor="ctr">
            <a:normAutofit/>
          </a:bodyPr>
          <a:lstStyle/>
          <a:p>
            <a:pPr algn="l" indent="0" marL="0">
              <a:buNone/>
            </a:pPr>
            <a:r>
              <a:rPr lang="en-US" sz="1100" b="1" spc="80" kern="0" dirty="0">
                <a:solidFill>
                  <a:srgbClr val="10B981"/>
                </a:solidFill>
                <a:latin typeface="Aptos" pitchFamily="34" charset="0"/>
                <a:ea typeface="Aptos" pitchFamily="34" charset="-122"/>
                <a:cs typeface="Aptos" pitchFamily="34" charset="-120"/>
              </a:rPr>
              <a:t>APPROVE</a:t>
            </a:r>
            <a:endParaRPr lang="en-US" sz="1100" dirty="0"/>
          </a:p>
        </p:txBody>
      </p:sp>
      <p:sp>
        <p:nvSpPr>
          <p:cNvPr id="31" name="Text 29"/>
          <p:cNvSpPr/>
          <p:nvPr/>
        </p:nvSpPr>
        <p:spPr>
          <a:xfrm>
            <a:off x="6473952" y="3913632"/>
            <a:ext cx="1280160" cy="420624"/>
          </a:xfrm>
          <a:prstGeom prst="rect">
            <a:avLst/>
          </a:prstGeom>
          <a:noFill/>
          <a:ln/>
        </p:spPr>
        <p:txBody>
          <a:bodyPr wrap="square" lIns="0" tIns="0" rIns="0" bIns="0" rtlCol="0" anchor="t">
            <a:normAutofit/>
          </a:bodyPr>
          <a:lstStyle/>
          <a:p>
            <a:pPr algn="l" indent="0" marL="0">
              <a:buNone/>
            </a:pPr>
            <a:r>
              <a:rPr lang="en-US" sz="1050" dirty="0">
                <a:solidFill>
                  <a:srgbClr val="10B981"/>
                </a:solidFill>
                <a:latin typeface="Aptos" pitchFamily="34" charset="0"/>
                <a:ea typeface="Aptos" pitchFamily="34" charset="-122"/>
                <a:cs typeface="Aptos" pitchFamily="34" charset="-120"/>
              </a:rPr>
              <a:t>Owner stays in control</a:t>
            </a:r>
            <a:endParaRPr lang="en-US" sz="1050" dirty="0"/>
          </a:p>
        </p:txBody>
      </p:sp>
      <p:sp>
        <p:nvSpPr>
          <p:cNvPr id="32" name="Shape 30"/>
          <p:cNvSpPr/>
          <p:nvPr/>
        </p:nvSpPr>
        <p:spPr>
          <a:xfrm>
            <a:off x="8010144" y="3246120"/>
            <a:ext cx="310896" cy="310896"/>
          </a:xfrm>
          <a:prstGeom prst="chevron">
            <a:avLst/>
          </a:prstGeom>
          <a:solidFill>
            <a:srgbClr val="BEF264"/>
          </a:solidFill>
          <a:ln w="12700">
            <a:solidFill>
              <a:srgbClr val="BEF264"/>
            </a:solidFill>
            <a:prstDash val="solid"/>
          </a:ln>
        </p:spPr>
      </p:sp>
      <p:sp>
        <p:nvSpPr>
          <p:cNvPr id="33" name="Shape 31"/>
          <p:cNvSpPr/>
          <p:nvPr/>
        </p:nvSpPr>
        <p:spPr>
          <a:xfrm>
            <a:off x="8247888" y="2359152"/>
            <a:ext cx="1627632" cy="2194560"/>
          </a:xfrm>
          <a:prstGeom prst="roundRect">
            <a:avLst>
              <a:gd name="adj" fmla="val 12921"/>
            </a:avLst>
          </a:prstGeom>
          <a:solidFill>
            <a:srgbClr val="E9F2FF"/>
          </a:solidFill>
          <a:ln w="12700">
            <a:solidFill>
              <a:srgbClr val="E9F2FF">
                <a:alpha val="0"/>
              </a:srgbClr>
            </a:solidFill>
            <a:prstDash val="solid"/>
          </a:ln>
        </p:spPr>
      </p:sp>
      <p:sp>
        <p:nvSpPr>
          <p:cNvPr id="34" name="Text 32"/>
          <p:cNvSpPr/>
          <p:nvPr/>
        </p:nvSpPr>
        <p:spPr>
          <a:xfrm>
            <a:off x="8394192" y="2514600"/>
            <a:ext cx="438912" cy="228600"/>
          </a:xfrm>
          <a:prstGeom prst="rect">
            <a:avLst/>
          </a:prstGeom>
          <a:noFill/>
          <a:ln/>
        </p:spPr>
        <p:txBody>
          <a:bodyPr wrap="square" lIns="0" tIns="0" rIns="0" bIns="0" rtlCol="0" anchor="ctr">
            <a:normAutofit/>
          </a:bodyPr>
          <a:lstStyle/>
          <a:p>
            <a:pPr algn="l" indent="0" marL="0">
              <a:buNone/>
            </a:pPr>
            <a:r>
              <a:rPr lang="en-US" sz="900" b="1" spc="100" kern="0" dirty="0">
                <a:solidFill>
                  <a:srgbClr val="2F6CB3"/>
                </a:solidFill>
                <a:latin typeface="Aptos" pitchFamily="34" charset="0"/>
                <a:ea typeface="Aptos" pitchFamily="34" charset="-122"/>
                <a:cs typeface="Aptos" pitchFamily="34" charset="-120"/>
              </a:rPr>
              <a:t>05</a:t>
            </a:r>
            <a:endParaRPr lang="en-US" sz="900" dirty="0"/>
          </a:p>
        </p:txBody>
      </p:sp>
      <p:sp>
        <p:nvSpPr>
          <p:cNvPr id="35" name="Shape 33"/>
          <p:cNvSpPr/>
          <p:nvPr/>
        </p:nvSpPr>
        <p:spPr>
          <a:xfrm>
            <a:off x="8394192" y="2907792"/>
            <a:ext cx="475488" cy="475488"/>
          </a:xfrm>
          <a:prstGeom prst="ellipse">
            <a:avLst/>
          </a:prstGeom>
          <a:solidFill>
            <a:srgbClr val="2F6CB3"/>
          </a:solidFill>
          <a:ln w="12700">
            <a:solidFill>
              <a:srgbClr val="2F6CB3"/>
            </a:solidFill>
            <a:prstDash val="solid"/>
          </a:ln>
        </p:spPr>
      </p:sp>
      <p:sp>
        <p:nvSpPr>
          <p:cNvPr id="36" name="Text 34"/>
          <p:cNvSpPr/>
          <p:nvPr/>
        </p:nvSpPr>
        <p:spPr>
          <a:xfrm>
            <a:off x="8394192" y="2907792"/>
            <a:ext cx="475488" cy="475488"/>
          </a:xfrm>
          <a:prstGeom prst="rect">
            <a:avLst/>
          </a:prstGeom>
          <a:noFill/>
          <a:ln/>
        </p:spPr>
        <p:txBody>
          <a:bodyPr wrap="square" lIns="0" tIns="0" rIns="0" bIns="0" rtlCol="0" anchor="ctr">
            <a:normAutofit/>
          </a:bodyPr>
          <a:lstStyle/>
          <a:p>
            <a:pPr algn="ctr" indent="0" marL="0">
              <a:buNone/>
            </a:pPr>
            <a:r>
              <a:rPr lang="en-US" sz="1500" b="1" dirty="0">
                <a:solidFill>
                  <a:srgbClr val="E9F2FF"/>
                </a:solidFill>
                <a:latin typeface="Aptos" pitchFamily="34" charset="0"/>
                <a:ea typeface="Aptos" pitchFamily="34" charset="-122"/>
                <a:cs typeface="Aptos" pitchFamily="34" charset="-120"/>
              </a:rPr>
              <a:t>A</a:t>
            </a:r>
            <a:endParaRPr lang="en-US" sz="1500" dirty="0"/>
          </a:p>
        </p:txBody>
      </p:sp>
      <p:sp>
        <p:nvSpPr>
          <p:cNvPr id="37" name="Text 35"/>
          <p:cNvSpPr/>
          <p:nvPr/>
        </p:nvSpPr>
        <p:spPr>
          <a:xfrm>
            <a:off x="8394192" y="3566160"/>
            <a:ext cx="1298448" cy="256032"/>
          </a:xfrm>
          <a:prstGeom prst="rect">
            <a:avLst/>
          </a:prstGeom>
          <a:noFill/>
          <a:ln/>
        </p:spPr>
        <p:txBody>
          <a:bodyPr wrap="square" lIns="0" tIns="0" rIns="0" bIns="0" rtlCol="0" anchor="ctr">
            <a:normAutofit/>
          </a:bodyPr>
          <a:lstStyle/>
          <a:p>
            <a:pPr algn="l" indent="0" marL="0">
              <a:buNone/>
            </a:pPr>
            <a:r>
              <a:rPr lang="en-US" sz="1100" b="1" spc="80" kern="0" dirty="0">
                <a:solidFill>
                  <a:srgbClr val="2F6CB3"/>
                </a:solidFill>
                <a:latin typeface="Aptos" pitchFamily="34" charset="0"/>
                <a:ea typeface="Aptos" pitchFamily="34" charset="-122"/>
                <a:cs typeface="Aptos" pitchFamily="34" charset="-120"/>
              </a:rPr>
              <a:t>ACTIVATE</a:t>
            </a:r>
            <a:endParaRPr lang="en-US" sz="1100" dirty="0"/>
          </a:p>
        </p:txBody>
      </p:sp>
      <p:sp>
        <p:nvSpPr>
          <p:cNvPr id="38" name="Text 36"/>
          <p:cNvSpPr/>
          <p:nvPr/>
        </p:nvSpPr>
        <p:spPr>
          <a:xfrm>
            <a:off x="8394192" y="3913632"/>
            <a:ext cx="1280160" cy="420624"/>
          </a:xfrm>
          <a:prstGeom prst="rect">
            <a:avLst/>
          </a:prstGeom>
          <a:noFill/>
          <a:ln/>
        </p:spPr>
        <p:txBody>
          <a:bodyPr wrap="square" lIns="0" tIns="0" rIns="0" bIns="0" rtlCol="0" anchor="t">
            <a:normAutofit/>
          </a:bodyPr>
          <a:lstStyle/>
          <a:p>
            <a:pPr algn="l" indent="0" marL="0">
              <a:buNone/>
            </a:pPr>
            <a:r>
              <a:rPr lang="en-US" sz="1050" dirty="0">
                <a:solidFill>
                  <a:srgbClr val="2F6CB3"/>
                </a:solidFill>
                <a:latin typeface="Aptos" pitchFamily="34" charset="0"/>
                <a:ea typeface="Aptos" pitchFamily="34" charset="-122"/>
                <a:cs typeface="Aptos" pitchFamily="34" charset="-120"/>
              </a:rPr>
              <a:t>Store opt-in matching</a:t>
            </a:r>
            <a:endParaRPr lang="en-US" sz="1050" dirty="0"/>
          </a:p>
        </p:txBody>
      </p:sp>
      <p:sp>
        <p:nvSpPr>
          <p:cNvPr id="39" name="Shape 37"/>
          <p:cNvSpPr/>
          <p:nvPr/>
        </p:nvSpPr>
        <p:spPr>
          <a:xfrm>
            <a:off x="9930384" y="3246120"/>
            <a:ext cx="310896" cy="310896"/>
          </a:xfrm>
          <a:prstGeom prst="chevron">
            <a:avLst/>
          </a:prstGeom>
          <a:solidFill>
            <a:srgbClr val="BEF264"/>
          </a:solidFill>
          <a:ln w="12700">
            <a:solidFill>
              <a:srgbClr val="BEF264"/>
            </a:solidFill>
            <a:prstDash val="solid"/>
          </a:ln>
        </p:spPr>
      </p:sp>
      <p:sp>
        <p:nvSpPr>
          <p:cNvPr id="40" name="Shape 38"/>
          <p:cNvSpPr/>
          <p:nvPr/>
        </p:nvSpPr>
        <p:spPr>
          <a:xfrm>
            <a:off x="10168128" y="2359152"/>
            <a:ext cx="1627632" cy="2194560"/>
          </a:xfrm>
          <a:prstGeom prst="roundRect">
            <a:avLst>
              <a:gd name="adj" fmla="val 12921"/>
            </a:avLst>
          </a:prstGeom>
          <a:solidFill>
            <a:srgbClr val="BEF264"/>
          </a:solidFill>
          <a:ln w="12700">
            <a:solidFill>
              <a:srgbClr val="BEF264">
                <a:alpha val="0"/>
              </a:srgbClr>
            </a:solidFill>
            <a:prstDash val="solid"/>
          </a:ln>
        </p:spPr>
      </p:sp>
      <p:sp>
        <p:nvSpPr>
          <p:cNvPr id="41" name="Text 39"/>
          <p:cNvSpPr/>
          <p:nvPr/>
        </p:nvSpPr>
        <p:spPr>
          <a:xfrm>
            <a:off x="10314432" y="2514600"/>
            <a:ext cx="438912" cy="228600"/>
          </a:xfrm>
          <a:prstGeom prst="rect">
            <a:avLst/>
          </a:prstGeom>
          <a:noFill/>
          <a:ln/>
        </p:spPr>
        <p:txBody>
          <a:bodyPr wrap="square" lIns="0" tIns="0" rIns="0" bIns="0" rtlCol="0" anchor="ctr">
            <a:normAutofit/>
          </a:bodyPr>
          <a:lstStyle/>
          <a:p>
            <a:pPr algn="l" indent="0" marL="0">
              <a:buNone/>
            </a:pPr>
            <a:r>
              <a:rPr lang="en-US" sz="900" b="1" spc="100" kern="0" dirty="0">
                <a:solidFill>
                  <a:srgbClr val="173D31"/>
                </a:solidFill>
                <a:latin typeface="Aptos" pitchFamily="34" charset="0"/>
                <a:ea typeface="Aptos" pitchFamily="34" charset="-122"/>
                <a:cs typeface="Aptos" pitchFamily="34" charset="-120"/>
              </a:rPr>
              <a:t>06</a:t>
            </a:r>
            <a:endParaRPr lang="en-US" sz="900" dirty="0"/>
          </a:p>
        </p:txBody>
      </p:sp>
      <p:sp>
        <p:nvSpPr>
          <p:cNvPr id="42" name="Shape 40"/>
          <p:cNvSpPr/>
          <p:nvPr/>
        </p:nvSpPr>
        <p:spPr>
          <a:xfrm>
            <a:off x="10314432" y="2907792"/>
            <a:ext cx="475488" cy="475488"/>
          </a:xfrm>
          <a:prstGeom prst="ellipse">
            <a:avLst/>
          </a:prstGeom>
          <a:solidFill>
            <a:srgbClr val="173D31"/>
          </a:solidFill>
          <a:ln w="12700">
            <a:solidFill>
              <a:srgbClr val="173D31"/>
            </a:solidFill>
            <a:prstDash val="solid"/>
          </a:ln>
        </p:spPr>
      </p:sp>
      <p:sp>
        <p:nvSpPr>
          <p:cNvPr id="43" name="Text 41"/>
          <p:cNvSpPr/>
          <p:nvPr/>
        </p:nvSpPr>
        <p:spPr>
          <a:xfrm>
            <a:off x="10314432" y="2907792"/>
            <a:ext cx="475488" cy="475488"/>
          </a:xfrm>
          <a:prstGeom prst="rect">
            <a:avLst/>
          </a:prstGeom>
          <a:noFill/>
          <a:ln/>
        </p:spPr>
        <p:txBody>
          <a:bodyPr wrap="square" lIns="0" tIns="0" rIns="0" bIns="0" rtlCol="0" anchor="ctr">
            <a:normAutofit/>
          </a:bodyPr>
          <a:lstStyle/>
          <a:p>
            <a:pPr algn="ctr" indent="0" marL="0">
              <a:buNone/>
            </a:pPr>
            <a:r>
              <a:rPr lang="en-US" sz="1500" b="1" dirty="0">
                <a:solidFill>
                  <a:srgbClr val="BEF264"/>
                </a:solidFill>
                <a:latin typeface="Aptos" pitchFamily="34" charset="0"/>
                <a:ea typeface="Aptos" pitchFamily="34" charset="-122"/>
                <a:cs typeface="Aptos" pitchFamily="34" charset="-120"/>
              </a:rPr>
              <a:t>M</a:t>
            </a:r>
            <a:endParaRPr lang="en-US" sz="1500" dirty="0"/>
          </a:p>
        </p:txBody>
      </p:sp>
      <p:sp>
        <p:nvSpPr>
          <p:cNvPr id="44" name="Text 42"/>
          <p:cNvSpPr/>
          <p:nvPr/>
        </p:nvSpPr>
        <p:spPr>
          <a:xfrm>
            <a:off x="10314432" y="3566160"/>
            <a:ext cx="1298448" cy="256032"/>
          </a:xfrm>
          <a:prstGeom prst="rect">
            <a:avLst/>
          </a:prstGeom>
          <a:noFill/>
          <a:ln/>
        </p:spPr>
        <p:txBody>
          <a:bodyPr wrap="square" lIns="0" tIns="0" rIns="0" bIns="0" rtlCol="0" anchor="ctr">
            <a:normAutofit/>
          </a:bodyPr>
          <a:lstStyle/>
          <a:p>
            <a:pPr algn="l" indent="0" marL="0">
              <a:buNone/>
            </a:pPr>
            <a:r>
              <a:rPr lang="en-US" sz="1100" b="1" spc="80" kern="0" dirty="0">
                <a:solidFill>
                  <a:srgbClr val="173D31"/>
                </a:solidFill>
                <a:latin typeface="Aptos" pitchFamily="34" charset="0"/>
                <a:ea typeface="Aptos" pitchFamily="34" charset="-122"/>
                <a:cs typeface="Aptos" pitchFamily="34" charset="-120"/>
              </a:rPr>
              <a:t>MEASURE</a:t>
            </a:r>
            <a:endParaRPr lang="en-US" sz="1100" dirty="0"/>
          </a:p>
        </p:txBody>
      </p:sp>
      <p:sp>
        <p:nvSpPr>
          <p:cNvPr id="45" name="Text 43"/>
          <p:cNvSpPr/>
          <p:nvPr/>
        </p:nvSpPr>
        <p:spPr>
          <a:xfrm>
            <a:off x="10314432" y="3913632"/>
            <a:ext cx="1280160" cy="420624"/>
          </a:xfrm>
          <a:prstGeom prst="rect">
            <a:avLst/>
          </a:prstGeom>
          <a:noFill/>
          <a:ln/>
        </p:spPr>
        <p:txBody>
          <a:bodyPr wrap="square" lIns="0" tIns="0" rIns="0" bIns="0" rtlCol="0" anchor="t">
            <a:normAutofit/>
          </a:bodyPr>
          <a:lstStyle/>
          <a:p>
            <a:pPr algn="l" indent="0" marL="0">
              <a:buNone/>
            </a:pPr>
            <a:r>
              <a:rPr lang="en-US" sz="1050" dirty="0">
                <a:solidFill>
                  <a:srgbClr val="173D31"/>
                </a:solidFill>
                <a:latin typeface="Aptos" pitchFamily="34" charset="0"/>
                <a:ea typeface="Aptos" pitchFamily="34" charset="-122"/>
                <a:cs typeface="Aptos" pitchFamily="34" charset="-120"/>
              </a:rPr>
              <a:t>Order + outcome ledger</a:t>
            </a:r>
            <a:endParaRPr lang="en-US" sz="1050" dirty="0"/>
          </a:p>
        </p:txBody>
      </p:sp>
      <p:sp>
        <p:nvSpPr>
          <p:cNvPr id="46" name="Shape 44"/>
          <p:cNvSpPr/>
          <p:nvPr/>
        </p:nvSpPr>
        <p:spPr>
          <a:xfrm>
            <a:off x="1051560" y="5074920"/>
            <a:ext cx="10058400" cy="658368"/>
          </a:xfrm>
          <a:prstGeom prst="roundRect">
            <a:avLst>
              <a:gd name="adj" fmla="val 25000"/>
            </a:avLst>
          </a:prstGeom>
          <a:solidFill>
            <a:srgbClr val="244E42"/>
          </a:solidFill>
          <a:ln w="12700">
            <a:solidFill>
              <a:srgbClr val="244E42">
                <a:alpha val="0"/>
              </a:srgbClr>
            </a:solidFill>
            <a:prstDash val="solid"/>
          </a:ln>
        </p:spPr>
      </p:sp>
      <p:sp>
        <p:nvSpPr>
          <p:cNvPr id="47" name="Text 45"/>
          <p:cNvSpPr/>
          <p:nvPr/>
        </p:nvSpPr>
        <p:spPr>
          <a:xfrm>
            <a:off x="1325880" y="5276088"/>
            <a:ext cx="960120" cy="201168"/>
          </a:xfrm>
          <a:prstGeom prst="rect">
            <a:avLst/>
          </a:prstGeom>
          <a:noFill/>
          <a:ln/>
        </p:spPr>
        <p:txBody>
          <a:bodyPr wrap="square" lIns="0" tIns="0" rIns="0" bIns="0" rtlCol="0" anchor="ctr">
            <a:normAutofit/>
          </a:bodyPr>
          <a:lstStyle/>
          <a:p>
            <a:pPr algn="l" indent="0" marL="0">
              <a:buNone/>
            </a:pPr>
            <a:r>
              <a:rPr lang="en-US" sz="900" b="1" spc="120" kern="0" dirty="0">
                <a:solidFill>
                  <a:srgbClr val="BEF264"/>
                </a:solidFill>
                <a:latin typeface="Aptos" pitchFamily="34" charset="0"/>
                <a:ea typeface="Aptos" pitchFamily="34" charset="-122"/>
                <a:cs typeface="Aptos" pitchFamily="34" charset="-120"/>
              </a:rPr>
              <a:t>MERCHANT</a:t>
            </a:r>
            <a:endParaRPr lang="en-US" sz="900" dirty="0"/>
          </a:p>
        </p:txBody>
      </p:sp>
      <p:sp>
        <p:nvSpPr>
          <p:cNvPr id="48" name="Text 46"/>
          <p:cNvSpPr/>
          <p:nvPr/>
        </p:nvSpPr>
        <p:spPr>
          <a:xfrm>
            <a:off x="2240280" y="5230368"/>
            <a:ext cx="2514600" cy="274320"/>
          </a:xfrm>
          <a:prstGeom prst="rect">
            <a:avLst/>
          </a:prstGeom>
          <a:noFill/>
          <a:ln/>
        </p:spPr>
        <p:txBody>
          <a:bodyPr wrap="square" lIns="0" tIns="0" rIns="0" bIns="0" rtlCol="0" anchor="ctr">
            <a:normAutofit/>
          </a:bodyPr>
          <a:lstStyle/>
          <a:p>
            <a:pPr algn="l" indent="0" marL="0">
              <a:buNone/>
            </a:pPr>
            <a:r>
              <a:rPr lang="en-US" sz="1200" b="1" dirty="0">
                <a:solidFill>
                  <a:srgbClr val="FFFFFF"/>
                </a:solidFill>
                <a:latin typeface="Aptos" pitchFamily="34" charset="0"/>
                <a:ea typeface="Aptos" pitchFamily="34" charset="-122"/>
                <a:cs typeface="Aptos" pitchFamily="34" charset="-120"/>
              </a:rPr>
              <a:t>Detect risk  →  approve action</a:t>
            </a:r>
            <a:endParaRPr lang="en-US" sz="1200" dirty="0"/>
          </a:p>
        </p:txBody>
      </p:sp>
      <p:sp>
        <p:nvSpPr>
          <p:cNvPr id="49" name="Shape 47"/>
          <p:cNvSpPr/>
          <p:nvPr/>
        </p:nvSpPr>
        <p:spPr>
          <a:xfrm>
            <a:off x="5742432" y="5212080"/>
            <a:ext cx="0" cy="347472"/>
          </a:xfrm>
          <a:prstGeom prst="line">
            <a:avLst/>
          </a:prstGeom>
          <a:noFill/>
          <a:ln w="12700">
            <a:solidFill>
              <a:srgbClr val="56786D"/>
            </a:solidFill>
            <a:prstDash val="solid"/>
          </a:ln>
        </p:spPr>
      </p:sp>
      <p:sp>
        <p:nvSpPr>
          <p:cNvPr id="50" name="Text 48"/>
          <p:cNvSpPr/>
          <p:nvPr/>
        </p:nvSpPr>
        <p:spPr>
          <a:xfrm>
            <a:off x="6053328" y="5276088"/>
            <a:ext cx="960120" cy="201168"/>
          </a:xfrm>
          <a:prstGeom prst="rect">
            <a:avLst/>
          </a:prstGeom>
          <a:noFill/>
          <a:ln/>
        </p:spPr>
        <p:txBody>
          <a:bodyPr wrap="square" lIns="0" tIns="0" rIns="0" bIns="0" rtlCol="0" anchor="ctr">
            <a:normAutofit/>
          </a:bodyPr>
          <a:lstStyle/>
          <a:p>
            <a:pPr algn="l" indent="0" marL="0">
              <a:buNone/>
            </a:pPr>
            <a:r>
              <a:rPr lang="en-US" sz="900" b="1" spc="120" kern="0" dirty="0">
                <a:solidFill>
                  <a:srgbClr val="BEF264"/>
                </a:solidFill>
                <a:latin typeface="Aptos" pitchFamily="34" charset="0"/>
                <a:ea typeface="Aptos" pitchFamily="34" charset="-122"/>
                <a:cs typeface="Aptos" pitchFamily="34" charset="-120"/>
              </a:rPr>
              <a:t>SHOPPER</a:t>
            </a:r>
            <a:endParaRPr lang="en-US" sz="900" dirty="0"/>
          </a:p>
        </p:txBody>
      </p:sp>
      <p:sp>
        <p:nvSpPr>
          <p:cNvPr id="51" name="Text 49"/>
          <p:cNvSpPr/>
          <p:nvPr/>
        </p:nvSpPr>
        <p:spPr>
          <a:xfrm>
            <a:off x="6995160" y="5230368"/>
            <a:ext cx="2880360" cy="274320"/>
          </a:xfrm>
          <a:prstGeom prst="rect">
            <a:avLst/>
          </a:prstGeom>
          <a:noFill/>
          <a:ln/>
        </p:spPr>
        <p:txBody>
          <a:bodyPr wrap="square" lIns="0" tIns="0" rIns="0" bIns="0" rtlCol="0" anchor="ctr">
            <a:normAutofit/>
          </a:bodyPr>
          <a:lstStyle/>
          <a:p>
            <a:pPr algn="l" indent="0" marL="0">
              <a:buNone/>
            </a:pPr>
            <a:r>
              <a:rPr lang="en-US" sz="1200" b="1" dirty="0">
                <a:solidFill>
                  <a:srgbClr val="FFFFFF"/>
                </a:solidFill>
                <a:latin typeface="Aptos" pitchFamily="34" charset="0"/>
                <a:ea typeface="Aptos" pitchFamily="34" charset="-122"/>
                <a:cs typeface="Aptos" pitchFamily="34" charset="-120"/>
              </a:rPr>
              <a:t>Discover deal  →  reserve pickup</a:t>
            </a:r>
            <a:endParaRPr lang="en-US" sz="1200" dirty="0"/>
          </a:p>
        </p:txBody>
      </p:sp>
      <p:sp>
        <p:nvSpPr>
          <p:cNvPr id="52" name="Shape 50"/>
          <p:cNvSpPr/>
          <p:nvPr/>
        </p:nvSpPr>
        <p:spPr>
          <a:xfrm>
            <a:off x="502920" y="6419088"/>
            <a:ext cx="10744200" cy="0"/>
          </a:xfrm>
          <a:prstGeom prst="line">
            <a:avLst/>
          </a:prstGeom>
          <a:noFill/>
          <a:ln w="10160">
            <a:solidFill>
              <a:srgbClr val="406459"/>
            </a:solidFill>
            <a:prstDash val="solid"/>
          </a:ln>
        </p:spPr>
      </p:sp>
      <p:sp>
        <p:nvSpPr>
          <p:cNvPr id="53" name="Text 51"/>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BEF264"/>
                </a:solidFill>
                <a:latin typeface="Aptos" pitchFamily="34" charset="0"/>
                <a:ea typeface="Aptos" pitchFamily="34" charset="-122"/>
                <a:cs typeface="Aptos" pitchFamily="34" charset="-120"/>
              </a:rPr>
              <a:t>FRESHSAVER</a:t>
            </a:r>
            <a:endParaRPr lang="en-US" sz="750" dirty="0"/>
          </a:p>
        </p:txBody>
      </p:sp>
      <p:sp>
        <p:nvSpPr>
          <p:cNvPr id="54" name="Text 52"/>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90A99F"/>
                </a:solidFill>
                <a:latin typeface="Aptos" pitchFamily="34" charset="0"/>
                <a:ea typeface="Aptos" pitchFamily="34" charset="-122"/>
                <a:cs typeface="Aptos" pitchFamily="34" charset="-120"/>
              </a:rPr>
              <a:t>End-to-end workflow</a:t>
            </a:r>
            <a:endParaRPr lang="en-US" sz="750" dirty="0"/>
          </a:p>
        </p:txBody>
      </p:sp>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6ADA4"/>
                </a:solidFill>
                <a:latin typeface="Aptos"/>
                <a:ea typeface="Aptos"/>
                <a:cs typeface="Apto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10B981"/>
                </a:solidFill>
                <a:latin typeface="Aptos" pitchFamily="34" charset="0"/>
                <a:ea typeface="Aptos" pitchFamily="34" charset="-122"/>
                <a:cs typeface="Aptos" pitchFamily="34" charset="-120"/>
              </a:rPr>
              <a:t>PRODUCT EXPERIENCE</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15352C"/>
                </a:solidFill>
                <a:latin typeface="Aptos Display" pitchFamily="34" charset="0"/>
                <a:ea typeface="Aptos Display" pitchFamily="34" charset="-122"/>
                <a:cs typeface="Aptos Display" pitchFamily="34" charset="-120"/>
              </a:rPr>
              <a:t>Built for the aisle and the customer’s pocket.</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667D75"/>
                </a:solidFill>
                <a:latin typeface="Aptos" pitchFamily="34" charset="0"/>
                <a:ea typeface="Aptos" pitchFamily="34" charset="-122"/>
                <a:cs typeface="Aptos" pitchFamily="34" charset="-120"/>
              </a:rPr>
              <a:t>A focused owner workspace feeds a simple customer marketplace.</a:t>
            </a:r>
            <a:endParaRPr lang="en-US" sz="1250" dirty="0"/>
          </a:p>
        </p:txBody>
      </p:sp>
      <p:sp>
        <p:nvSpPr>
          <p:cNvPr id="5" name="Shape 3"/>
          <p:cNvSpPr/>
          <p:nvPr/>
        </p:nvSpPr>
        <p:spPr>
          <a:xfrm>
            <a:off x="566928" y="1975104"/>
            <a:ext cx="6473952" cy="3913632"/>
          </a:xfrm>
          <a:prstGeom prst="roundRect">
            <a:avLst>
              <a:gd name="adj" fmla="val 6075"/>
            </a:avLst>
          </a:prstGeom>
          <a:solidFill>
            <a:srgbClr val="FFFFFF"/>
          </a:solidFill>
          <a:ln w="12700">
            <a:solidFill>
              <a:srgbClr val="D9E3DD"/>
            </a:solidFill>
            <a:prstDash val="solid"/>
          </a:ln>
          <a:effectLst>
            <a:outerShdw sx="100000" sy="100000" kx="0" ky="0" algn="bl" rotWithShape="0" blurRad="1.0657517203310059e+29" dist="2.1315034406620118e+29" dir="1.259712e+35">
              <a:srgbClr val="0A241C">
                <a:alpha val="1.3e+34"/>
              </a:srgbClr>
            </a:outerShdw>
          </a:effectLst>
        </p:spPr>
      </p:sp>
      <p:sp>
        <p:nvSpPr>
          <p:cNvPr id="6" name="Shape 4"/>
          <p:cNvSpPr/>
          <p:nvPr/>
        </p:nvSpPr>
        <p:spPr>
          <a:xfrm>
            <a:off x="566928" y="1975104"/>
            <a:ext cx="1261872" cy="3913632"/>
          </a:xfrm>
          <a:prstGeom prst="roundRect">
            <a:avLst>
              <a:gd name="adj" fmla="val 18841"/>
            </a:avLst>
          </a:prstGeom>
          <a:solidFill>
            <a:srgbClr val="173D31"/>
          </a:solidFill>
          <a:ln w="12700">
            <a:solidFill>
              <a:srgbClr val="173D31">
                <a:alpha val="0"/>
              </a:srgbClr>
            </a:solidFill>
            <a:prstDash val="solid"/>
          </a:ln>
        </p:spPr>
      </p:sp>
      <p:sp>
        <p:nvSpPr>
          <p:cNvPr id="7" name="Shape 5"/>
          <p:cNvSpPr/>
          <p:nvPr/>
        </p:nvSpPr>
        <p:spPr>
          <a:xfrm>
            <a:off x="850392" y="2267712"/>
            <a:ext cx="384048" cy="384048"/>
          </a:xfrm>
          <a:prstGeom prst="ellipse">
            <a:avLst/>
          </a:prstGeom>
          <a:solidFill>
            <a:srgbClr val="BEF264"/>
          </a:solidFill>
          <a:ln w="12700">
            <a:solidFill>
              <a:srgbClr val="BEF264"/>
            </a:solidFill>
            <a:prstDash val="solid"/>
          </a:ln>
        </p:spPr>
      </p:sp>
      <p:sp>
        <p:nvSpPr>
          <p:cNvPr id="8" name="Text 6"/>
          <p:cNvSpPr/>
          <p:nvPr/>
        </p:nvSpPr>
        <p:spPr>
          <a:xfrm>
            <a:off x="850392" y="2267712"/>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173D31"/>
                </a:solidFill>
                <a:latin typeface="Aptos" pitchFamily="34" charset="0"/>
                <a:ea typeface="Aptos" pitchFamily="34" charset="-122"/>
                <a:cs typeface="Aptos" pitchFamily="34" charset="-120"/>
              </a:rPr>
              <a:t>F</a:t>
            </a:r>
            <a:endParaRPr lang="en-US" sz="1300" dirty="0"/>
          </a:p>
        </p:txBody>
      </p:sp>
      <p:sp>
        <p:nvSpPr>
          <p:cNvPr id="9" name="Text 7"/>
          <p:cNvSpPr/>
          <p:nvPr/>
        </p:nvSpPr>
        <p:spPr>
          <a:xfrm>
            <a:off x="1271016" y="2304288"/>
            <a:ext cx="438912" cy="182880"/>
          </a:xfrm>
          <a:prstGeom prst="rect">
            <a:avLst/>
          </a:prstGeom>
          <a:noFill/>
          <a:ln/>
        </p:spPr>
        <p:txBody>
          <a:bodyPr wrap="square" lIns="0" tIns="0" rIns="0" bIns="0" rtlCol="0" anchor="ctr">
            <a:normAutofit/>
          </a:bodyPr>
          <a:lstStyle/>
          <a:p>
            <a:pPr algn="l" indent="0" marL="0">
              <a:buNone/>
            </a:pPr>
            <a:r>
              <a:rPr lang="en-US" sz="800" b="1" spc="100" kern="0" dirty="0">
                <a:solidFill>
                  <a:srgbClr val="FFFFFF"/>
                </a:solidFill>
                <a:latin typeface="Aptos" pitchFamily="34" charset="0"/>
                <a:ea typeface="Aptos" pitchFamily="34" charset="-122"/>
                <a:cs typeface="Aptos" pitchFamily="34" charset="-120"/>
              </a:rPr>
              <a:t>OWNER</a:t>
            </a:r>
            <a:endParaRPr lang="en-US" sz="800" dirty="0"/>
          </a:p>
        </p:txBody>
      </p:sp>
      <p:sp>
        <p:nvSpPr>
          <p:cNvPr id="10" name="Shape 8"/>
          <p:cNvSpPr/>
          <p:nvPr/>
        </p:nvSpPr>
        <p:spPr>
          <a:xfrm>
            <a:off x="731520" y="2852928"/>
            <a:ext cx="932688" cy="310896"/>
          </a:xfrm>
          <a:prstGeom prst="roundRect">
            <a:avLst>
              <a:gd name="adj" fmla="val 26471"/>
            </a:avLst>
          </a:prstGeom>
          <a:solidFill>
            <a:srgbClr val="285043"/>
          </a:solidFill>
          <a:ln w="12700">
            <a:solidFill>
              <a:srgbClr val="285043">
                <a:alpha val="0"/>
              </a:srgbClr>
            </a:solidFill>
            <a:prstDash val="solid"/>
          </a:ln>
        </p:spPr>
      </p:sp>
      <p:sp>
        <p:nvSpPr>
          <p:cNvPr id="11" name="Text 9"/>
          <p:cNvSpPr/>
          <p:nvPr/>
        </p:nvSpPr>
        <p:spPr>
          <a:xfrm>
            <a:off x="786384" y="2852928"/>
            <a:ext cx="822960" cy="310896"/>
          </a:xfrm>
          <a:prstGeom prst="rect">
            <a:avLst/>
          </a:prstGeom>
          <a:noFill/>
          <a:ln/>
        </p:spPr>
        <p:txBody>
          <a:bodyPr wrap="square" lIns="0" tIns="0" rIns="0" bIns="0" rtlCol="0" anchor="ctr">
            <a:normAutofit/>
          </a:bodyPr>
          <a:lstStyle/>
          <a:p>
            <a:pPr algn="l" indent="0" marL="0">
              <a:buNone/>
            </a:pPr>
            <a:r>
              <a:rPr lang="en-US" sz="800" dirty="0">
                <a:solidFill>
                  <a:srgbClr val="BDD0C8"/>
                </a:solidFill>
                <a:latin typeface="Aptos" pitchFamily="34" charset="0"/>
                <a:ea typeface="Aptos" pitchFamily="34" charset="-122"/>
                <a:cs typeface="Aptos" pitchFamily="34" charset="-120"/>
              </a:rPr>
              <a:t>Dashboard</a:t>
            </a:r>
            <a:endParaRPr lang="en-US" sz="800" dirty="0"/>
          </a:p>
        </p:txBody>
      </p:sp>
      <p:sp>
        <p:nvSpPr>
          <p:cNvPr id="12" name="Shape 10"/>
          <p:cNvSpPr/>
          <p:nvPr/>
        </p:nvSpPr>
        <p:spPr>
          <a:xfrm>
            <a:off x="731520" y="3310128"/>
            <a:ext cx="932688" cy="310896"/>
          </a:xfrm>
          <a:prstGeom prst="roundRect">
            <a:avLst>
              <a:gd name="adj" fmla="val 26471"/>
            </a:avLst>
          </a:prstGeom>
          <a:solidFill>
            <a:srgbClr val="285043"/>
          </a:solidFill>
          <a:ln w="12700">
            <a:solidFill>
              <a:srgbClr val="285043">
                <a:alpha val="0"/>
              </a:srgbClr>
            </a:solidFill>
            <a:prstDash val="solid"/>
          </a:ln>
        </p:spPr>
      </p:sp>
      <p:sp>
        <p:nvSpPr>
          <p:cNvPr id="13" name="Text 11"/>
          <p:cNvSpPr/>
          <p:nvPr/>
        </p:nvSpPr>
        <p:spPr>
          <a:xfrm>
            <a:off x="786384" y="3310128"/>
            <a:ext cx="822960" cy="310896"/>
          </a:xfrm>
          <a:prstGeom prst="rect">
            <a:avLst/>
          </a:prstGeom>
          <a:noFill/>
          <a:ln/>
        </p:spPr>
        <p:txBody>
          <a:bodyPr wrap="square" lIns="0" tIns="0" rIns="0" bIns="0" rtlCol="0" anchor="ctr">
            <a:normAutofit/>
          </a:bodyPr>
          <a:lstStyle/>
          <a:p>
            <a:pPr algn="l" indent="0" marL="0">
              <a:buNone/>
            </a:pPr>
            <a:r>
              <a:rPr lang="en-US" sz="800" dirty="0">
                <a:solidFill>
                  <a:srgbClr val="BDD0C8"/>
                </a:solidFill>
                <a:latin typeface="Aptos" pitchFamily="34" charset="0"/>
                <a:ea typeface="Aptos" pitchFamily="34" charset="-122"/>
                <a:cs typeface="Aptos" pitchFamily="34" charset="-120"/>
              </a:rPr>
              <a:t>Products</a:t>
            </a:r>
            <a:endParaRPr lang="en-US" sz="800" dirty="0"/>
          </a:p>
        </p:txBody>
      </p:sp>
      <p:sp>
        <p:nvSpPr>
          <p:cNvPr id="14" name="Shape 12"/>
          <p:cNvSpPr/>
          <p:nvPr/>
        </p:nvSpPr>
        <p:spPr>
          <a:xfrm>
            <a:off x="731520" y="3767328"/>
            <a:ext cx="932688" cy="310896"/>
          </a:xfrm>
          <a:prstGeom prst="roundRect">
            <a:avLst>
              <a:gd name="adj" fmla="val 26471"/>
            </a:avLst>
          </a:prstGeom>
          <a:solidFill>
            <a:srgbClr val="285043"/>
          </a:solidFill>
          <a:ln w="12700">
            <a:solidFill>
              <a:srgbClr val="285043">
                <a:alpha val="0"/>
              </a:srgbClr>
            </a:solidFill>
            <a:prstDash val="solid"/>
          </a:ln>
        </p:spPr>
      </p:sp>
      <p:sp>
        <p:nvSpPr>
          <p:cNvPr id="15" name="Text 13"/>
          <p:cNvSpPr/>
          <p:nvPr/>
        </p:nvSpPr>
        <p:spPr>
          <a:xfrm>
            <a:off x="786384" y="3767328"/>
            <a:ext cx="822960" cy="310896"/>
          </a:xfrm>
          <a:prstGeom prst="rect">
            <a:avLst/>
          </a:prstGeom>
          <a:noFill/>
          <a:ln/>
        </p:spPr>
        <p:txBody>
          <a:bodyPr wrap="square" lIns="0" tIns="0" rIns="0" bIns="0" rtlCol="0" anchor="ctr">
            <a:normAutofit/>
          </a:bodyPr>
          <a:lstStyle/>
          <a:p>
            <a:pPr algn="l" indent="0" marL="0">
              <a:buNone/>
            </a:pPr>
            <a:r>
              <a:rPr lang="en-US" sz="800" dirty="0">
                <a:solidFill>
                  <a:srgbClr val="BDD0C8"/>
                </a:solidFill>
                <a:latin typeface="Aptos" pitchFamily="34" charset="0"/>
                <a:ea typeface="Aptos" pitchFamily="34" charset="-122"/>
                <a:cs typeface="Aptos" pitchFamily="34" charset="-120"/>
              </a:rPr>
              <a:t>Customers</a:t>
            </a:r>
            <a:endParaRPr lang="en-US" sz="800" dirty="0"/>
          </a:p>
        </p:txBody>
      </p:sp>
      <p:sp>
        <p:nvSpPr>
          <p:cNvPr id="16" name="Shape 14"/>
          <p:cNvSpPr/>
          <p:nvPr/>
        </p:nvSpPr>
        <p:spPr>
          <a:xfrm>
            <a:off x="731520" y="4224528"/>
            <a:ext cx="932688" cy="310896"/>
          </a:xfrm>
          <a:prstGeom prst="roundRect">
            <a:avLst>
              <a:gd name="adj" fmla="val 26471"/>
            </a:avLst>
          </a:prstGeom>
          <a:solidFill>
            <a:srgbClr val="BEF264"/>
          </a:solidFill>
          <a:ln w="12700">
            <a:solidFill>
              <a:srgbClr val="BEF264">
                <a:alpha val="0"/>
              </a:srgbClr>
            </a:solidFill>
            <a:prstDash val="solid"/>
          </a:ln>
        </p:spPr>
      </p:sp>
      <p:sp>
        <p:nvSpPr>
          <p:cNvPr id="17" name="Text 15"/>
          <p:cNvSpPr/>
          <p:nvPr/>
        </p:nvSpPr>
        <p:spPr>
          <a:xfrm>
            <a:off x="786384" y="4224528"/>
            <a:ext cx="822960" cy="310896"/>
          </a:xfrm>
          <a:prstGeom prst="rect">
            <a:avLst/>
          </a:prstGeom>
          <a:noFill/>
          <a:ln/>
        </p:spPr>
        <p:txBody>
          <a:bodyPr wrap="square" lIns="0" tIns="0" rIns="0" bIns="0" rtlCol="0" anchor="ctr">
            <a:normAutofit/>
          </a:bodyPr>
          <a:lstStyle/>
          <a:p>
            <a:pPr algn="l" indent="0" marL="0">
              <a:buNone/>
            </a:pPr>
            <a:r>
              <a:rPr lang="en-US" sz="800" b="1" dirty="0">
                <a:solidFill>
                  <a:srgbClr val="173D31"/>
                </a:solidFill>
                <a:latin typeface="Aptos" pitchFamily="34" charset="0"/>
                <a:ea typeface="Aptos" pitchFamily="34" charset="-122"/>
                <a:cs typeface="Aptos" pitchFamily="34" charset="-120"/>
              </a:rPr>
              <a:t>Pricing log</a:t>
            </a:r>
            <a:endParaRPr lang="en-US" sz="800" dirty="0"/>
          </a:p>
        </p:txBody>
      </p:sp>
      <p:sp>
        <p:nvSpPr>
          <p:cNvPr id="18" name="Text 16"/>
          <p:cNvSpPr/>
          <p:nvPr/>
        </p:nvSpPr>
        <p:spPr>
          <a:xfrm>
            <a:off x="2148840" y="2304288"/>
            <a:ext cx="2880360" cy="320040"/>
          </a:xfrm>
          <a:prstGeom prst="rect">
            <a:avLst/>
          </a:prstGeom>
          <a:noFill/>
          <a:ln/>
        </p:spPr>
        <p:txBody>
          <a:bodyPr wrap="square" lIns="0" tIns="0" rIns="0" bIns="0" rtlCol="0" anchor="ctr">
            <a:normAutofit/>
          </a:bodyPr>
          <a:lstStyle/>
          <a:p>
            <a:pPr algn="l" indent="0" marL="0">
              <a:buNone/>
            </a:pPr>
            <a:r>
              <a:rPr lang="en-US" sz="2000" b="1" dirty="0">
                <a:solidFill>
                  <a:srgbClr val="15352C"/>
                </a:solidFill>
                <a:latin typeface="Aptos Display" pitchFamily="34" charset="0"/>
                <a:ea typeface="Aptos Display" pitchFamily="34" charset="-122"/>
                <a:cs typeface="Aptos Display" pitchFamily="34" charset="-120"/>
              </a:rPr>
              <a:t>Pending AI recommendations</a:t>
            </a:r>
            <a:endParaRPr lang="en-US" sz="2000" dirty="0"/>
          </a:p>
        </p:txBody>
      </p:sp>
      <p:sp>
        <p:nvSpPr>
          <p:cNvPr id="19" name="Shape 17"/>
          <p:cNvSpPr/>
          <p:nvPr/>
        </p:nvSpPr>
        <p:spPr>
          <a:xfrm>
            <a:off x="5193792" y="2304288"/>
            <a:ext cx="1389888" cy="292608"/>
          </a:xfrm>
          <a:prstGeom prst="roundRect">
            <a:avLst>
              <a:gd name="adj" fmla="val 50000"/>
            </a:avLst>
          </a:prstGeom>
          <a:solidFill>
            <a:srgbClr val="F2ECFF"/>
          </a:solidFill>
          <a:ln w="12700">
            <a:solidFill>
              <a:srgbClr val="F2ECFF">
                <a:alpha val="0"/>
              </a:srgbClr>
            </a:solidFill>
            <a:prstDash val="solid"/>
          </a:ln>
        </p:spPr>
      </p:sp>
      <p:sp>
        <p:nvSpPr>
          <p:cNvPr id="20" name="Text 18"/>
          <p:cNvSpPr/>
          <p:nvPr/>
        </p:nvSpPr>
        <p:spPr>
          <a:xfrm>
            <a:off x="5266944" y="2304288"/>
            <a:ext cx="1243584" cy="292608"/>
          </a:xfrm>
          <a:prstGeom prst="rect">
            <a:avLst/>
          </a:prstGeom>
          <a:noFill/>
          <a:ln/>
        </p:spPr>
        <p:txBody>
          <a:bodyPr wrap="square" lIns="0" tIns="0" rIns="0" bIns="0" rtlCol="0" anchor="ctr">
            <a:normAutofit/>
          </a:bodyPr>
          <a:lstStyle/>
          <a:p>
            <a:pPr algn="ctr" indent="0" marL="0">
              <a:buNone/>
            </a:pPr>
            <a:r>
              <a:rPr lang="en-US" sz="900" b="1" dirty="0">
                <a:solidFill>
                  <a:srgbClr val="7C3AED"/>
                </a:solidFill>
                <a:latin typeface="Aptos" pitchFamily="34" charset="0"/>
                <a:ea typeface="Aptos" pitchFamily="34" charset="-122"/>
                <a:cs typeface="Aptos" pitchFamily="34" charset="-120"/>
              </a:rPr>
              <a:t>3 AWAITING REVIEW</a:t>
            </a:r>
            <a:endParaRPr lang="en-US" sz="900" dirty="0"/>
          </a:p>
        </p:txBody>
      </p:sp>
      <p:sp>
        <p:nvSpPr>
          <p:cNvPr id="21" name="Shape 19"/>
          <p:cNvSpPr/>
          <p:nvPr/>
        </p:nvSpPr>
        <p:spPr>
          <a:xfrm>
            <a:off x="2121408" y="2907792"/>
            <a:ext cx="4498848" cy="2240280"/>
          </a:xfrm>
          <a:prstGeom prst="roundRect">
            <a:avLst>
              <a:gd name="adj" fmla="val 8163"/>
            </a:avLst>
          </a:prstGeom>
          <a:solidFill>
            <a:srgbClr val="173D31"/>
          </a:solidFill>
          <a:ln w="12700">
            <a:solidFill>
              <a:srgbClr val="173D31">
                <a:alpha val="0"/>
              </a:srgbClr>
            </a:solidFill>
            <a:prstDash val="solid"/>
          </a:ln>
        </p:spPr>
      </p:sp>
      <p:sp>
        <p:nvSpPr>
          <p:cNvPr id="22" name="Text 20"/>
          <p:cNvSpPr/>
          <p:nvPr/>
        </p:nvSpPr>
        <p:spPr>
          <a:xfrm>
            <a:off x="2395728" y="3182112"/>
            <a:ext cx="2286000" cy="210312"/>
          </a:xfrm>
          <a:prstGeom prst="rect">
            <a:avLst/>
          </a:prstGeom>
          <a:noFill/>
          <a:ln/>
        </p:spPr>
        <p:txBody>
          <a:bodyPr wrap="square" lIns="0" tIns="0" rIns="0" bIns="0" rtlCol="0" anchor="ctr">
            <a:normAutofit/>
          </a:bodyPr>
          <a:lstStyle/>
          <a:p>
            <a:pPr algn="l" indent="0" marL="0">
              <a:buNone/>
            </a:pPr>
            <a:r>
              <a:rPr lang="en-US" sz="900" b="1" spc="100" kern="0" dirty="0">
                <a:solidFill>
                  <a:srgbClr val="BEF264"/>
                </a:solidFill>
                <a:latin typeface="Aptos" pitchFamily="34" charset="0"/>
                <a:ea typeface="Aptos" pitchFamily="34" charset="-122"/>
                <a:cs typeface="Aptos" pitchFamily="34" charset="-120"/>
              </a:rPr>
              <a:t>ORGANIC WHOLE MILK</a:t>
            </a:r>
            <a:endParaRPr lang="en-US" sz="900" dirty="0"/>
          </a:p>
        </p:txBody>
      </p:sp>
      <p:sp>
        <p:nvSpPr>
          <p:cNvPr id="23" name="Text 21"/>
          <p:cNvSpPr/>
          <p:nvPr/>
        </p:nvSpPr>
        <p:spPr>
          <a:xfrm>
            <a:off x="5413248" y="3136392"/>
            <a:ext cx="868680" cy="292608"/>
          </a:xfrm>
          <a:prstGeom prst="rect">
            <a:avLst/>
          </a:prstGeom>
          <a:noFill/>
          <a:ln/>
        </p:spPr>
        <p:txBody>
          <a:bodyPr wrap="square" lIns="0" tIns="0" rIns="0" bIns="0" rtlCol="0" anchor="ctr">
            <a:normAutofit/>
          </a:bodyPr>
          <a:lstStyle/>
          <a:p>
            <a:pPr algn="r" indent="0" marL="0">
              <a:buNone/>
            </a:pPr>
            <a:r>
              <a:rPr lang="en-US" sz="1600" b="1" dirty="0">
                <a:solidFill>
                  <a:srgbClr val="BEF264"/>
                </a:solidFill>
                <a:latin typeface="Aptos" pitchFamily="34" charset="0"/>
                <a:ea typeface="Aptos" pitchFamily="34" charset="-122"/>
                <a:cs typeface="Aptos" pitchFamily="34" charset="-120"/>
              </a:rPr>
              <a:t>15% off</a:t>
            </a:r>
            <a:endParaRPr lang="en-US" sz="1600" dirty="0"/>
          </a:p>
        </p:txBody>
      </p:sp>
      <p:sp>
        <p:nvSpPr>
          <p:cNvPr id="24" name="Shape 22"/>
          <p:cNvSpPr/>
          <p:nvPr/>
        </p:nvSpPr>
        <p:spPr>
          <a:xfrm>
            <a:off x="2395728" y="3630168"/>
            <a:ext cx="1170432" cy="960120"/>
          </a:xfrm>
          <a:prstGeom prst="roundRect">
            <a:avLst>
              <a:gd name="adj" fmla="val 17143"/>
            </a:avLst>
          </a:prstGeom>
          <a:solidFill>
            <a:srgbClr val="2B5548"/>
          </a:solidFill>
          <a:ln w="12700">
            <a:solidFill>
              <a:srgbClr val="2B5548">
                <a:alpha val="0"/>
              </a:srgbClr>
            </a:solidFill>
            <a:prstDash val="solid"/>
          </a:ln>
        </p:spPr>
      </p:sp>
      <p:sp>
        <p:nvSpPr>
          <p:cNvPr id="25" name="Text 23"/>
          <p:cNvSpPr/>
          <p:nvPr/>
        </p:nvSpPr>
        <p:spPr>
          <a:xfrm>
            <a:off x="2560320" y="3758184"/>
            <a:ext cx="841248" cy="384048"/>
          </a:xfrm>
          <a:prstGeom prst="rect">
            <a:avLst/>
          </a:prstGeom>
          <a:noFill/>
          <a:ln/>
        </p:spPr>
        <p:txBody>
          <a:bodyPr wrap="square" lIns="0" tIns="0" rIns="0" bIns="0" rtlCol="0" anchor="ctr">
            <a:normAutofit/>
          </a:bodyPr>
          <a:lstStyle/>
          <a:p>
            <a:pPr algn="l" indent="0" marL="0">
              <a:buNone/>
            </a:pPr>
            <a:r>
              <a:rPr lang="en-US" sz="2300" b="1" dirty="0">
                <a:solidFill>
                  <a:srgbClr val="FFFFFF"/>
                </a:solidFill>
                <a:latin typeface="Aptos Display" pitchFamily="34" charset="0"/>
                <a:ea typeface="Aptos Display" pitchFamily="34" charset="-122"/>
                <a:cs typeface="Aptos Display" pitchFamily="34" charset="-120"/>
              </a:rPr>
              <a:t>₹71</a:t>
            </a:r>
            <a:endParaRPr lang="en-US" sz="2300" dirty="0"/>
          </a:p>
        </p:txBody>
      </p:sp>
      <p:sp>
        <p:nvSpPr>
          <p:cNvPr id="26" name="Text 24"/>
          <p:cNvSpPr/>
          <p:nvPr/>
        </p:nvSpPr>
        <p:spPr>
          <a:xfrm>
            <a:off x="2560320" y="4197096"/>
            <a:ext cx="841248" cy="219456"/>
          </a:xfrm>
          <a:prstGeom prst="rect">
            <a:avLst/>
          </a:prstGeom>
          <a:noFill/>
          <a:ln/>
        </p:spPr>
        <p:txBody>
          <a:bodyPr wrap="square" lIns="0" tIns="0" rIns="0" bIns="0" rtlCol="0" anchor="ctr">
            <a:normAutofit/>
          </a:bodyPr>
          <a:lstStyle/>
          <a:p>
            <a:pPr algn="l" indent="0" marL="0">
              <a:buNone/>
            </a:pPr>
            <a:r>
              <a:rPr lang="en-US" sz="900" b="1" dirty="0">
                <a:solidFill>
                  <a:srgbClr val="FFFFFF">
                    <a:alpha val="75000"/>
                  </a:srgbClr>
                </a:solidFill>
                <a:latin typeface="Aptos" pitchFamily="34" charset="0"/>
                <a:ea typeface="Aptos" pitchFamily="34" charset="-122"/>
                <a:cs typeface="Aptos" pitchFamily="34" charset="-120"/>
              </a:rPr>
              <a:t>NEW PRICE</a:t>
            </a:r>
            <a:endParaRPr lang="en-US" sz="900" dirty="0"/>
          </a:p>
        </p:txBody>
      </p:sp>
      <p:sp>
        <p:nvSpPr>
          <p:cNvPr id="27" name="Shape 25"/>
          <p:cNvSpPr/>
          <p:nvPr/>
        </p:nvSpPr>
        <p:spPr>
          <a:xfrm>
            <a:off x="3685032" y="3630168"/>
            <a:ext cx="1170432" cy="960120"/>
          </a:xfrm>
          <a:prstGeom prst="roundRect">
            <a:avLst>
              <a:gd name="adj" fmla="val 17143"/>
            </a:avLst>
          </a:prstGeom>
          <a:solidFill>
            <a:srgbClr val="2B5548"/>
          </a:solidFill>
          <a:ln w="12700">
            <a:solidFill>
              <a:srgbClr val="2B5548">
                <a:alpha val="0"/>
              </a:srgbClr>
            </a:solidFill>
            <a:prstDash val="solid"/>
          </a:ln>
        </p:spPr>
      </p:sp>
      <p:sp>
        <p:nvSpPr>
          <p:cNvPr id="28" name="Text 26"/>
          <p:cNvSpPr/>
          <p:nvPr/>
        </p:nvSpPr>
        <p:spPr>
          <a:xfrm>
            <a:off x="3849624" y="3758184"/>
            <a:ext cx="841248" cy="384048"/>
          </a:xfrm>
          <a:prstGeom prst="rect">
            <a:avLst/>
          </a:prstGeom>
          <a:noFill/>
          <a:ln/>
        </p:spPr>
        <p:txBody>
          <a:bodyPr wrap="square" lIns="0" tIns="0" rIns="0" bIns="0" rtlCol="0" anchor="ctr">
            <a:normAutofit/>
          </a:bodyPr>
          <a:lstStyle/>
          <a:p>
            <a:pPr algn="l" indent="0" marL="0">
              <a:buNone/>
            </a:pPr>
            <a:r>
              <a:rPr lang="en-US" sz="2300" b="1" dirty="0">
                <a:solidFill>
                  <a:srgbClr val="FFFFFF"/>
                </a:solidFill>
                <a:latin typeface="Aptos Display" pitchFamily="34" charset="0"/>
                <a:ea typeface="Aptos Display" pitchFamily="34" charset="-122"/>
                <a:cs typeface="Aptos Display" pitchFamily="34" charset="-120"/>
              </a:rPr>
              <a:t>0–6</a:t>
            </a:r>
            <a:endParaRPr lang="en-US" sz="2300" dirty="0"/>
          </a:p>
        </p:txBody>
      </p:sp>
      <p:sp>
        <p:nvSpPr>
          <p:cNvPr id="29" name="Text 27"/>
          <p:cNvSpPr/>
          <p:nvPr/>
        </p:nvSpPr>
        <p:spPr>
          <a:xfrm>
            <a:off x="3849624" y="4197096"/>
            <a:ext cx="841248" cy="219456"/>
          </a:xfrm>
          <a:prstGeom prst="rect">
            <a:avLst/>
          </a:prstGeom>
          <a:noFill/>
          <a:ln/>
        </p:spPr>
        <p:txBody>
          <a:bodyPr wrap="square" lIns="0" tIns="0" rIns="0" bIns="0" rtlCol="0" anchor="ctr">
            <a:normAutofit/>
          </a:bodyPr>
          <a:lstStyle/>
          <a:p>
            <a:pPr algn="l" indent="0" marL="0">
              <a:buNone/>
            </a:pPr>
            <a:r>
              <a:rPr lang="en-US" sz="900" b="1" dirty="0">
                <a:solidFill>
                  <a:srgbClr val="FFFFFF">
                    <a:alpha val="75000"/>
                  </a:srgbClr>
                </a:solidFill>
                <a:latin typeface="Aptos" pitchFamily="34" charset="0"/>
                <a:ea typeface="Aptos" pitchFamily="34" charset="-122"/>
                <a:cs typeface="Aptos" pitchFamily="34" charset="-120"/>
              </a:rPr>
              <a:t>PREDICTED</a:t>
            </a:r>
            <a:endParaRPr lang="en-US" sz="900" dirty="0"/>
          </a:p>
        </p:txBody>
      </p:sp>
      <p:sp>
        <p:nvSpPr>
          <p:cNvPr id="30" name="Shape 28"/>
          <p:cNvSpPr/>
          <p:nvPr/>
        </p:nvSpPr>
        <p:spPr>
          <a:xfrm>
            <a:off x="4974336" y="3630168"/>
            <a:ext cx="1170432" cy="960120"/>
          </a:xfrm>
          <a:prstGeom prst="roundRect">
            <a:avLst>
              <a:gd name="adj" fmla="val 17143"/>
            </a:avLst>
          </a:prstGeom>
          <a:solidFill>
            <a:srgbClr val="2B5548"/>
          </a:solidFill>
          <a:ln w="12700">
            <a:solidFill>
              <a:srgbClr val="2B5548">
                <a:alpha val="0"/>
              </a:srgbClr>
            </a:solidFill>
            <a:prstDash val="solid"/>
          </a:ln>
        </p:spPr>
      </p:sp>
      <p:sp>
        <p:nvSpPr>
          <p:cNvPr id="31" name="Text 29"/>
          <p:cNvSpPr/>
          <p:nvPr/>
        </p:nvSpPr>
        <p:spPr>
          <a:xfrm>
            <a:off x="5138928" y="3758184"/>
            <a:ext cx="841248" cy="384048"/>
          </a:xfrm>
          <a:prstGeom prst="rect">
            <a:avLst/>
          </a:prstGeom>
          <a:noFill/>
          <a:ln/>
        </p:spPr>
        <p:txBody>
          <a:bodyPr wrap="square" lIns="0" tIns="0" rIns="0" bIns="0" rtlCol="0" anchor="ctr">
            <a:normAutofit/>
          </a:bodyPr>
          <a:lstStyle/>
          <a:p>
            <a:pPr algn="l" indent="0" marL="0">
              <a:buNone/>
            </a:pPr>
            <a:r>
              <a:rPr lang="en-US" sz="2300" b="1" dirty="0">
                <a:solidFill>
                  <a:srgbClr val="FFFFFF"/>
                </a:solidFill>
                <a:latin typeface="Aptos Display" pitchFamily="34" charset="0"/>
                <a:ea typeface="Aptos Display" pitchFamily="34" charset="-122"/>
                <a:cs typeface="Aptos Display" pitchFamily="34" charset="-120"/>
              </a:rPr>
              <a:t>₹37</a:t>
            </a:r>
            <a:endParaRPr lang="en-US" sz="2300" dirty="0"/>
          </a:p>
        </p:txBody>
      </p:sp>
      <p:sp>
        <p:nvSpPr>
          <p:cNvPr id="32" name="Text 30"/>
          <p:cNvSpPr/>
          <p:nvPr/>
        </p:nvSpPr>
        <p:spPr>
          <a:xfrm>
            <a:off x="5138928" y="4197096"/>
            <a:ext cx="841248" cy="219456"/>
          </a:xfrm>
          <a:prstGeom prst="rect">
            <a:avLst/>
          </a:prstGeom>
          <a:noFill/>
          <a:ln/>
        </p:spPr>
        <p:txBody>
          <a:bodyPr wrap="square" lIns="0" tIns="0" rIns="0" bIns="0" rtlCol="0" anchor="ctr">
            <a:normAutofit/>
          </a:bodyPr>
          <a:lstStyle/>
          <a:p>
            <a:pPr algn="l" indent="0" marL="0">
              <a:buNone/>
            </a:pPr>
            <a:r>
              <a:rPr lang="en-US" sz="900" b="1" dirty="0">
                <a:solidFill>
                  <a:srgbClr val="FFFFFF">
                    <a:alpha val="75000"/>
                  </a:srgbClr>
                </a:solidFill>
                <a:latin typeface="Aptos" pitchFamily="34" charset="0"/>
                <a:ea typeface="Aptos" pitchFamily="34" charset="-122"/>
                <a:cs typeface="Aptos" pitchFamily="34" charset="-120"/>
              </a:rPr>
              <a:t>MARGIN</a:t>
            </a:r>
            <a:endParaRPr lang="en-US" sz="900" dirty="0"/>
          </a:p>
        </p:txBody>
      </p:sp>
      <p:sp>
        <p:nvSpPr>
          <p:cNvPr id="33" name="Shape 31"/>
          <p:cNvSpPr/>
          <p:nvPr/>
        </p:nvSpPr>
        <p:spPr>
          <a:xfrm>
            <a:off x="2395728" y="4773168"/>
            <a:ext cx="804672" cy="292608"/>
          </a:xfrm>
          <a:prstGeom prst="roundRect">
            <a:avLst>
              <a:gd name="adj" fmla="val 50000"/>
            </a:avLst>
          </a:prstGeom>
          <a:solidFill>
            <a:srgbClr val="7C3AED"/>
          </a:solidFill>
          <a:ln w="12700">
            <a:solidFill>
              <a:srgbClr val="7C3AED">
                <a:alpha val="0"/>
              </a:srgbClr>
            </a:solidFill>
            <a:prstDash val="solid"/>
          </a:ln>
        </p:spPr>
      </p:sp>
      <p:sp>
        <p:nvSpPr>
          <p:cNvPr id="34" name="Text 32"/>
          <p:cNvSpPr/>
          <p:nvPr/>
        </p:nvSpPr>
        <p:spPr>
          <a:xfrm>
            <a:off x="2468880" y="4773168"/>
            <a:ext cx="658368" cy="292608"/>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XGBOOST</a:t>
            </a:r>
            <a:endParaRPr lang="en-US" sz="900" dirty="0"/>
          </a:p>
        </p:txBody>
      </p:sp>
      <p:sp>
        <p:nvSpPr>
          <p:cNvPr id="35" name="Shape 33"/>
          <p:cNvSpPr/>
          <p:nvPr/>
        </p:nvSpPr>
        <p:spPr>
          <a:xfrm>
            <a:off x="4599432" y="4773168"/>
            <a:ext cx="1554480" cy="292608"/>
          </a:xfrm>
          <a:prstGeom prst="roundRect">
            <a:avLst>
              <a:gd name="adj" fmla="val 50000"/>
            </a:avLst>
          </a:prstGeom>
          <a:solidFill>
            <a:srgbClr val="BEF264"/>
          </a:solidFill>
          <a:ln w="12700">
            <a:solidFill>
              <a:srgbClr val="BEF264">
                <a:alpha val="0"/>
              </a:srgbClr>
            </a:solidFill>
            <a:prstDash val="solid"/>
          </a:ln>
        </p:spPr>
      </p:sp>
      <p:sp>
        <p:nvSpPr>
          <p:cNvPr id="36" name="Text 34"/>
          <p:cNvSpPr/>
          <p:nvPr/>
        </p:nvSpPr>
        <p:spPr>
          <a:xfrm>
            <a:off x="4672584" y="4773168"/>
            <a:ext cx="1408176" cy="292608"/>
          </a:xfrm>
          <a:prstGeom prst="rect">
            <a:avLst/>
          </a:prstGeom>
          <a:noFill/>
          <a:ln/>
        </p:spPr>
        <p:txBody>
          <a:bodyPr wrap="square" lIns="0" tIns="0" rIns="0" bIns="0" rtlCol="0" anchor="ctr">
            <a:normAutofit/>
          </a:bodyPr>
          <a:lstStyle/>
          <a:p>
            <a:pPr algn="ctr" indent="0" marL="0">
              <a:buNone/>
            </a:pPr>
            <a:r>
              <a:rPr lang="en-US" sz="900" b="1" dirty="0">
                <a:solidFill>
                  <a:srgbClr val="173D31"/>
                </a:solidFill>
                <a:latin typeface="Aptos" pitchFamily="34" charset="0"/>
                <a:ea typeface="Aptos" pitchFamily="34" charset="-122"/>
                <a:cs typeface="Aptos" pitchFamily="34" charset="-120"/>
              </a:rPr>
              <a:t>OWNER APPROVAL</a:t>
            </a:r>
            <a:endParaRPr lang="en-US" sz="900" dirty="0"/>
          </a:p>
        </p:txBody>
      </p:sp>
      <p:sp>
        <p:nvSpPr>
          <p:cNvPr id="37" name="Shape 35"/>
          <p:cNvSpPr/>
          <p:nvPr/>
        </p:nvSpPr>
        <p:spPr>
          <a:xfrm>
            <a:off x="7315200" y="1975104"/>
            <a:ext cx="4315968" cy="3913632"/>
          </a:xfrm>
          <a:prstGeom prst="roundRect">
            <a:avLst>
              <a:gd name="adj" fmla="val 6075"/>
            </a:avLst>
          </a:prstGeom>
          <a:solidFill>
            <a:srgbClr val="FFFFFF"/>
          </a:solidFill>
          <a:ln w="12700">
            <a:solidFill>
              <a:srgbClr val="D9E3DD"/>
            </a:solidFill>
            <a:prstDash val="solid"/>
          </a:ln>
          <a:effectLst>
            <a:outerShdw sx="100000" sy="100000" kx="0" ky="0" algn="bl" rotWithShape="0" blurRad="1.3535046848203775e+33" dist="2.707009369640755e+33" dir="7.558272e+39">
              <a:srgbClr val="0A241C">
                <a:alpha val="1.3e+39"/>
              </a:srgbClr>
            </a:outerShdw>
          </a:effectLst>
        </p:spPr>
      </p:sp>
      <p:sp>
        <p:nvSpPr>
          <p:cNvPr id="38" name="Text 36"/>
          <p:cNvSpPr/>
          <p:nvPr/>
        </p:nvSpPr>
        <p:spPr>
          <a:xfrm>
            <a:off x="7635240" y="2286000"/>
            <a:ext cx="2651760" cy="228600"/>
          </a:xfrm>
          <a:prstGeom prst="rect">
            <a:avLst/>
          </a:prstGeom>
          <a:noFill/>
          <a:ln/>
        </p:spPr>
        <p:txBody>
          <a:bodyPr wrap="square" lIns="0" tIns="0" rIns="0" bIns="0" rtlCol="0" anchor="ctr">
            <a:normAutofit/>
          </a:bodyPr>
          <a:lstStyle/>
          <a:p>
            <a:pPr algn="l" indent="0" marL="0">
              <a:buNone/>
            </a:pPr>
            <a:r>
              <a:rPr lang="en-US" sz="900" b="1" spc="130" kern="0" dirty="0">
                <a:solidFill>
                  <a:srgbClr val="10B981"/>
                </a:solidFill>
                <a:latin typeface="Aptos" pitchFamily="34" charset="0"/>
                <a:ea typeface="Aptos" pitchFamily="34" charset="-122"/>
                <a:cs typeface="Aptos" pitchFamily="34" charset="-120"/>
              </a:rPr>
              <a:t>CUSTOMER MARKETPLACE</a:t>
            </a:r>
            <a:endParaRPr lang="en-US" sz="900" dirty="0"/>
          </a:p>
        </p:txBody>
      </p:sp>
      <p:sp>
        <p:nvSpPr>
          <p:cNvPr id="39" name="Text 37"/>
          <p:cNvSpPr/>
          <p:nvPr/>
        </p:nvSpPr>
        <p:spPr>
          <a:xfrm>
            <a:off x="7635240" y="2651760"/>
            <a:ext cx="3337560" cy="365760"/>
          </a:xfrm>
          <a:prstGeom prst="rect">
            <a:avLst/>
          </a:prstGeom>
          <a:noFill/>
          <a:ln/>
        </p:spPr>
        <p:txBody>
          <a:bodyPr wrap="square" lIns="0" tIns="0" rIns="0" bIns="0" rtlCol="0" anchor="ctr">
            <a:normAutofit/>
          </a:bodyPr>
          <a:lstStyle/>
          <a:p>
            <a:pPr algn="l" indent="0" marL="0">
              <a:buNone/>
            </a:pPr>
            <a:r>
              <a:rPr lang="en-US" sz="2100" b="1" dirty="0">
                <a:solidFill>
                  <a:srgbClr val="15352C"/>
                </a:solidFill>
                <a:latin typeface="Aptos Display" pitchFamily="34" charset="0"/>
                <a:ea typeface="Aptos Display" pitchFamily="34" charset="-122"/>
                <a:cs typeface="Aptos Display" pitchFamily="34" charset="-120"/>
              </a:rPr>
              <a:t>Food worth saving today</a:t>
            </a:r>
            <a:endParaRPr lang="en-US" sz="2100" dirty="0"/>
          </a:p>
        </p:txBody>
      </p:sp>
      <p:sp>
        <p:nvSpPr>
          <p:cNvPr id="40" name="Shape 38"/>
          <p:cNvSpPr/>
          <p:nvPr/>
        </p:nvSpPr>
        <p:spPr>
          <a:xfrm>
            <a:off x="7635240" y="3273552"/>
            <a:ext cx="1536192" cy="1783080"/>
          </a:xfrm>
          <a:prstGeom prst="roundRect">
            <a:avLst>
              <a:gd name="adj" fmla="val 11905"/>
            </a:avLst>
          </a:prstGeom>
          <a:solidFill>
            <a:srgbClr val="DDF7E8"/>
          </a:solidFill>
          <a:ln w="12700">
            <a:solidFill>
              <a:srgbClr val="DDF7E8">
                <a:alpha val="0"/>
              </a:srgbClr>
            </a:solidFill>
            <a:prstDash val="solid"/>
          </a:ln>
        </p:spPr>
      </p:sp>
      <p:sp>
        <p:nvSpPr>
          <p:cNvPr id="41" name="Shape 39"/>
          <p:cNvSpPr/>
          <p:nvPr/>
        </p:nvSpPr>
        <p:spPr>
          <a:xfrm>
            <a:off x="8156448" y="3456432"/>
            <a:ext cx="493776" cy="493776"/>
          </a:xfrm>
          <a:prstGeom prst="ellipse">
            <a:avLst/>
          </a:prstGeom>
          <a:solidFill>
            <a:srgbClr val="FFFFFF"/>
          </a:solidFill>
          <a:ln w="12700">
            <a:solidFill>
              <a:srgbClr val="FFFFFF"/>
            </a:solidFill>
            <a:prstDash val="solid"/>
          </a:ln>
        </p:spPr>
      </p:sp>
      <p:sp>
        <p:nvSpPr>
          <p:cNvPr id="42" name="Text 40"/>
          <p:cNvSpPr/>
          <p:nvPr/>
        </p:nvSpPr>
        <p:spPr>
          <a:xfrm>
            <a:off x="8156448" y="3456432"/>
            <a:ext cx="493776" cy="493776"/>
          </a:xfrm>
          <a:prstGeom prst="rect">
            <a:avLst/>
          </a:prstGeom>
          <a:noFill/>
          <a:ln/>
        </p:spPr>
        <p:txBody>
          <a:bodyPr wrap="square" lIns="0" tIns="0" rIns="0" bIns="0" rtlCol="0" anchor="ctr">
            <a:normAutofit/>
          </a:bodyPr>
          <a:lstStyle/>
          <a:p>
            <a:pPr algn="ctr" indent="0" marL="0">
              <a:buNone/>
            </a:pPr>
            <a:r>
              <a:rPr lang="en-US" sz="1600" b="1" dirty="0">
                <a:solidFill>
                  <a:srgbClr val="173D31"/>
                </a:solidFill>
                <a:latin typeface="Aptos" pitchFamily="34" charset="0"/>
                <a:ea typeface="Aptos" pitchFamily="34" charset="-122"/>
                <a:cs typeface="Aptos" pitchFamily="34" charset="-120"/>
              </a:rPr>
              <a:t>M</a:t>
            </a:r>
            <a:endParaRPr lang="en-US" sz="1600" dirty="0"/>
          </a:p>
        </p:txBody>
      </p:sp>
      <p:sp>
        <p:nvSpPr>
          <p:cNvPr id="43" name="Text 41"/>
          <p:cNvSpPr/>
          <p:nvPr/>
        </p:nvSpPr>
        <p:spPr>
          <a:xfrm>
            <a:off x="7799832" y="4114800"/>
            <a:ext cx="1207008" cy="201168"/>
          </a:xfrm>
          <a:prstGeom prst="rect">
            <a:avLst/>
          </a:prstGeom>
          <a:noFill/>
          <a:ln/>
        </p:spPr>
        <p:txBody>
          <a:bodyPr wrap="square" lIns="0" tIns="0" rIns="0" bIns="0" rtlCol="0" anchor="ctr">
            <a:normAutofit/>
          </a:bodyPr>
          <a:lstStyle/>
          <a:p>
            <a:pPr algn="ctr" indent="0" marL="0">
              <a:buNone/>
            </a:pPr>
            <a:r>
              <a:rPr lang="en-US" sz="800" b="1" dirty="0">
                <a:solidFill>
                  <a:srgbClr val="10B981"/>
                </a:solidFill>
                <a:latin typeface="Aptos" pitchFamily="34" charset="0"/>
                <a:ea typeface="Aptos" pitchFamily="34" charset="-122"/>
                <a:cs typeface="Aptos" pitchFamily="34" charset="-120"/>
              </a:rPr>
              <a:t>15% OFF</a:t>
            </a:r>
            <a:endParaRPr lang="en-US" sz="800" dirty="0"/>
          </a:p>
        </p:txBody>
      </p:sp>
      <p:sp>
        <p:nvSpPr>
          <p:cNvPr id="44" name="Text 42"/>
          <p:cNvSpPr/>
          <p:nvPr/>
        </p:nvSpPr>
        <p:spPr>
          <a:xfrm>
            <a:off x="7799832" y="4416552"/>
            <a:ext cx="1207008" cy="201168"/>
          </a:xfrm>
          <a:prstGeom prst="rect">
            <a:avLst/>
          </a:prstGeom>
          <a:noFill/>
          <a:ln/>
        </p:spPr>
        <p:txBody>
          <a:bodyPr wrap="square" lIns="0" tIns="0" rIns="0" bIns="0" rtlCol="0" anchor="ctr">
            <a:normAutofit/>
          </a:bodyPr>
          <a:lstStyle/>
          <a:p>
            <a:pPr algn="ctr" indent="0" marL="0">
              <a:buNone/>
            </a:pPr>
            <a:r>
              <a:rPr lang="en-US" sz="1100" b="1" dirty="0">
                <a:solidFill>
                  <a:srgbClr val="15352C"/>
                </a:solidFill>
                <a:latin typeface="Aptos" pitchFamily="34" charset="0"/>
                <a:ea typeface="Aptos" pitchFamily="34" charset="-122"/>
                <a:cs typeface="Aptos" pitchFamily="34" charset="-120"/>
              </a:rPr>
              <a:t>Milk</a:t>
            </a:r>
            <a:endParaRPr lang="en-US" sz="1100" dirty="0"/>
          </a:p>
        </p:txBody>
      </p:sp>
      <p:sp>
        <p:nvSpPr>
          <p:cNvPr id="45" name="Text 43"/>
          <p:cNvSpPr/>
          <p:nvPr/>
        </p:nvSpPr>
        <p:spPr>
          <a:xfrm>
            <a:off x="7799832" y="4700016"/>
            <a:ext cx="1207008" cy="228600"/>
          </a:xfrm>
          <a:prstGeom prst="rect">
            <a:avLst/>
          </a:prstGeom>
          <a:noFill/>
          <a:ln/>
        </p:spPr>
        <p:txBody>
          <a:bodyPr wrap="square" lIns="0" tIns="0" rIns="0" bIns="0" rtlCol="0" anchor="ctr">
            <a:normAutofit/>
          </a:bodyPr>
          <a:lstStyle/>
          <a:p>
            <a:pPr algn="ctr" indent="0" marL="0">
              <a:buNone/>
            </a:pPr>
            <a:r>
              <a:rPr lang="en-US" sz="1500" b="1" dirty="0">
                <a:solidFill>
                  <a:srgbClr val="173D31"/>
                </a:solidFill>
                <a:latin typeface="Aptos" pitchFamily="34" charset="0"/>
                <a:ea typeface="Aptos" pitchFamily="34" charset="-122"/>
                <a:cs typeface="Aptos" pitchFamily="34" charset="-120"/>
              </a:rPr>
              <a:t>₹71</a:t>
            </a:r>
            <a:endParaRPr lang="en-US" sz="1500" dirty="0"/>
          </a:p>
        </p:txBody>
      </p:sp>
      <p:sp>
        <p:nvSpPr>
          <p:cNvPr id="46" name="Shape 44"/>
          <p:cNvSpPr/>
          <p:nvPr/>
        </p:nvSpPr>
        <p:spPr>
          <a:xfrm>
            <a:off x="9390888" y="3273552"/>
            <a:ext cx="1536192" cy="1783080"/>
          </a:xfrm>
          <a:prstGeom prst="roundRect">
            <a:avLst>
              <a:gd name="adj" fmla="val 11905"/>
            </a:avLst>
          </a:prstGeom>
          <a:solidFill>
            <a:srgbClr val="FFF0E7"/>
          </a:solidFill>
          <a:ln w="12700">
            <a:solidFill>
              <a:srgbClr val="FFF0E7">
                <a:alpha val="0"/>
              </a:srgbClr>
            </a:solidFill>
            <a:prstDash val="solid"/>
          </a:ln>
        </p:spPr>
      </p:sp>
      <p:sp>
        <p:nvSpPr>
          <p:cNvPr id="47" name="Shape 45"/>
          <p:cNvSpPr/>
          <p:nvPr/>
        </p:nvSpPr>
        <p:spPr>
          <a:xfrm>
            <a:off x="9912096" y="3456432"/>
            <a:ext cx="493776" cy="493776"/>
          </a:xfrm>
          <a:prstGeom prst="ellipse">
            <a:avLst/>
          </a:prstGeom>
          <a:solidFill>
            <a:srgbClr val="FFFFFF"/>
          </a:solidFill>
          <a:ln w="12700">
            <a:solidFill>
              <a:srgbClr val="FFFFFF"/>
            </a:solidFill>
            <a:prstDash val="solid"/>
          </a:ln>
        </p:spPr>
      </p:sp>
      <p:sp>
        <p:nvSpPr>
          <p:cNvPr id="48" name="Text 46"/>
          <p:cNvSpPr/>
          <p:nvPr/>
        </p:nvSpPr>
        <p:spPr>
          <a:xfrm>
            <a:off x="9912096" y="3456432"/>
            <a:ext cx="493776" cy="493776"/>
          </a:xfrm>
          <a:prstGeom prst="rect">
            <a:avLst/>
          </a:prstGeom>
          <a:noFill/>
          <a:ln/>
        </p:spPr>
        <p:txBody>
          <a:bodyPr wrap="square" lIns="0" tIns="0" rIns="0" bIns="0" rtlCol="0" anchor="ctr">
            <a:normAutofit/>
          </a:bodyPr>
          <a:lstStyle/>
          <a:p>
            <a:pPr algn="ctr" indent="0" marL="0">
              <a:buNone/>
            </a:pPr>
            <a:r>
              <a:rPr lang="en-US" sz="1600" b="1" dirty="0">
                <a:solidFill>
                  <a:srgbClr val="173D31"/>
                </a:solidFill>
                <a:latin typeface="Aptos" pitchFamily="34" charset="0"/>
                <a:ea typeface="Aptos" pitchFamily="34" charset="-122"/>
                <a:cs typeface="Aptos" pitchFamily="34" charset="-120"/>
              </a:rPr>
              <a:t>S</a:t>
            </a:r>
            <a:endParaRPr lang="en-US" sz="1600" dirty="0"/>
          </a:p>
        </p:txBody>
      </p:sp>
      <p:sp>
        <p:nvSpPr>
          <p:cNvPr id="49" name="Text 47"/>
          <p:cNvSpPr/>
          <p:nvPr/>
        </p:nvSpPr>
        <p:spPr>
          <a:xfrm>
            <a:off x="9555480" y="4114800"/>
            <a:ext cx="1207008" cy="201168"/>
          </a:xfrm>
          <a:prstGeom prst="rect">
            <a:avLst/>
          </a:prstGeom>
          <a:noFill/>
          <a:ln/>
        </p:spPr>
        <p:txBody>
          <a:bodyPr wrap="square" lIns="0" tIns="0" rIns="0" bIns="0" rtlCol="0" anchor="ctr">
            <a:normAutofit/>
          </a:bodyPr>
          <a:lstStyle/>
          <a:p>
            <a:pPr algn="ctr" indent="0" marL="0">
              <a:buNone/>
            </a:pPr>
            <a:r>
              <a:rPr lang="en-US" sz="800" b="1" dirty="0">
                <a:solidFill>
                  <a:srgbClr val="F97316"/>
                </a:solidFill>
                <a:latin typeface="Aptos" pitchFamily="34" charset="0"/>
                <a:ea typeface="Aptos" pitchFamily="34" charset="-122"/>
                <a:cs typeface="Aptos" pitchFamily="34" charset="-120"/>
              </a:rPr>
              <a:t>25% OFF</a:t>
            </a:r>
            <a:endParaRPr lang="en-US" sz="800" dirty="0"/>
          </a:p>
        </p:txBody>
      </p:sp>
      <p:sp>
        <p:nvSpPr>
          <p:cNvPr id="50" name="Text 48"/>
          <p:cNvSpPr/>
          <p:nvPr/>
        </p:nvSpPr>
        <p:spPr>
          <a:xfrm>
            <a:off x="9555480" y="4416552"/>
            <a:ext cx="1207008" cy="201168"/>
          </a:xfrm>
          <a:prstGeom prst="rect">
            <a:avLst/>
          </a:prstGeom>
          <a:noFill/>
          <a:ln/>
        </p:spPr>
        <p:txBody>
          <a:bodyPr wrap="square" lIns="0" tIns="0" rIns="0" bIns="0" rtlCol="0" anchor="ctr">
            <a:normAutofit/>
          </a:bodyPr>
          <a:lstStyle/>
          <a:p>
            <a:pPr algn="ctr" indent="0" marL="0">
              <a:buNone/>
            </a:pPr>
            <a:r>
              <a:rPr lang="en-US" sz="1100" b="1" dirty="0">
                <a:solidFill>
                  <a:srgbClr val="15352C"/>
                </a:solidFill>
                <a:latin typeface="Aptos" pitchFamily="34" charset="0"/>
                <a:ea typeface="Aptos" pitchFamily="34" charset="-122"/>
                <a:cs typeface="Aptos" pitchFamily="34" charset="-120"/>
              </a:rPr>
              <a:t>Spinach</a:t>
            </a:r>
            <a:endParaRPr lang="en-US" sz="1100" dirty="0"/>
          </a:p>
        </p:txBody>
      </p:sp>
      <p:sp>
        <p:nvSpPr>
          <p:cNvPr id="51" name="Text 49"/>
          <p:cNvSpPr/>
          <p:nvPr/>
        </p:nvSpPr>
        <p:spPr>
          <a:xfrm>
            <a:off x="9555480" y="4700016"/>
            <a:ext cx="1207008" cy="228600"/>
          </a:xfrm>
          <a:prstGeom prst="rect">
            <a:avLst/>
          </a:prstGeom>
          <a:noFill/>
          <a:ln/>
        </p:spPr>
        <p:txBody>
          <a:bodyPr wrap="square" lIns="0" tIns="0" rIns="0" bIns="0" rtlCol="0" anchor="ctr">
            <a:normAutofit/>
          </a:bodyPr>
          <a:lstStyle/>
          <a:p>
            <a:pPr algn="ctr" indent="0" marL="0">
              <a:buNone/>
            </a:pPr>
            <a:r>
              <a:rPr lang="en-US" sz="1500" b="1" dirty="0">
                <a:solidFill>
                  <a:srgbClr val="173D31"/>
                </a:solidFill>
                <a:latin typeface="Aptos" pitchFamily="34" charset="0"/>
                <a:ea typeface="Aptos" pitchFamily="34" charset="-122"/>
                <a:cs typeface="Aptos" pitchFamily="34" charset="-120"/>
              </a:rPr>
              <a:t>₹53</a:t>
            </a:r>
            <a:endParaRPr lang="en-US" sz="1500" dirty="0"/>
          </a:p>
        </p:txBody>
      </p:sp>
      <p:sp>
        <p:nvSpPr>
          <p:cNvPr id="52" name="Shape 50"/>
          <p:cNvSpPr/>
          <p:nvPr/>
        </p:nvSpPr>
        <p:spPr>
          <a:xfrm>
            <a:off x="7635240" y="5285232"/>
            <a:ext cx="3291840" cy="329184"/>
          </a:xfrm>
          <a:prstGeom prst="roundRect">
            <a:avLst>
              <a:gd name="adj" fmla="val 33333"/>
            </a:avLst>
          </a:prstGeom>
          <a:solidFill>
            <a:srgbClr val="10B981"/>
          </a:solidFill>
          <a:ln w="12700">
            <a:solidFill>
              <a:srgbClr val="10B981">
                <a:alpha val="0"/>
              </a:srgbClr>
            </a:solidFill>
            <a:prstDash val="solid"/>
          </a:ln>
        </p:spPr>
      </p:sp>
      <p:sp>
        <p:nvSpPr>
          <p:cNvPr id="53" name="Text 51"/>
          <p:cNvSpPr/>
          <p:nvPr/>
        </p:nvSpPr>
        <p:spPr>
          <a:xfrm>
            <a:off x="7790688" y="5285232"/>
            <a:ext cx="2971800" cy="329184"/>
          </a:xfrm>
          <a:prstGeom prst="rect">
            <a:avLst/>
          </a:prstGeom>
          <a:noFill/>
          <a:ln/>
        </p:spPr>
        <p:txBody>
          <a:bodyPr wrap="square" lIns="0" tIns="0" rIns="0" bIns="0" rtlCol="0" anchor="ctr">
            <a:normAutofit/>
          </a:bodyPr>
          <a:lstStyle/>
          <a:p>
            <a:pPr algn="ctr" indent="0" marL="0">
              <a:buNone/>
            </a:pPr>
            <a:r>
              <a:rPr lang="en-US" sz="900" b="1" spc="80" kern="0" dirty="0">
                <a:solidFill>
                  <a:srgbClr val="FFFFFF"/>
                </a:solidFill>
                <a:latin typeface="Aptos" pitchFamily="34" charset="0"/>
                <a:ea typeface="Aptos" pitchFamily="34" charset="-122"/>
                <a:cs typeface="Aptos" pitchFamily="34" charset="-120"/>
              </a:rPr>
              <a:t>RESERVE FOR LOCAL PICKUP</a:t>
            </a:r>
            <a:endParaRPr lang="en-US" sz="900" dirty="0"/>
          </a:p>
        </p:txBody>
      </p:sp>
      <p:sp>
        <p:nvSpPr>
          <p:cNvPr id="54" name="Shape 52"/>
          <p:cNvSpPr/>
          <p:nvPr/>
        </p:nvSpPr>
        <p:spPr>
          <a:xfrm>
            <a:off x="502920" y="6419088"/>
            <a:ext cx="10744200" cy="0"/>
          </a:xfrm>
          <a:prstGeom prst="line">
            <a:avLst/>
          </a:prstGeom>
          <a:noFill/>
          <a:ln w="10160">
            <a:solidFill>
              <a:srgbClr val="D9E3DD"/>
            </a:solidFill>
            <a:prstDash val="solid"/>
          </a:ln>
        </p:spPr>
      </p:sp>
      <p:sp>
        <p:nvSpPr>
          <p:cNvPr id="55" name="Text 53"/>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10B981"/>
                </a:solidFill>
                <a:latin typeface="Aptos" pitchFamily="34" charset="0"/>
                <a:ea typeface="Aptos" pitchFamily="34" charset="-122"/>
                <a:cs typeface="Aptos" pitchFamily="34" charset="-120"/>
              </a:rPr>
              <a:t>FRESHSAVER</a:t>
            </a:r>
            <a:endParaRPr lang="en-US" sz="750" dirty="0"/>
          </a:p>
        </p:txBody>
      </p:sp>
      <p:sp>
        <p:nvSpPr>
          <p:cNvPr id="56" name="Text 54"/>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82938D"/>
                </a:solidFill>
                <a:latin typeface="Aptos" pitchFamily="34" charset="0"/>
                <a:ea typeface="Aptos" pitchFamily="34" charset="-122"/>
                <a:cs typeface="Aptos" pitchFamily="34" charset="-120"/>
              </a:rPr>
              <a:t>User experience &amp; design</a:t>
            </a:r>
            <a:endParaRPr lang="en-US" sz="750" dirty="0"/>
          </a:p>
        </p:txBody>
      </p:sp>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82938D"/>
                </a:solidFill>
                <a:latin typeface="Aptos"/>
                <a:ea typeface="Aptos"/>
                <a:cs typeface="Apto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BEF264"/>
                </a:solidFill>
                <a:latin typeface="Aptos" pitchFamily="34" charset="0"/>
                <a:ea typeface="Aptos" pitchFamily="34" charset="-122"/>
                <a:cs typeface="Aptos" pitchFamily="34" charset="-120"/>
              </a:rPr>
              <a:t>HYBRID AI ARCHITECTURE</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FFFFFF"/>
                </a:solidFill>
                <a:latin typeface="Aptos Display" pitchFamily="34" charset="0"/>
                <a:ea typeface="Aptos Display" pitchFamily="34" charset="-122"/>
                <a:cs typeface="Aptos Display" pitchFamily="34" charset="-120"/>
              </a:rPr>
              <a:t>Use AI for uncertainty. Use policy for control.</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B9CBC4"/>
                </a:solidFill>
                <a:latin typeface="Aptos" pitchFamily="34" charset="0"/>
                <a:ea typeface="Aptos" pitchFamily="34" charset="-122"/>
                <a:cs typeface="Aptos" pitchFamily="34" charset="-120"/>
              </a:rPr>
              <a:t>Prediction, optimization, generation, and human review are intentionally separated.</a:t>
            </a:r>
            <a:endParaRPr lang="en-US" sz="1250" dirty="0"/>
          </a:p>
        </p:txBody>
      </p:sp>
      <p:sp>
        <p:nvSpPr>
          <p:cNvPr id="5" name="Shape 3"/>
          <p:cNvSpPr/>
          <p:nvPr/>
        </p:nvSpPr>
        <p:spPr>
          <a:xfrm>
            <a:off x="621792" y="2194560"/>
            <a:ext cx="2359152" cy="2606040"/>
          </a:xfrm>
          <a:prstGeom prst="roundRect">
            <a:avLst>
              <a:gd name="adj" fmla="val 9302"/>
            </a:avLst>
          </a:prstGeom>
          <a:solidFill>
            <a:srgbClr val="281E43"/>
          </a:solidFill>
          <a:ln w="12700">
            <a:solidFill>
              <a:srgbClr val="45685D"/>
            </a:solidFill>
            <a:prstDash val="solid"/>
          </a:ln>
        </p:spPr>
      </p:sp>
      <p:sp>
        <p:nvSpPr>
          <p:cNvPr id="6" name="Shape 4"/>
          <p:cNvSpPr/>
          <p:nvPr/>
        </p:nvSpPr>
        <p:spPr>
          <a:xfrm>
            <a:off x="841248" y="2468880"/>
            <a:ext cx="438912" cy="438912"/>
          </a:xfrm>
          <a:prstGeom prst="ellipse">
            <a:avLst/>
          </a:prstGeom>
          <a:solidFill>
            <a:srgbClr val="7C3AED"/>
          </a:solidFill>
          <a:ln w="12700">
            <a:solidFill>
              <a:srgbClr val="7C3AED"/>
            </a:solidFill>
            <a:prstDash val="solid"/>
          </a:ln>
        </p:spPr>
      </p:sp>
      <p:sp>
        <p:nvSpPr>
          <p:cNvPr id="7" name="Text 5"/>
          <p:cNvSpPr/>
          <p:nvPr/>
        </p:nvSpPr>
        <p:spPr>
          <a:xfrm>
            <a:off x="841248" y="2468880"/>
            <a:ext cx="438912" cy="438912"/>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8" name="Text 6"/>
          <p:cNvSpPr/>
          <p:nvPr/>
        </p:nvSpPr>
        <p:spPr>
          <a:xfrm>
            <a:off x="1389888" y="2523744"/>
            <a:ext cx="1170432" cy="182880"/>
          </a:xfrm>
          <a:prstGeom prst="rect">
            <a:avLst/>
          </a:prstGeom>
          <a:noFill/>
          <a:ln/>
        </p:spPr>
        <p:txBody>
          <a:bodyPr wrap="square" lIns="0" tIns="0" rIns="0" bIns="0" rtlCol="0" anchor="ctr">
            <a:normAutofit/>
          </a:bodyPr>
          <a:lstStyle/>
          <a:p>
            <a:pPr algn="l" indent="0" marL="0">
              <a:buNone/>
            </a:pPr>
            <a:r>
              <a:rPr lang="en-US" sz="800" b="1" spc="120" kern="0" dirty="0">
                <a:solidFill>
                  <a:srgbClr val="7C3AED"/>
                </a:solidFill>
                <a:latin typeface="Aptos" pitchFamily="34" charset="0"/>
                <a:ea typeface="Aptos" pitchFamily="34" charset="-122"/>
                <a:cs typeface="Aptos" pitchFamily="34" charset="-120"/>
              </a:rPr>
              <a:t>MODEL</a:t>
            </a:r>
            <a:endParaRPr lang="en-US" sz="800" dirty="0"/>
          </a:p>
        </p:txBody>
      </p:sp>
      <p:sp>
        <p:nvSpPr>
          <p:cNvPr id="9" name="Text 7"/>
          <p:cNvSpPr/>
          <p:nvPr/>
        </p:nvSpPr>
        <p:spPr>
          <a:xfrm>
            <a:off x="841248" y="3127248"/>
            <a:ext cx="1901952" cy="365760"/>
          </a:xfrm>
          <a:prstGeom prst="rect">
            <a:avLst/>
          </a:prstGeom>
          <a:noFill/>
          <a:ln/>
        </p:spPr>
        <p:txBody>
          <a:bodyPr wrap="square" lIns="0" tIns="0" rIns="0" bIns="0" rtlCol="0" anchor="ctr">
            <a:normAutofit/>
          </a:bodyPr>
          <a:lstStyle/>
          <a:p>
            <a:pPr algn="l" indent="0" marL="0">
              <a:buNone/>
            </a:pPr>
            <a:r>
              <a:rPr lang="en-US" sz="2100" b="1" dirty="0">
                <a:solidFill>
                  <a:srgbClr val="FFFFFF"/>
                </a:solidFill>
                <a:latin typeface="Aptos Display" pitchFamily="34" charset="0"/>
                <a:ea typeface="Aptos Display" pitchFamily="34" charset="-122"/>
                <a:cs typeface="Aptos Display" pitchFamily="34" charset="-120"/>
              </a:rPr>
              <a:t>XGBoost</a:t>
            </a:r>
            <a:endParaRPr lang="en-US" sz="2100" dirty="0"/>
          </a:p>
        </p:txBody>
      </p:sp>
      <p:sp>
        <p:nvSpPr>
          <p:cNvPr id="10" name="Text 8"/>
          <p:cNvSpPr/>
          <p:nvPr/>
        </p:nvSpPr>
        <p:spPr>
          <a:xfrm>
            <a:off x="841248" y="3657600"/>
            <a:ext cx="1901952" cy="749808"/>
          </a:xfrm>
          <a:prstGeom prst="rect">
            <a:avLst/>
          </a:prstGeom>
          <a:noFill/>
          <a:ln/>
        </p:spPr>
        <p:txBody>
          <a:bodyPr wrap="square" lIns="0" tIns="0" rIns="0" bIns="0" rtlCol="0" anchor="t">
            <a:normAutofit/>
          </a:bodyPr>
          <a:lstStyle/>
          <a:p>
            <a:pPr algn="l" indent="0" marL="0">
              <a:buNone/>
            </a:pPr>
            <a:r>
              <a:rPr lang="en-US" sz="1150" dirty="0">
                <a:solidFill>
                  <a:srgbClr val="BBD0C8"/>
                </a:solidFill>
                <a:latin typeface="Aptos" pitchFamily="34" charset="0"/>
                <a:ea typeface="Aptos" pitchFamily="34" charset="-122"/>
                <a:cs typeface="Aptos" pitchFamily="34" charset="-120"/>
              </a:rPr>
              <a:t>Predicts low / expected / high sell-through for each candidate price.</a:t>
            </a:r>
            <a:endParaRPr lang="en-US" sz="1150" dirty="0"/>
          </a:p>
        </p:txBody>
      </p:sp>
      <p:sp>
        <p:nvSpPr>
          <p:cNvPr id="11" name="Shape 9"/>
          <p:cNvSpPr/>
          <p:nvPr/>
        </p:nvSpPr>
        <p:spPr>
          <a:xfrm>
            <a:off x="3090672" y="3319272"/>
            <a:ext cx="310896" cy="310896"/>
          </a:xfrm>
          <a:prstGeom prst="chevron">
            <a:avLst/>
          </a:prstGeom>
          <a:solidFill>
            <a:srgbClr val="BEF264"/>
          </a:solidFill>
          <a:ln w="12700">
            <a:solidFill>
              <a:srgbClr val="BEF264"/>
            </a:solidFill>
            <a:prstDash val="solid"/>
          </a:ln>
        </p:spPr>
      </p:sp>
      <p:sp>
        <p:nvSpPr>
          <p:cNvPr id="12" name="Shape 10"/>
          <p:cNvSpPr/>
          <p:nvPr/>
        </p:nvSpPr>
        <p:spPr>
          <a:xfrm>
            <a:off x="3456432" y="2194560"/>
            <a:ext cx="2359152" cy="2606040"/>
          </a:xfrm>
          <a:prstGeom prst="roundRect">
            <a:avLst>
              <a:gd name="adj" fmla="val 9302"/>
            </a:avLst>
          </a:prstGeom>
          <a:solidFill>
            <a:srgbClr val="4B2C1D"/>
          </a:solidFill>
          <a:ln w="12700">
            <a:solidFill>
              <a:srgbClr val="45685D"/>
            </a:solidFill>
            <a:prstDash val="solid"/>
          </a:ln>
        </p:spPr>
      </p:sp>
      <p:sp>
        <p:nvSpPr>
          <p:cNvPr id="13" name="Shape 11"/>
          <p:cNvSpPr/>
          <p:nvPr/>
        </p:nvSpPr>
        <p:spPr>
          <a:xfrm>
            <a:off x="3675888" y="2468880"/>
            <a:ext cx="438912" cy="438912"/>
          </a:xfrm>
          <a:prstGeom prst="ellipse">
            <a:avLst/>
          </a:prstGeom>
          <a:solidFill>
            <a:srgbClr val="F97316"/>
          </a:solidFill>
          <a:ln w="12700">
            <a:solidFill>
              <a:srgbClr val="F97316"/>
            </a:solidFill>
            <a:prstDash val="solid"/>
          </a:ln>
        </p:spPr>
      </p:sp>
      <p:sp>
        <p:nvSpPr>
          <p:cNvPr id="14" name="Text 12"/>
          <p:cNvSpPr/>
          <p:nvPr/>
        </p:nvSpPr>
        <p:spPr>
          <a:xfrm>
            <a:off x="3675888" y="2468880"/>
            <a:ext cx="438912" cy="438912"/>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5" name="Text 13"/>
          <p:cNvSpPr/>
          <p:nvPr/>
        </p:nvSpPr>
        <p:spPr>
          <a:xfrm>
            <a:off x="4224528" y="2523744"/>
            <a:ext cx="1170432" cy="182880"/>
          </a:xfrm>
          <a:prstGeom prst="rect">
            <a:avLst/>
          </a:prstGeom>
          <a:noFill/>
          <a:ln/>
        </p:spPr>
        <p:txBody>
          <a:bodyPr wrap="square" lIns="0" tIns="0" rIns="0" bIns="0" rtlCol="0" anchor="ctr">
            <a:normAutofit/>
          </a:bodyPr>
          <a:lstStyle/>
          <a:p>
            <a:pPr algn="l" indent="0" marL="0">
              <a:buNone/>
            </a:pPr>
            <a:r>
              <a:rPr lang="en-US" sz="800" b="1" spc="120" kern="0" dirty="0">
                <a:solidFill>
                  <a:srgbClr val="F97316"/>
                </a:solidFill>
                <a:latin typeface="Aptos" pitchFamily="34" charset="0"/>
                <a:ea typeface="Aptos" pitchFamily="34" charset="-122"/>
                <a:cs typeface="Aptos" pitchFamily="34" charset="-120"/>
              </a:rPr>
              <a:t>POLICY</a:t>
            </a:r>
            <a:endParaRPr lang="en-US" sz="800" dirty="0"/>
          </a:p>
        </p:txBody>
      </p:sp>
      <p:sp>
        <p:nvSpPr>
          <p:cNvPr id="16" name="Text 14"/>
          <p:cNvSpPr/>
          <p:nvPr/>
        </p:nvSpPr>
        <p:spPr>
          <a:xfrm>
            <a:off x="3675888" y="3127248"/>
            <a:ext cx="1901952" cy="365760"/>
          </a:xfrm>
          <a:prstGeom prst="rect">
            <a:avLst/>
          </a:prstGeom>
          <a:noFill/>
          <a:ln/>
        </p:spPr>
        <p:txBody>
          <a:bodyPr wrap="square" lIns="0" tIns="0" rIns="0" bIns="0" rtlCol="0" anchor="ctr">
            <a:normAutofit/>
          </a:bodyPr>
          <a:lstStyle/>
          <a:p>
            <a:pPr algn="l" indent="0" marL="0">
              <a:buNone/>
            </a:pPr>
            <a:r>
              <a:rPr lang="en-US" sz="2100" b="1" dirty="0">
                <a:solidFill>
                  <a:srgbClr val="FFFFFF"/>
                </a:solidFill>
                <a:latin typeface="Aptos Display" pitchFamily="34" charset="0"/>
                <a:ea typeface="Aptos Display" pitchFamily="34" charset="-122"/>
                <a:cs typeface="Aptos Display" pitchFamily="34" charset="-120"/>
              </a:rPr>
              <a:t>Optimizer</a:t>
            </a:r>
            <a:endParaRPr lang="en-US" sz="2100" dirty="0"/>
          </a:p>
        </p:txBody>
      </p:sp>
      <p:sp>
        <p:nvSpPr>
          <p:cNvPr id="17" name="Text 15"/>
          <p:cNvSpPr/>
          <p:nvPr/>
        </p:nvSpPr>
        <p:spPr>
          <a:xfrm>
            <a:off x="3675888" y="3657600"/>
            <a:ext cx="1901952" cy="749808"/>
          </a:xfrm>
          <a:prstGeom prst="rect">
            <a:avLst/>
          </a:prstGeom>
          <a:noFill/>
          <a:ln/>
        </p:spPr>
        <p:txBody>
          <a:bodyPr wrap="square" lIns="0" tIns="0" rIns="0" bIns="0" rtlCol="0" anchor="t">
            <a:normAutofit/>
          </a:bodyPr>
          <a:lstStyle/>
          <a:p>
            <a:pPr algn="l" indent="0" marL="0">
              <a:buNone/>
            </a:pPr>
            <a:r>
              <a:rPr lang="en-US" sz="1150" dirty="0">
                <a:solidFill>
                  <a:srgbClr val="BBD0C8"/>
                </a:solidFill>
                <a:latin typeface="Aptos" pitchFamily="34" charset="0"/>
                <a:ea typeface="Aptos" pitchFamily="34" charset="-122"/>
                <a:cs typeface="Aptos" pitchFamily="34" charset="-120"/>
              </a:rPr>
              <a:t>Maximizes expected contribution under price floors and expiry rules.</a:t>
            </a:r>
            <a:endParaRPr lang="en-US" sz="1150" dirty="0"/>
          </a:p>
        </p:txBody>
      </p:sp>
      <p:sp>
        <p:nvSpPr>
          <p:cNvPr id="18" name="Shape 16"/>
          <p:cNvSpPr/>
          <p:nvPr/>
        </p:nvSpPr>
        <p:spPr>
          <a:xfrm>
            <a:off x="5925312" y="3319272"/>
            <a:ext cx="310896" cy="310896"/>
          </a:xfrm>
          <a:prstGeom prst="chevron">
            <a:avLst/>
          </a:prstGeom>
          <a:solidFill>
            <a:srgbClr val="BEF264"/>
          </a:solidFill>
          <a:ln w="12700">
            <a:solidFill>
              <a:srgbClr val="BEF264"/>
            </a:solidFill>
            <a:prstDash val="solid"/>
          </a:ln>
        </p:spPr>
      </p:sp>
      <p:sp>
        <p:nvSpPr>
          <p:cNvPr id="19" name="Shape 17"/>
          <p:cNvSpPr/>
          <p:nvPr/>
        </p:nvSpPr>
        <p:spPr>
          <a:xfrm>
            <a:off x="6291072" y="2194560"/>
            <a:ext cx="2359152" cy="2606040"/>
          </a:xfrm>
          <a:prstGeom prst="roundRect">
            <a:avLst>
              <a:gd name="adj" fmla="val 9302"/>
            </a:avLst>
          </a:prstGeom>
          <a:solidFill>
            <a:srgbClr val="193E33"/>
          </a:solidFill>
          <a:ln w="12700">
            <a:solidFill>
              <a:srgbClr val="45685D"/>
            </a:solidFill>
            <a:prstDash val="solid"/>
          </a:ln>
        </p:spPr>
      </p:sp>
      <p:sp>
        <p:nvSpPr>
          <p:cNvPr id="20" name="Shape 18"/>
          <p:cNvSpPr/>
          <p:nvPr/>
        </p:nvSpPr>
        <p:spPr>
          <a:xfrm>
            <a:off x="6510528" y="2468880"/>
            <a:ext cx="438912" cy="438912"/>
          </a:xfrm>
          <a:prstGeom prst="ellipse">
            <a:avLst/>
          </a:prstGeom>
          <a:solidFill>
            <a:srgbClr val="10B981"/>
          </a:solidFill>
          <a:ln w="12700">
            <a:solidFill>
              <a:srgbClr val="10B981"/>
            </a:solidFill>
            <a:prstDash val="solid"/>
          </a:ln>
        </p:spPr>
      </p:sp>
      <p:sp>
        <p:nvSpPr>
          <p:cNvPr id="21" name="Text 19"/>
          <p:cNvSpPr/>
          <p:nvPr/>
        </p:nvSpPr>
        <p:spPr>
          <a:xfrm>
            <a:off x="6510528" y="2468880"/>
            <a:ext cx="438912" cy="438912"/>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2" name="Text 20"/>
          <p:cNvSpPr/>
          <p:nvPr/>
        </p:nvSpPr>
        <p:spPr>
          <a:xfrm>
            <a:off x="7059168" y="2523744"/>
            <a:ext cx="1170432" cy="182880"/>
          </a:xfrm>
          <a:prstGeom prst="rect">
            <a:avLst/>
          </a:prstGeom>
          <a:noFill/>
          <a:ln/>
        </p:spPr>
        <p:txBody>
          <a:bodyPr wrap="square" lIns="0" tIns="0" rIns="0" bIns="0" rtlCol="0" anchor="ctr">
            <a:normAutofit/>
          </a:bodyPr>
          <a:lstStyle/>
          <a:p>
            <a:pPr algn="l" indent="0" marL="0">
              <a:buNone/>
            </a:pPr>
            <a:r>
              <a:rPr lang="en-US" sz="800" b="1" spc="120" kern="0" dirty="0">
                <a:solidFill>
                  <a:srgbClr val="10B981"/>
                </a:solidFill>
                <a:latin typeface="Aptos" pitchFamily="34" charset="0"/>
                <a:ea typeface="Aptos" pitchFamily="34" charset="-122"/>
                <a:cs typeface="Aptos" pitchFamily="34" charset="-120"/>
              </a:rPr>
              <a:t>LANGUAGE</a:t>
            </a:r>
            <a:endParaRPr lang="en-US" sz="800" dirty="0"/>
          </a:p>
        </p:txBody>
      </p:sp>
      <p:sp>
        <p:nvSpPr>
          <p:cNvPr id="23" name="Text 21"/>
          <p:cNvSpPr/>
          <p:nvPr/>
        </p:nvSpPr>
        <p:spPr>
          <a:xfrm>
            <a:off x="6510528" y="3127248"/>
            <a:ext cx="1901952" cy="365760"/>
          </a:xfrm>
          <a:prstGeom prst="rect">
            <a:avLst/>
          </a:prstGeom>
          <a:noFill/>
          <a:ln/>
        </p:spPr>
        <p:txBody>
          <a:bodyPr wrap="square" lIns="0" tIns="0" rIns="0" bIns="0" rtlCol="0" anchor="ctr">
            <a:normAutofit/>
          </a:bodyPr>
          <a:lstStyle/>
          <a:p>
            <a:pPr algn="l" indent="0" marL="0">
              <a:buNone/>
            </a:pPr>
            <a:r>
              <a:rPr lang="en-US" sz="2100" b="1" dirty="0">
                <a:solidFill>
                  <a:srgbClr val="FFFFFF"/>
                </a:solidFill>
                <a:latin typeface="Aptos Display" pitchFamily="34" charset="0"/>
                <a:ea typeface="Aptos Display" pitchFamily="34" charset="-122"/>
                <a:cs typeface="Aptos Display" pitchFamily="34" charset="-120"/>
              </a:rPr>
              <a:t>Gemini adapter</a:t>
            </a:r>
            <a:endParaRPr lang="en-US" sz="2100" dirty="0"/>
          </a:p>
        </p:txBody>
      </p:sp>
      <p:sp>
        <p:nvSpPr>
          <p:cNvPr id="24" name="Text 22"/>
          <p:cNvSpPr/>
          <p:nvPr/>
        </p:nvSpPr>
        <p:spPr>
          <a:xfrm>
            <a:off x="6510528" y="3657600"/>
            <a:ext cx="1901952" cy="749808"/>
          </a:xfrm>
          <a:prstGeom prst="rect">
            <a:avLst/>
          </a:prstGeom>
          <a:noFill/>
          <a:ln/>
        </p:spPr>
        <p:txBody>
          <a:bodyPr wrap="square" lIns="0" tIns="0" rIns="0" bIns="0" rtlCol="0" anchor="t">
            <a:normAutofit/>
          </a:bodyPr>
          <a:lstStyle/>
          <a:p>
            <a:pPr algn="l" indent="0" marL="0">
              <a:buNone/>
            </a:pPr>
            <a:r>
              <a:rPr lang="en-US" sz="1150" dirty="0">
                <a:solidFill>
                  <a:srgbClr val="BBD0C8"/>
                </a:solidFill>
                <a:latin typeface="Aptos" pitchFamily="34" charset="0"/>
                <a:ea typeface="Aptos" pitchFamily="34" charset="-122"/>
                <a:cs typeface="Aptos" pitchFamily="34" charset="-120"/>
              </a:rPr>
              <a:t>Turns fixed evidence into manager rationale and campaign copy.</a:t>
            </a:r>
            <a:endParaRPr lang="en-US" sz="1150" dirty="0"/>
          </a:p>
        </p:txBody>
      </p:sp>
      <p:sp>
        <p:nvSpPr>
          <p:cNvPr id="25" name="Shape 23"/>
          <p:cNvSpPr/>
          <p:nvPr/>
        </p:nvSpPr>
        <p:spPr>
          <a:xfrm>
            <a:off x="8759952" y="3319272"/>
            <a:ext cx="310896" cy="310896"/>
          </a:xfrm>
          <a:prstGeom prst="chevron">
            <a:avLst/>
          </a:prstGeom>
          <a:solidFill>
            <a:srgbClr val="BEF264"/>
          </a:solidFill>
          <a:ln w="12700">
            <a:solidFill>
              <a:srgbClr val="BEF264"/>
            </a:solidFill>
            <a:prstDash val="solid"/>
          </a:ln>
        </p:spPr>
      </p:sp>
      <p:sp>
        <p:nvSpPr>
          <p:cNvPr id="26" name="Shape 24"/>
          <p:cNvSpPr/>
          <p:nvPr/>
        </p:nvSpPr>
        <p:spPr>
          <a:xfrm>
            <a:off x="9125712" y="2194560"/>
            <a:ext cx="2359152" cy="2606040"/>
          </a:xfrm>
          <a:prstGeom prst="roundRect">
            <a:avLst>
              <a:gd name="adj" fmla="val 9302"/>
            </a:avLst>
          </a:prstGeom>
          <a:solidFill>
            <a:srgbClr val="284A3F"/>
          </a:solidFill>
          <a:ln w="12700">
            <a:solidFill>
              <a:srgbClr val="45685D"/>
            </a:solidFill>
            <a:prstDash val="solid"/>
          </a:ln>
        </p:spPr>
      </p:sp>
      <p:sp>
        <p:nvSpPr>
          <p:cNvPr id="27" name="Shape 25"/>
          <p:cNvSpPr/>
          <p:nvPr/>
        </p:nvSpPr>
        <p:spPr>
          <a:xfrm>
            <a:off x="9345168" y="2468880"/>
            <a:ext cx="438912" cy="438912"/>
          </a:xfrm>
          <a:prstGeom prst="ellipse">
            <a:avLst/>
          </a:prstGeom>
          <a:solidFill>
            <a:srgbClr val="BEF264"/>
          </a:solidFill>
          <a:ln w="12700">
            <a:solidFill>
              <a:srgbClr val="BEF264"/>
            </a:solidFill>
            <a:prstDash val="solid"/>
          </a:ln>
        </p:spPr>
      </p:sp>
      <p:sp>
        <p:nvSpPr>
          <p:cNvPr id="28" name="Text 26"/>
          <p:cNvSpPr/>
          <p:nvPr/>
        </p:nvSpPr>
        <p:spPr>
          <a:xfrm>
            <a:off x="9345168" y="2468880"/>
            <a:ext cx="438912" cy="438912"/>
          </a:xfrm>
          <a:prstGeom prst="rect">
            <a:avLst/>
          </a:prstGeom>
          <a:noFill/>
          <a:ln/>
        </p:spPr>
        <p:txBody>
          <a:bodyPr wrap="square" lIns="0" tIns="0" rIns="0" bIns="0" rtlCol="0" anchor="ctr">
            <a:normAutofit/>
          </a:bodyPr>
          <a:lstStyle/>
          <a:p>
            <a:pPr algn="ctr" indent="0" marL="0">
              <a:buNone/>
            </a:pPr>
            <a:r>
              <a:rPr lang="en-US" sz="1300" b="1" dirty="0">
                <a:solidFill>
                  <a:srgbClr val="173D31"/>
                </a:solidFill>
                <a:latin typeface="Aptos" pitchFamily="34" charset="0"/>
                <a:ea typeface="Aptos" pitchFamily="34" charset="-122"/>
                <a:cs typeface="Aptos" pitchFamily="34" charset="-120"/>
              </a:rPr>
              <a:t>4</a:t>
            </a:r>
            <a:endParaRPr lang="en-US" sz="1300" dirty="0"/>
          </a:p>
        </p:txBody>
      </p:sp>
      <p:sp>
        <p:nvSpPr>
          <p:cNvPr id="29" name="Text 27"/>
          <p:cNvSpPr/>
          <p:nvPr/>
        </p:nvSpPr>
        <p:spPr>
          <a:xfrm>
            <a:off x="9893808" y="2523744"/>
            <a:ext cx="1170432" cy="182880"/>
          </a:xfrm>
          <a:prstGeom prst="rect">
            <a:avLst/>
          </a:prstGeom>
          <a:noFill/>
          <a:ln/>
        </p:spPr>
        <p:txBody>
          <a:bodyPr wrap="square" lIns="0" tIns="0" rIns="0" bIns="0" rtlCol="0" anchor="ctr">
            <a:normAutofit/>
          </a:bodyPr>
          <a:lstStyle/>
          <a:p>
            <a:pPr algn="l" indent="0" marL="0">
              <a:buNone/>
            </a:pPr>
            <a:r>
              <a:rPr lang="en-US" sz="800" b="1" spc="120" kern="0" dirty="0">
                <a:solidFill>
                  <a:srgbClr val="BEF264"/>
                </a:solidFill>
                <a:latin typeface="Aptos" pitchFamily="34" charset="0"/>
                <a:ea typeface="Aptos" pitchFamily="34" charset="-122"/>
                <a:cs typeface="Aptos" pitchFamily="34" charset="-120"/>
              </a:rPr>
              <a:t>CONTROL</a:t>
            </a:r>
            <a:endParaRPr lang="en-US" sz="800" dirty="0"/>
          </a:p>
        </p:txBody>
      </p:sp>
      <p:sp>
        <p:nvSpPr>
          <p:cNvPr id="30" name="Text 28"/>
          <p:cNvSpPr/>
          <p:nvPr/>
        </p:nvSpPr>
        <p:spPr>
          <a:xfrm>
            <a:off x="9345168" y="3127248"/>
            <a:ext cx="1901952" cy="365760"/>
          </a:xfrm>
          <a:prstGeom prst="rect">
            <a:avLst/>
          </a:prstGeom>
          <a:noFill/>
          <a:ln/>
        </p:spPr>
        <p:txBody>
          <a:bodyPr wrap="square" lIns="0" tIns="0" rIns="0" bIns="0" rtlCol="0" anchor="ctr">
            <a:normAutofit/>
          </a:bodyPr>
          <a:lstStyle/>
          <a:p>
            <a:pPr algn="l" indent="0" marL="0">
              <a:buNone/>
            </a:pPr>
            <a:r>
              <a:rPr lang="en-US" sz="2100" b="1" dirty="0">
                <a:solidFill>
                  <a:srgbClr val="FFFFFF"/>
                </a:solidFill>
                <a:latin typeface="Aptos Display" pitchFamily="34" charset="0"/>
                <a:ea typeface="Aptos Display" pitchFamily="34" charset="-122"/>
                <a:cs typeface="Aptos Display" pitchFamily="34" charset="-120"/>
              </a:rPr>
              <a:t>Owner approval</a:t>
            </a:r>
            <a:endParaRPr lang="en-US" sz="2100" dirty="0"/>
          </a:p>
        </p:txBody>
      </p:sp>
      <p:sp>
        <p:nvSpPr>
          <p:cNvPr id="31" name="Text 29"/>
          <p:cNvSpPr/>
          <p:nvPr/>
        </p:nvSpPr>
        <p:spPr>
          <a:xfrm>
            <a:off x="9345168" y="3657600"/>
            <a:ext cx="1901952" cy="749808"/>
          </a:xfrm>
          <a:prstGeom prst="rect">
            <a:avLst/>
          </a:prstGeom>
          <a:noFill/>
          <a:ln/>
        </p:spPr>
        <p:txBody>
          <a:bodyPr wrap="square" lIns="0" tIns="0" rIns="0" bIns="0" rtlCol="0" anchor="t">
            <a:normAutofit/>
          </a:bodyPr>
          <a:lstStyle/>
          <a:p>
            <a:pPr algn="l" indent="0" marL="0">
              <a:buNone/>
            </a:pPr>
            <a:r>
              <a:rPr lang="en-US" sz="1150" dirty="0">
                <a:solidFill>
                  <a:srgbClr val="BBD0C8"/>
                </a:solidFill>
                <a:latin typeface="Aptos" pitchFamily="34" charset="0"/>
                <a:ea typeface="Aptos" pitchFamily="34" charset="-122"/>
                <a:cs typeface="Aptos" pitchFamily="34" charset="-120"/>
              </a:rPr>
              <a:t>Publishes the price and activates opted-in shoppers.</a:t>
            </a:r>
            <a:endParaRPr lang="en-US" sz="1150" dirty="0"/>
          </a:p>
        </p:txBody>
      </p:sp>
      <p:sp>
        <p:nvSpPr>
          <p:cNvPr id="32" name="Shape 30"/>
          <p:cNvSpPr/>
          <p:nvPr/>
        </p:nvSpPr>
        <p:spPr>
          <a:xfrm>
            <a:off x="1097280" y="5257800"/>
            <a:ext cx="9985248" cy="530352"/>
          </a:xfrm>
          <a:prstGeom prst="roundRect">
            <a:avLst>
              <a:gd name="adj" fmla="val 27586"/>
            </a:avLst>
          </a:prstGeom>
          <a:solidFill>
            <a:srgbClr val="244E42"/>
          </a:solidFill>
          <a:ln w="12700">
            <a:solidFill>
              <a:srgbClr val="244E42">
                <a:alpha val="0"/>
              </a:srgbClr>
            </a:solidFill>
            <a:prstDash val="solid"/>
          </a:ln>
        </p:spPr>
      </p:sp>
      <p:sp>
        <p:nvSpPr>
          <p:cNvPr id="33" name="Text 31"/>
          <p:cNvSpPr/>
          <p:nvPr/>
        </p:nvSpPr>
        <p:spPr>
          <a:xfrm>
            <a:off x="1353312" y="5422392"/>
            <a:ext cx="1078992" cy="164592"/>
          </a:xfrm>
          <a:prstGeom prst="rect">
            <a:avLst/>
          </a:prstGeom>
          <a:noFill/>
          <a:ln/>
        </p:spPr>
        <p:txBody>
          <a:bodyPr wrap="square" lIns="0" tIns="0" rIns="0" bIns="0" rtlCol="0" anchor="ctr">
            <a:normAutofit/>
          </a:bodyPr>
          <a:lstStyle/>
          <a:p>
            <a:pPr algn="l" indent="0" marL="0">
              <a:buNone/>
            </a:pPr>
            <a:r>
              <a:rPr lang="en-US" sz="850" b="1" spc="100" kern="0" dirty="0">
                <a:solidFill>
                  <a:srgbClr val="BEF264"/>
                </a:solidFill>
                <a:latin typeface="Aptos" pitchFamily="34" charset="0"/>
                <a:ea typeface="Aptos" pitchFamily="34" charset="-122"/>
                <a:cs typeface="Aptos" pitchFamily="34" charset="-120"/>
              </a:rPr>
              <a:t>GEMINI CANNOT</a:t>
            </a:r>
            <a:endParaRPr lang="en-US" sz="850" dirty="0"/>
          </a:p>
        </p:txBody>
      </p:sp>
      <p:sp>
        <p:nvSpPr>
          <p:cNvPr id="34" name="Text 32"/>
          <p:cNvSpPr/>
          <p:nvPr/>
        </p:nvSpPr>
        <p:spPr>
          <a:xfrm>
            <a:off x="2514600" y="5367528"/>
            <a:ext cx="8092440" cy="274320"/>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change price  •  change expiry  •  override guardrails  •  consume customer identity</a:t>
            </a:r>
            <a:endParaRPr lang="en-US" sz="1100" dirty="0"/>
          </a:p>
        </p:txBody>
      </p:sp>
      <p:sp>
        <p:nvSpPr>
          <p:cNvPr id="35" name="Shape 33"/>
          <p:cNvSpPr/>
          <p:nvPr/>
        </p:nvSpPr>
        <p:spPr>
          <a:xfrm>
            <a:off x="640080" y="6035040"/>
            <a:ext cx="1143000" cy="292608"/>
          </a:xfrm>
          <a:prstGeom prst="roundRect">
            <a:avLst>
              <a:gd name="adj" fmla="val 50000"/>
            </a:avLst>
          </a:prstGeom>
          <a:solidFill>
            <a:srgbClr val="7C3AED"/>
          </a:solidFill>
          <a:ln w="12700">
            <a:solidFill>
              <a:srgbClr val="7C3AED">
                <a:alpha val="0"/>
              </a:srgbClr>
            </a:solidFill>
            <a:prstDash val="solid"/>
          </a:ln>
        </p:spPr>
      </p:sp>
      <p:sp>
        <p:nvSpPr>
          <p:cNvPr id="36" name="Text 34"/>
          <p:cNvSpPr/>
          <p:nvPr/>
        </p:nvSpPr>
        <p:spPr>
          <a:xfrm>
            <a:off x="713232" y="6035040"/>
            <a:ext cx="996696" cy="292608"/>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LIVE: XGBOOST</a:t>
            </a:r>
            <a:endParaRPr lang="en-US" sz="900" dirty="0"/>
          </a:p>
        </p:txBody>
      </p:sp>
      <p:sp>
        <p:nvSpPr>
          <p:cNvPr id="37" name="Shape 35"/>
          <p:cNvSpPr/>
          <p:nvPr/>
        </p:nvSpPr>
        <p:spPr>
          <a:xfrm>
            <a:off x="1938528" y="6035040"/>
            <a:ext cx="1965960" cy="292608"/>
          </a:xfrm>
          <a:prstGeom prst="roundRect">
            <a:avLst>
              <a:gd name="adj" fmla="val 50000"/>
            </a:avLst>
          </a:prstGeom>
          <a:solidFill>
            <a:srgbClr val="385E52"/>
          </a:solidFill>
          <a:ln w="12700">
            <a:solidFill>
              <a:srgbClr val="385E52">
                <a:alpha val="0"/>
              </a:srgbClr>
            </a:solidFill>
            <a:prstDash val="solid"/>
          </a:ln>
        </p:spPr>
      </p:sp>
      <p:sp>
        <p:nvSpPr>
          <p:cNvPr id="38" name="Text 36"/>
          <p:cNvSpPr/>
          <p:nvPr/>
        </p:nvSpPr>
        <p:spPr>
          <a:xfrm>
            <a:off x="2011680" y="6035040"/>
            <a:ext cx="1819656" cy="292608"/>
          </a:xfrm>
          <a:prstGeom prst="rect">
            <a:avLst/>
          </a:prstGeom>
          <a:noFill/>
          <a:ln/>
        </p:spPr>
        <p:txBody>
          <a:bodyPr wrap="square" lIns="0" tIns="0" rIns="0" bIns="0" rtlCol="0" anchor="ctr">
            <a:normAutofit/>
          </a:bodyPr>
          <a:lstStyle/>
          <a:p>
            <a:pPr algn="ctr" indent="0" marL="0">
              <a:buNone/>
            </a:pPr>
            <a:r>
              <a:rPr lang="en-US" sz="900" b="1" dirty="0">
                <a:solidFill>
                  <a:srgbClr val="D6E5DF"/>
                </a:solidFill>
                <a:latin typeface="Aptos" pitchFamily="34" charset="0"/>
                <a:ea typeface="Aptos" pitchFamily="34" charset="-122"/>
                <a:cs typeface="Aptos" pitchFamily="34" charset="-120"/>
              </a:rPr>
              <a:t>SAFE FALLBACK: TEMPLATE</a:t>
            </a:r>
            <a:endParaRPr lang="en-US" sz="900" dirty="0"/>
          </a:p>
        </p:txBody>
      </p:sp>
      <p:sp>
        <p:nvSpPr>
          <p:cNvPr id="39" name="Shape 37"/>
          <p:cNvSpPr/>
          <p:nvPr/>
        </p:nvSpPr>
        <p:spPr>
          <a:xfrm>
            <a:off x="502920" y="6419088"/>
            <a:ext cx="10744200" cy="0"/>
          </a:xfrm>
          <a:prstGeom prst="line">
            <a:avLst/>
          </a:prstGeom>
          <a:noFill/>
          <a:ln w="10160">
            <a:solidFill>
              <a:srgbClr val="406459"/>
            </a:solidFill>
            <a:prstDash val="solid"/>
          </a:ln>
        </p:spPr>
      </p:sp>
      <p:sp>
        <p:nvSpPr>
          <p:cNvPr id="40" name="Text 38"/>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BEF264"/>
                </a:solidFill>
                <a:latin typeface="Aptos" pitchFamily="34" charset="0"/>
                <a:ea typeface="Aptos" pitchFamily="34" charset="-122"/>
                <a:cs typeface="Aptos" pitchFamily="34" charset="-120"/>
              </a:rPr>
              <a:t>FRESHSAVER</a:t>
            </a:r>
            <a:endParaRPr lang="en-US" sz="750" dirty="0"/>
          </a:p>
        </p:txBody>
      </p:sp>
      <p:sp>
        <p:nvSpPr>
          <p:cNvPr id="41" name="Text 39"/>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90A99F"/>
                </a:solidFill>
                <a:latin typeface="Aptos" pitchFamily="34" charset="0"/>
                <a:ea typeface="Aptos" pitchFamily="34" charset="-122"/>
                <a:cs typeface="Aptos" pitchFamily="34" charset="-120"/>
              </a:rPr>
              <a:t>Technical implementation</a:t>
            </a:r>
            <a:endParaRPr lang="en-US" sz="750" dirty="0"/>
          </a:p>
        </p:txBody>
      </p:sp>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6ADA4"/>
                </a:solidFill>
                <a:latin typeface="Aptos"/>
                <a:ea typeface="Aptos"/>
                <a:cs typeface="Apto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10B981"/>
                </a:solidFill>
                <a:latin typeface="Aptos" pitchFamily="34" charset="0"/>
                <a:ea typeface="Aptos" pitchFamily="34" charset="-122"/>
                <a:cs typeface="Aptos" pitchFamily="34" charset="-120"/>
              </a:rPr>
              <a:t>MODEL EVIDENCE</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15352C"/>
                </a:solidFill>
                <a:latin typeface="Aptos Display" pitchFamily="34" charset="0"/>
                <a:ea typeface="Aptos Display" pitchFamily="34" charset="-122"/>
                <a:cs typeface="Aptos Display" pitchFamily="34" charset="-120"/>
              </a:rPr>
              <a:t>The training path is real. The business claim is not yet.</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667D75"/>
                </a:solidFill>
                <a:latin typeface="Aptos" pitchFamily="34" charset="0"/>
                <a:ea typeface="Aptos" pitchFamily="34" charset="-122"/>
                <a:cs typeface="Aptos" pitchFamily="34" charset="-120"/>
              </a:rPr>
              <a:t>Time-ordered validation on 4,000 explicitly synthetic rows proves the pipeline — not store impact.</a:t>
            </a:r>
            <a:endParaRPr lang="en-US" sz="1250" dirty="0"/>
          </a:p>
        </p:txBody>
      </p:sp>
      <p:sp>
        <p:nvSpPr>
          <p:cNvPr id="5" name="Shape 3"/>
          <p:cNvSpPr/>
          <p:nvPr/>
        </p:nvSpPr>
        <p:spPr>
          <a:xfrm>
            <a:off x="594360" y="2057400"/>
            <a:ext cx="5623560" cy="3611880"/>
          </a:xfrm>
          <a:prstGeom prst="roundRect">
            <a:avLst>
              <a:gd name="adj" fmla="val 6076"/>
            </a:avLst>
          </a:prstGeom>
          <a:solidFill>
            <a:srgbClr val="FFFFFF"/>
          </a:solidFill>
          <a:ln w="12700">
            <a:solidFill>
              <a:srgbClr val="D9E3DD"/>
            </a:solidFill>
            <a:prstDash val="solid"/>
          </a:ln>
          <a:effectLst>
            <a:outerShdw sx="100000" sy="100000" kx="0" ky="0" algn="bl" rotWithShape="0" blurRad="1.7189509497218795e+37" dist="3.437901899443759e+37" dir="4.5349632000000006e+44">
              <a:srgbClr val="0A241C">
                <a:alpha val="1.3e+44"/>
              </a:srgbClr>
            </a:outerShdw>
          </a:effectLst>
        </p:spPr>
      </p:sp>
      <p:sp>
        <p:nvSpPr>
          <p:cNvPr id="6" name="Text 4"/>
          <p:cNvSpPr/>
          <p:nvPr/>
        </p:nvSpPr>
        <p:spPr>
          <a:xfrm>
            <a:off x="896112" y="2359152"/>
            <a:ext cx="3383280" cy="228600"/>
          </a:xfrm>
          <a:prstGeom prst="rect">
            <a:avLst/>
          </a:prstGeom>
          <a:noFill/>
          <a:ln/>
        </p:spPr>
        <p:txBody>
          <a:bodyPr wrap="square" lIns="0" tIns="0" rIns="0" bIns="0" rtlCol="0" anchor="ctr">
            <a:normAutofit/>
          </a:bodyPr>
          <a:lstStyle/>
          <a:p>
            <a:pPr algn="l" indent="0" marL="0">
              <a:buNone/>
            </a:pPr>
            <a:r>
              <a:rPr lang="en-US" sz="900" b="1" spc="120" kern="0" dirty="0">
                <a:solidFill>
                  <a:srgbClr val="667D75"/>
                </a:solidFill>
                <a:latin typeface="Aptos" pitchFamily="34" charset="0"/>
                <a:ea typeface="Aptos" pitchFamily="34" charset="-122"/>
                <a:cs typeface="Aptos" pitchFamily="34" charset="-120"/>
              </a:rPr>
              <a:t>FORECAST ERROR — LOWER IS BETTER</a:t>
            </a:r>
            <a:endParaRPr lang="en-US" sz="900" dirty="0"/>
          </a:p>
        </p:txBody>
      </p:sp>
      <p:sp>
        <p:nvSpPr>
          <p:cNvPr id="7" name="Text 5"/>
          <p:cNvSpPr/>
          <p:nvPr/>
        </p:nvSpPr>
        <p:spPr>
          <a:xfrm>
            <a:off x="896112" y="2871216"/>
            <a:ext cx="594360" cy="228600"/>
          </a:xfrm>
          <a:prstGeom prst="rect">
            <a:avLst/>
          </a:prstGeom>
          <a:noFill/>
          <a:ln/>
        </p:spPr>
        <p:txBody>
          <a:bodyPr wrap="square" lIns="0" tIns="0" rIns="0" bIns="0" rtlCol="0" anchor="ctr">
            <a:normAutofit/>
          </a:bodyPr>
          <a:lstStyle/>
          <a:p>
            <a:pPr algn="l" indent="0" marL="0">
              <a:buNone/>
            </a:pPr>
            <a:r>
              <a:rPr lang="en-US" sz="1000" b="1" dirty="0">
                <a:solidFill>
                  <a:srgbClr val="15352C"/>
                </a:solidFill>
                <a:latin typeface="Aptos" pitchFamily="34" charset="0"/>
                <a:ea typeface="Aptos" pitchFamily="34" charset="-122"/>
                <a:cs typeface="Aptos" pitchFamily="34" charset="-120"/>
              </a:rPr>
              <a:t>MAE</a:t>
            </a:r>
            <a:endParaRPr lang="en-US" sz="1000" dirty="0"/>
          </a:p>
        </p:txBody>
      </p:sp>
      <p:sp>
        <p:nvSpPr>
          <p:cNvPr id="8" name="Text 6"/>
          <p:cNvSpPr/>
          <p:nvPr/>
        </p:nvSpPr>
        <p:spPr>
          <a:xfrm>
            <a:off x="1554480" y="2852928"/>
            <a:ext cx="1188720" cy="228600"/>
          </a:xfrm>
          <a:prstGeom prst="rect">
            <a:avLst/>
          </a:prstGeom>
          <a:noFill/>
          <a:ln/>
        </p:spPr>
        <p:txBody>
          <a:bodyPr wrap="square" lIns="0" tIns="0" rIns="0" bIns="0" rtlCol="0" anchor="ctr">
            <a:normAutofit/>
          </a:bodyPr>
          <a:lstStyle/>
          <a:p>
            <a:pPr algn="l" indent="0" marL="0">
              <a:buNone/>
            </a:pPr>
            <a:r>
              <a:rPr lang="en-US" sz="1000" dirty="0">
                <a:solidFill>
                  <a:srgbClr val="667D75"/>
                </a:solidFill>
                <a:latin typeface="Aptos" pitchFamily="34" charset="0"/>
                <a:ea typeface="Aptos" pitchFamily="34" charset="-122"/>
                <a:cs typeface="Aptos" pitchFamily="34" charset="-120"/>
              </a:rPr>
              <a:t>7-day velocity</a:t>
            </a:r>
            <a:endParaRPr lang="en-US" sz="1000" dirty="0"/>
          </a:p>
        </p:txBody>
      </p:sp>
      <p:sp>
        <p:nvSpPr>
          <p:cNvPr id="9" name="Shape 7"/>
          <p:cNvSpPr/>
          <p:nvPr/>
        </p:nvSpPr>
        <p:spPr>
          <a:xfrm>
            <a:off x="2788920" y="2862072"/>
            <a:ext cx="2514600" cy="246888"/>
          </a:xfrm>
          <a:prstGeom prst="roundRect">
            <a:avLst>
              <a:gd name="adj" fmla="val 37037"/>
            </a:avLst>
          </a:prstGeom>
          <a:solidFill>
            <a:srgbClr val="F97316"/>
          </a:solidFill>
          <a:ln w="12700">
            <a:solidFill>
              <a:srgbClr val="F97316">
                <a:alpha val="0"/>
              </a:srgbClr>
            </a:solidFill>
            <a:prstDash val="solid"/>
          </a:ln>
        </p:spPr>
      </p:sp>
      <p:sp>
        <p:nvSpPr>
          <p:cNvPr id="10" name="Text 8"/>
          <p:cNvSpPr/>
          <p:nvPr/>
        </p:nvSpPr>
        <p:spPr>
          <a:xfrm>
            <a:off x="5413248" y="2798064"/>
            <a:ext cx="530352" cy="347472"/>
          </a:xfrm>
          <a:prstGeom prst="rect">
            <a:avLst/>
          </a:prstGeom>
          <a:noFill/>
          <a:ln/>
        </p:spPr>
        <p:txBody>
          <a:bodyPr wrap="square" lIns="0" tIns="0" rIns="0" bIns="0" rtlCol="0" anchor="ctr">
            <a:normAutofit/>
          </a:bodyPr>
          <a:lstStyle/>
          <a:p>
            <a:pPr algn="r" indent="0" marL="0">
              <a:buNone/>
            </a:pPr>
            <a:r>
              <a:rPr lang="en-US" sz="1400" b="1" dirty="0">
                <a:solidFill>
                  <a:srgbClr val="F97316"/>
                </a:solidFill>
                <a:latin typeface="Aptos" pitchFamily="34" charset="0"/>
                <a:ea typeface="Aptos" pitchFamily="34" charset="-122"/>
                <a:cs typeface="Aptos" pitchFamily="34" charset="-120"/>
              </a:rPr>
              <a:t>6.332</a:t>
            </a:r>
            <a:endParaRPr lang="en-US" sz="1400" dirty="0"/>
          </a:p>
        </p:txBody>
      </p:sp>
      <p:sp>
        <p:nvSpPr>
          <p:cNvPr id="11" name="Text 9"/>
          <p:cNvSpPr/>
          <p:nvPr/>
        </p:nvSpPr>
        <p:spPr>
          <a:xfrm>
            <a:off x="1554480" y="3337560"/>
            <a:ext cx="1188720" cy="228600"/>
          </a:xfrm>
          <a:prstGeom prst="rect">
            <a:avLst/>
          </a:prstGeom>
          <a:noFill/>
          <a:ln/>
        </p:spPr>
        <p:txBody>
          <a:bodyPr wrap="square" lIns="0" tIns="0" rIns="0" bIns="0" rtlCol="0" anchor="ctr">
            <a:normAutofit/>
          </a:bodyPr>
          <a:lstStyle/>
          <a:p>
            <a:pPr algn="l" indent="0" marL="0">
              <a:buNone/>
            </a:pPr>
            <a:r>
              <a:rPr lang="en-US" sz="1000" b="1" dirty="0">
                <a:solidFill>
                  <a:srgbClr val="7C3AED"/>
                </a:solidFill>
                <a:latin typeface="Aptos" pitchFamily="34" charset="0"/>
                <a:ea typeface="Aptos" pitchFamily="34" charset="-122"/>
                <a:cs typeface="Aptos" pitchFamily="34" charset="-120"/>
              </a:rPr>
              <a:t>XGBoost</a:t>
            </a:r>
            <a:endParaRPr lang="en-US" sz="1000" dirty="0"/>
          </a:p>
        </p:txBody>
      </p:sp>
      <p:sp>
        <p:nvSpPr>
          <p:cNvPr id="12" name="Shape 10"/>
          <p:cNvSpPr/>
          <p:nvPr/>
        </p:nvSpPr>
        <p:spPr>
          <a:xfrm>
            <a:off x="2788920" y="3346704"/>
            <a:ext cx="832104" cy="246888"/>
          </a:xfrm>
          <a:prstGeom prst="roundRect">
            <a:avLst>
              <a:gd name="adj" fmla="val 37037"/>
            </a:avLst>
          </a:prstGeom>
          <a:solidFill>
            <a:srgbClr val="7C3AED"/>
          </a:solidFill>
          <a:ln w="12700">
            <a:solidFill>
              <a:srgbClr val="7C3AED">
                <a:alpha val="0"/>
              </a:srgbClr>
            </a:solidFill>
            <a:prstDash val="solid"/>
          </a:ln>
        </p:spPr>
      </p:sp>
      <p:sp>
        <p:nvSpPr>
          <p:cNvPr id="13" name="Text 11"/>
          <p:cNvSpPr/>
          <p:nvPr/>
        </p:nvSpPr>
        <p:spPr>
          <a:xfrm>
            <a:off x="5413248" y="3282696"/>
            <a:ext cx="530352" cy="347472"/>
          </a:xfrm>
          <a:prstGeom prst="rect">
            <a:avLst/>
          </a:prstGeom>
          <a:noFill/>
          <a:ln/>
        </p:spPr>
        <p:txBody>
          <a:bodyPr wrap="square" lIns="0" tIns="0" rIns="0" bIns="0" rtlCol="0" anchor="ctr">
            <a:normAutofit/>
          </a:bodyPr>
          <a:lstStyle/>
          <a:p>
            <a:pPr algn="r" indent="0" marL="0">
              <a:buNone/>
            </a:pPr>
            <a:r>
              <a:rPr lang="en-US" sz="1400" b="1" dirty="0">
                <a:solidFill>
                  <a:srgbClr val="7C3AED"/>
                </a:solidFill>
                <a:latin typeface="Aptos" pitchFamily="34" charset="0"/>
                <a:ea typeface="Aptos" pitchFamily="34" charset="-122"/>
                <a:cs typeface="Aptos" pitchFamily="34" charset="-120"/>
              </a:rPr>
              <a:t>2.097</a:t>
            </a:r>
            <a:endParaRPr lang="en-US" sz="1400" dirty="0"/>
          </a:p>
        </p:txBody>
      </p:sp>
      <p:sp>
        <p:nvSpPr>
          <p:cNvPr id="14" name="Shape 12"/>
          <p:cNvSpPr/>
          <p:nvPr/>
        </p:nvSpPr>
        <p:spPr>
          <a:xfrm>
            <a:off x="896112" y="3913632"/>
            <a:ext cx="5010912" cy="0"/>
          </a:xfrm>
          <a:prstGeom prst="line">
            <a:avLst/>
          </a:prstGeom>
          <a:noFill/>
          <a:ln w="15240">
            <a:solidFill>
              <a:srgbClr val="D9E3DD"/>
            </a:solidFill>
            <a:prstDash val="solid"/>
          </a:ln>
        </p:spPr>
      </p:sp>
      <p:sp>
        <p:nvSpPr>
          <p:cNvPr id="15" name="Text 13"/>
          <p:cNvSpPr/>
          <p:nvPr/>
        </p:nvSpPr>
        <p:spPr>
          <a:xfrm>
            <a:off x="896112" y="4224528"/>
            <a:ext cx="594360" cy="228600"/>
          </a:xfrm>
          <a:prstGeom prst="rect">
            <a:avLst/>
          </a:prstGeom>
          <a:noFill/>
          <a:ln/>
        </p:spPr>
        <p:txBody>
          <a:bodyPr wrap="square" lIns="0" tIns="0" rIns="0" bIns="0" rtlCol="0" anchor="ctr">
            <a:normAutofit/>
          </a:bodyPr>
          <a:lstStyle/>
          <a:p>
            <a:pPr algn="l" indent="0" marL="0">
              <a:buNone/>
            </a:pPr>
            <a:r>
              <a:rPr lang="en-US" sz="1000" b="1" dirty="0">
                <a:solidFill>
                  <a:srgbClr val="15352C"/>
                </a:solidFill>
                <a:latin typeface="Aptos" pitchFamily="34" charset="0"/>
                <a:ea typeface="Aptos" pitchFamily="34" charset="-122"/>
                <a:cs typeface="Aptos" pitchFamily="34" charset="-120"/>
              </a:rPr>
              <a:t>WAPE</a:t>
            </a:r>
            <a:endParaRPr lang="en-US" sz="1000" dirty="0"/>
          </a:p>
        </p:txBody>
      </p:sp>
      <p:sp>
        <p:nvSpPr>
          <p:cNvPr id="16" name="Text 14"/>
          <p:cNvSpPr/>
          <p:nvPr/>
        </p:nvSpPr>
        <p:spPr>
          <a:xfrm>
            <a:off x="1554480" y="4215384"/>
            <a:ext cx="1188720" cy="228600"/>
          </a:xfrm>
          <a:prstGeom prst="rect">
            <a:avLst/>
          </a:prstGeom>
          <a:noFill/>
          <a:ln/>
        </p:spPr>
        <p:txBody>
          <a:bodyPr wrap="square" lIns="0" tIns="0" rIns="0" bIns="0" rtlCol="0" anchor="ctr">
            <a:normAutofit/>
          </a:bodyPr>
          <a:lstStyle/>
          <a:p>
            <a:pPr algn="l" indent="0" marL="0">
              <a:buNone/>
            </a:pPr>
            <a:r>
              <a:rPr lang="en-US" sz="1000" dirty="0">
                <a:solidFill>
                  <a:srgbClr val="667D75"/>
                </a:solidFill>
                <a:latin typeface="Aptos" pitchFamily="34" charset="0"/>
                <a:ea typeface="Aptos" pitchFamily="34" charset="-122"/>
                <a:cs typeface="Aptos" pitchFamily="34" charset="-120"/>
              </a:rPr>
              <a:t>7-day velocity</a:t>
            </a:r>
            <a:endParaRPr lang="en-US" sz="1000" dirty="0"/>
          </a:p>
        </p:txBody>
      </p:sp>
      <p:sp>
        <p:nvSpPr>
          <p:cNvPr id="17" name="Shape 15"/>
          <p:cNvSpPr/>
          <p:nvPr/>
        </p:nvSpPr>
        <p:spPr>
          <a:xfrm>
            <a:off x="2788920" y="4224528"/>
            <a:ext cx="2514600" cy="246888"/>
          </a:xfrm>
          <a:prstGeom prst="roundRect">
            <a:avLst>
              <a:gd name="adj" fmla="val 37037"/>
            </a:avLst>
          </a:prstGeom>
          <a:solidFill>
            <a:srgbClr val="F97316"/>
          </a:solidFill>
          <a:ln w="12700">
            <a:solidFill>
              <a:srgbClr val="F97316">
                <a:alpha val="0"/>
              </a:srgbClr>
            </a:solidFill>
            <a:prstDash val="solid"/>
          </a:ln>
        </p:spPr>
      </p:sp>
      <p:sp>
        <p:nvSpPr>
          <p:cNvPr id="18" name="Text 16"/>
          <p:cNvSpPr/>
          <p:nvPr/>
        </p:nvSpPr>
        <p:spPr>
          <a:xfrm>
            <a:off x="5349240" y="4160520"/>
            <a:ext cx="594360" cy="347472"/>
          </a:xfrm>
          <a:prstGeom prst="rect">
            <a:avLst/>
          </a:prstGeom>
          <a:noFill/>
          <a:ln/>
        </p:spPr>
        <p:txBody>
          <a:bodyPr wrap="square" lIns="0" tIns="0" rIns="0" bIns="0" rtlCol="0" anchor="ctr">
            <a:normAutofit/>
          </a:bodyPr>
          <a:lstStyle/>
          <a:p>
            <a:pPr algn="r" indent="0" marL="0">
              <a:buNone/>
            </a:pPr>
            <a:r>
              <a:rPr lang="en-US" sz="1400" b="1" dirty="0">
                <a:solidFill>
                  <a:srgbClr val="F97316"/>
                </a:solidFill>
                <a:latin typeface="Aptos" pitchFamily="34" charset="0"/>
                <a:ea typeface="Aptos" pitchFamily="34" charset="-122"/>
                <a:cs typeface="Aptos" pitchFamily="34" charset="-120"/>
              </a:rPr>
              <a:t>27.9%</a:t>
            </a:r>
            <a:endParaRPr lang="en-US" sz="1400" dirty="0"/>
          </a:p>
        </p:txBody>
      </p:sp>
      <p:sp>
        <p:nvSpPr>
          <p:cNvPr id="19" name="Text 17"/>
          <p:cNvSpPr/>
          <p:nvPr/>
        </p:nvSpPr>
        <p:spPr>
          <a:xfrm>
            <a:off x="1554480" y="4709160"/>
            <a:ext cx="1188720" cy="228600"/>
          </a:xfrm>
          <a:prstGeom prst="rect">
            <a:avLst/>
          </a:prstGeom>
          <a:noFill/>
          <a:ln/>
        </p:spPr>
        <p:txBody>
          <a:bodyPr wrap="square" lIns="0" tIns="0" rIns="0" bIns="0" rtlCol="0" anchor="ctr">
            <a:normAutofit/>
          </a:bodyPr>
          <a:lstStyle/>
          <a:p>
            <a:pPr algn="l" indent="0" marL="0">
              <a:buNone/>
            </a:pPr>
            <a:r>
              <a:rPr lang="en-US" sz="1000" b="1" dirty="0">
                <a:solidFill>
                  <a:srgbClr val="7C3AED"/>
                </a:solidFill>
                <a:latin typeface="Aptos" pitchFamily="34" charset="0"/>
                <a:ea typeface="Aptos" pitchFamily="34" charset="-122"/>
                <a:cs typeface="Aptos" pitchFamily="34" charset="-120"/>
              </a:rPr>
              <a:t>XGBoost</a:t>
            </a:r>
            <a:endParaRPr lang="en-US" sz="1000" dirty="0"/>
          </a:p>
        </p:txBody>
      </p:sp>
      <p:sp>
        <p:nvSpPr>
          <p:cNvPr id="20" name="Shape 18"/>
          <p:cNvSpPr/>
          <p:nvPr/>
        </p:nvSpPr>
        <p:spPr>
          <a:xfrm>
            <a:off x="2788920" y="4718304"/>
            <a:ext cx="832104" cy="246888"/>
          </a:xfrm>
          <a:prstGeom prst="roundRect">
            <a:avLst>
              <a:gd name="adj" fmla="val 37037"/>
            </a:avLst>
          </a:prstGeom>
          <a:solidFill>
            <a:srgbClr val="7C3AED"/>
          </a:solidFill>
          <a:ln w="12700">
            <a:solidFill>
              <a:srgbClr val="7C3AED">
                <a:alpha val="0"/>
              </a:srgbClr>
            </a:solidFill>
            <a:prstDash val="solid"/>
          </a:ln>
        </p:spPr>
      </p:sp>
      <p:sp>
        <p:nvSpPr>
          <p:cNvPr id="21" name="Text 19"/>
          <p:cNvSpPr/>
          <p:nvPr/>
        </p:nvSpPr>
        <p:spPr>
          <a:xfrm>
            <a:off x="5349240" y="4654296"/>
            <a:ext cx="594360" cy="347472"/>
          </a:xfrm>
          <a:prstGeom prst="rect">
            <a:avLst/>
          </a:prstGeom>
          <a:noFill/>
          <a:ln/>
        </p:spPr>
        <p:txBody>
          <a:bodyPr wrap="square" lIns="0" tIns="0" rIns="0" bIns="0" rtlCol="0" anchor="ctr">
            <a:normAutofit/>
          </a:bodyPr>
          <a:lstStyle/>
          <a:p>
            <a:pPr algn="r" indent="0" marL="0">
              <a:buNone/>
            </a:pPr>
            <a:r>
              <a:rPr lang="en-US" sz="1400" b="1" dirty="0">
                <a:solidFill>
                  <a:srgbClr val="7C3AED"/>
                </a:solidFill>
                <a:latin typeface="Aptos" pitchFamily="34" charset="0"/>
                <a:ea typeface="Aptos" pitchFamily="34" charset="-122"/>
                <a:cs typeface="Aptos" pitchFamily="34" charset="-120"/>
              </a:rPr>
              <a:t>9.2%</a:t>
            </a:r>
            <a:endParaRPr lang="en-US" sz="1400" dirty="0"/>
          </a:p>
        </p:txBody>
      </p:sp>
      <p:sp>
        <p:nvSpPr>
          <p:cNvPr id="22" name="Shape 20"/>
          <p:cNvSpPr/>
          <p:nvPr/>
        </p:nvSpPr>
        <p:spPr>
          <a:xfrm>
            <a:off x="6446520" y="2057400"/>
            <a:ext cx="5120640" cy="3611880"/>
          </a:xfrm>
          <a:prstGeom prst="roundRect">
            <a:avLst>
              <a:gd name="adj" fmla="val 6076"/>
            </a:avLst>
          </a:prstGeom>
          <a:solidFill>
            <a:srgbClr val="173D31"/>
          </a:solidFill>
          <a:ln w="12700">
            <a:solidFill>
              <a:srgbClr val="173D31">
                <a:alpha val="0"/>
              </a:srgbClr>
            </a:solidFill>
            <a:prstDash val="solid"/>
          </a:ln>
          <a:effectLst>
            <a:outerShdw sx="100000" sy="100000" kx="0" ky="0" algn="bl" rotWithShape="0" blurRad="2.183067706146787e+41" dist="4.366135412293574e+41" dir="2.72097792e+49">
              <a:srgbClr val="0A241C">
                <a:alpha val="1.3e+49"/>
              </a:srgbClr>
            </a:outerShdw>
          </a:effectLst>
        </p:spPr>
      </p:sp>
      <p:sp>
        <p:nvSpPr>
          <p:cNvPr id="23" name="Shape 21"/>
          <p:cNvSpPr/>
          <p:nvPr/>
        </p:nvSpPr>
        <p:spPr>
          <a:xfrm>
            <a:off x="6784848" y="2359152"/>
            <a:ext cx="1554480" cy="292608"/>
          </a:xfrm>
          <a:prstGeom prst="roundRect">
            <a:avLst>
              <a:gd name="adj" fmla="val 50000"/>
            </a:avLst>
          </a:prstGeom>
          <a:solidFill>
            <a:srgbClr val="2B5548"/>
          </a:solidFill>
          <a:ln w="12700">
            <a:solidFill>
              <a:srgbClr val="2B5548">
                <a:alpha val="0"/>
              </a:srgbClr>
            </a:solidFill>
            <a:prstDash val="solid"/>
          </a:ln>
        </p:spPr>
      </p:sp>
      <p:sp>
        <p:nvSpPr>
          <p:cNvPr id="24" name="Text 22"/>
          <p:cNvSpPr/>
          <p:nvPr/>
        </p:nvSpPr>
        <p:spPr>
          <a:xfrm>
            <a:off x="6858000" y="2359152"/>
            <a:ext cx="1408176" cy="292608"/>
          </a:xfrm>
          <a:prstGeom prst="rect">
            <a:avLst/>
          </a:prstGeom>
          <a:noFill/>
          <a:ln/>
        </p:spPr>
        <p:txBody>
          <a:bodyPr wrap="square" lIns="0" tIns="0" rIns="0" bIns="0" rtlCol="0" anchor="ctr">
            <a:normAutofit/>
          </a:bodyPr>
          <a:lstStyle/>
          <a:p>
            <a:pPr algn="ctr" indent="0" marL="0">
              <a:buNone/>
            </a:pPr>
            <a:r>
              <a:rPr lang="en-US" sz="900" b="1" dirty="0">
                <a:solidFill>
                  <a:srgbClr val="BEF264"/>
                </a:solidFill>
                <a:latin typeface="Aptos" pitchFamily="34" charset="0"/>
                <a:ea typeface="Aptos" pitchFamily="34" charset="-122"/>
                <a:cs typeface="Aptos" pitchFamily="34" charset="-120"/>
              </a:rPr>
              <a:t>EXPLAINABLE OUTPUT</a:t>
            </a:r>
            <a:endParaRPr lang="en-US" sz="900" dirty="0"/>
          </a:p>
        </p:txBody>
      </p:sp>
      <p:sp>
        <p:nvSpPr>
          <p:cNvPr id="25" name="Text 23"/>
          <p:cNvSpPr/>
          <p:nvPr/>
        </p:nvSpPr>
        <p:spPr>
          <a:xfrm>
            <a:off x="6784848" y="2852928"/>
            <a:ext cx="3246120" cy="347472"/>
          </a:xfrm>
          <a:prstGeom prst="rect">
            <a:avLst/>
          </a:prstGeom>
          <a:noFill/>
          <a:ln/>
        </p:spPr>
        <p:txBody>
          <a:bodyPr wrap="square" lIns="0" tIns="0" rIns="0" bIns="0" rtlCol="0" anchor="ctr">
            <a:normAutofit/>
          </a:bodyPr>
          <a:lstStyle/>
          <a:p>
            <a:pPr algn="l" indent="0" marL="0">
              <a:buNone/>
            </a:pPr>
            <a:r>
              <a:rPr lang="en-US" sz="2200" b="1" dirty="0">
                <a:solidFill>
                  <a:srgbClr val="FFFFFF"/>
                </a:solidFill>
                <a:latin typeface="Aptos Display" pitchFamily="34" charset="0"/>
                <a:ea typeface="Aptos Display" pitchFamily="34" charset="-122"/>
                <a:cs typeface="Aptos Display" pitchFamily="34" charset="-120"/>
              </a:rPr>
              <a:t>One candidate prediction</a:t>
            </a:r>
            <a:endParaRPr lang="en-US" sz="2200" dirty="0"/>
          </a:p>
        </p:txBody>
      </p:sp>
      <p:sp>
        <p:nvSpPr>
          <p:cNvPr id="26" name="Shape 24"/>
          <p:cNvSpPr/>
          <p:nvPr/>
        </p:nvSpPr>
        <p:spPr>
          <a:xfrm>
            <a:off x="6784848" y="3419856"/>
            <a:ext cx="1316736" cy="960120"/>
          </a:xfrm>
          <a:prstGeom prst="roundRect">
            <a:avLst>
              <a:gd name="adj" fmla="val 17143"/>
            </a:avLst>
          </a:prstGeom>
          <a:solidFill>
            <a:srgbClr val="2B5548"/>
          </a:solidFill>
          <a:ln w="12700">
            <a:solidFill>
              <a:srgbClr val="2B5548">
                <a:alpha val="0"/>
              </a:srgbClr>
            </a:solidFill>
            <a:prstDash val="solid"/>
          </a:ln>
        </p:spPr>
      </p:sp>
      <p:sp>
        <p:nvSpPr>
          <p:cNvPr id="27" name="Text 25"/>
          <p:cNvSpPr/>
          <p:nvPr/>
        </p:nvSpPr>
        <p:spPr>
          <a:xfrm>
            <a:off x="6949440" y="3547872"/>
            <a:ext cx="987552" cy="384048"/>
          </a:xfrm>
          <a:prstGeom prst="rect">
            <a:avLst/>
          </a:prstGeom>
          <a:noFill/>
          <a:ln/>
        </p:spPr>
        <p:txBody>
          <a:bodyPr wrap="square" lIns="0" tIns="0" rIns="0" bIns="0" rtlCol="0" anchor="ctr">
            <a:normAutofit/>
          </a:bodyPr>
          <a:lstStyle/>
          <a:p>
            <a:pPr algn="l" indent="0" marL="0">
              <a:buNone/>
            </a:pPr>
            <a:r>
              <a:rPr lang="en-US" sz="2300" b="1" dirty="0">
                <a:solidFill>
                  <a:srgbClr val="FFFFFF"/>
                </a:solidFill>
                <a:latin typeface="Aptos Display" pitchFamily="34" charset="0"/>
                <a:ea typeface="Aptos Display" pitchFamily="34" charset="-122"/>
                <a:cs typeface="Aptos Display" pitchFamily="34" charset="-120"/>
              </a:rPr>
              <a:t>0</a:t>
            </a:r>
            <a:endParaRPr lang="en-US" sz="2300" dirty="0"/>
          </a:p>
        </p:txBody>
      </p:sp>
      <p:sp>
        <p:nvSpPr>
          <p:cNvPr id="28" name="Text 26"/>
          <p:cNvSpPr/>
          <p:nvPr/>
        </p:nvSpPr>
        <p:spPr>
          <a:xfrm>
            <a:off x="6949440" y="3986784"/>
            <a:ext cx="987552" cy="219456"/>
          </a:xfrm>
          <a:prstGeom prst="rect">
            <a:avLst/>
          </a:prstGeom>
          <a:noFill/>
          <a:ln/>
        </p:spPr>
        <p:txBody>
          <a:bodyPr wrap="square" lIns="0" tIns="0" rIns="0" bIns="0" rtlCol="0" anchor="ctr">
            <a:normAutofit/>
          </a:bodyPr>
          <a:lstStyle/>
          <a:p>
            <a:pPr algn="l" indent="0" marL="0">
              <a:buNone/>
            </a:pPr>
            <a:r>
              <a:rPr lang="en-US" sz="900" b="1" dirty="0">
                <a:solidFill>
                  <a:srgbClr val="FFFFFF">
                    <a:alpha val="75000"/>
                  </a:srgbClr>
                </a:solidFill>
                <a:latin typeface="Aptos" pitchFamily="34" charset="0"/>
                <a:ea typeface="Aptos" pitchFamily="34" charset="-122"/>
                <a:cs typeface="Aptos" pitchFamily="34" charset="-120"/>
              </a:rPr>
              <a:t>LOW</a:t>
            </a:r>
            <a:endParaRPr lang="en-US" sz="900" dirty="0"/>
          </a:p>
        </p:txBody>
      </p:sp>
      <p:sp>
        <p:nvSpPr>
          <p:cNvPr id="29" name="Shape 27"/>
          <p:cNvSpPr/>
          <p:nvPr/>
        </p:nvSpPr>
        <p:spPr>
          <a:xfrm>
            <a:off x="8229600" y="3419856"/>
            <a:ext cx="1316736" cy="960120"/>
          </a:xfrm>
          <a:prstGeom prst="roundRect">
            <a:avLst>
              <a:gd name="adj" fmla="val 17143"/>
            </a:avLst>
          </a:prstGeom>
          <a:solidFill>
            <a:srgbClr val="2B5548"/>
          </a:solidFill>
          <a:ln w="12700">
            <a:solidFill>
              <a:srgbClr val="2B5548">
                <a:alpha val="0"/>
              </a:srgbClr>
            </a:solidFill>
            <a:prstDash val="solid"/>
          </a:ln>
        </p:spPr>
      </p:sp>
      <p:sp>
        <p:nvSpPr>
          <p:cNvPr id="30" name="Text 28"/>
          <p:cNvSpPr/>
          <p:nvPr/>
        </p:nvSpPr>
        <p:spPr>
          <a:xfrm>
            <a:off x="8394192" y="3547872"/>
            <a:ext cx="987552" cy="384048"/>
          </a:xfrm>
          <a:prstGeom prst="rect">
            <a:avLst/>
          </a:prstGeom>
          <a:noFill/>
          <a:ln/>
        </p:spPr>
        <p:txBody>
          <a:bodyPr wrap="square" lIns="0" tIns="0" rIns="0" bIns="0" rtlCol="0" anchor="ctr">
            <a:normAutofit/>
          </a:bodyPr>
          <a:lstStyle/>
          <a:p>
            <a:pPr algn="l" indent="0" marL="0">
              <a:buNone/>
            </a:pPr>
            <a:r>
              <a:rPr lang="en-US" sz="2300" b="1" dirty="0">
                <a:solidFill>
                  <a:srgbClr val="FFFFFF"/>
                </a:solidFill>
                <a:latin typeface="Aptos Display" pitchFamily="34" charset="0"/>
                <a:ea typeface="Aptos Display" pitchFamily="34" charset="-122"/>
                <a:cs typeface="Aptos Display" pitchFamily="34" charset="-120"/>
              </a:rPr>
              <a:t>2.6</a:t>
            </a:r>
            <a:endParaRPr lang="en-US" sz="2300" dirty="0"/>
          </a:p>
        </p:txBody>
      </p:sp>
      <p:sp>
        <p:nvSpPr>
          <p:cNvPr id="31" name="Text 29"/>
          <p:cNvSpPr/>
          <p:nvPr/>
        </p:nvSpPr>
        <p:spPr>
          <a:xfrm>
            <a:off x="8394192" y="3986784"/>
            <a:ext cx="987552" cy="219456"/>
          </a:xfrm>
          <a:prstGeom prst="rect">
            <a:avLst/>
          </a:prstGeom>
          <a:noFill/>
          <a:ln/>
        </p:spPr>
        <p:txBody>
          <a:bodyPr wrap="square" lIns="0" tIns="0" rIns="0" bIns="0" rtlCol="0" anchor="ctr">
            <a:normAutofit/>
          </a:bodyPr>
          <a:lstStyle/>
          <a:p>
            <a:pPr algn="l" indent="0" marL="0">
              <a:buNone/>
            </a:pPr>
            <a:r>
              <a:rPr lang="en-US" sz="900" b="1" dirty="0">
                <a:solidFill>
                  <a:srgbClr val="FFFFFF">
                    <a:alpha val="75000"/>
                  </a:srgbClr>
                </a:solidFill>
                <a:latin typeface="Aptos" pitchFamily="34" charset="0"/>
                <a:ea typeface="Aptos" pitchFamily="34" charset="-122"/>
                <a:cs typeface="Aptos" pitchFamily="34" charset="-120"/>
              </a:rPr>
              <a:t>EXPECTED</a:t>
            </a:r>
            <a:endParaRPr lang="en-US" sz="900" dirty="0"/>
          </a:p>
        </p:txBody>
      </p:sp>
      <p:sp>
        <p:nvSpPr>
          <p:cNvPr id="32" name="Shape 30"/>
          <p:cNvSpPr/>
          <p:nvPr/>
        </p:nvSpPr>
        <p:spPr>
          <a:xfrm>
            <a:off x="9674352" y="3419856"/>
            <a:ext cx="1316736" cy="960120"/>
          </a:xfrm>
          <a:prstGeom prst="roundRect">
            <a:avLst>
              <a:gd name="adj" fmla="val 17143"/>
            </a:avLst>
          </a:prstGeom>
          <a:solidFill>
            <a:srgbClr val="2B5548"/>
          </a:solidFill>
          <a:ln w="12700">
            <a:solidFill>
              <a:srgbClr val="2B5548">
                <a:alpha val="0"/>
              </a:srgbClr>
            </a:solidFill>
            <a:prstDash val="solid"/>
          </a:ln>
        </p:spPr>
      </p:sp>
      <p:sp>
        <p:nvSpPr>
          <p:cNvPr id="33" name="Text 31"/>
          <p:cNvSpPr/>
          <p:nvPr/>
        </p:nvSpPr>
        <p:spPr>
          <a:xfrm>
            <a:off x="9838944" y="3547872"/>
            <a:ext cx="987552" cy="384048"/>
          </a:xfrm>
          <a:prstGeom prst="rect">
            <a:avLst/>
          </a:prstGeom>
          <a:noFill/>
          <a:ln/>
        </p:spPr>
        <p:txBody>
          <a:bodyPr wrap="square" lIns="0" tIns="0" rIns="0" bIns="0" rtlCol="0" anchor="ctr">
            <a:normAutofit/>
          </a:bodyPr>
          <a:lstStyle/>
          <a:p>
            <a:pPr algn="l" indent="0" marL="0">
              <a:buNone/>
            </a:pPr>
            <a:r>
              <a:rPr lang="en-US" sz="2300" b="1" dirty="0">
                <a:solidFill>
                  <a:srgbClr val="FFFFFF"/>
                </a:solidFill>
                <a:latin typeface="Aptos Display" pitchFamily="34" charset="0"/>
                <a:ea typeface="Aptos Display" pitchFamily="34" charset="-122"/>
                <a:cs typeface="Aptos Display" pitchFamily="34" charset="-120"/>
              </a:rPr>
              <a:t>5.8</a:t>
            </a:r>
            <a:endParaRPr lang="en-US" sz="2300" dirty="0"/>
          </a:p>
        </p:txBody>
      </p:sp>
      <p:sp>
        <p:nvSpPr>
          <p:cNvPr id="34" name="Text 32"/>
          <p:cNvSpPr/>
          <p:nvPr/>
        </p:nvSpPr>
        <p:spPr>
          <a:xfrm>
            <a:off x="9838944" y="3986784"/>
            <a:ext cx="987552" cy="219456"/>
          </a:xfrm>
          <a:prstGeom prst="rect">
            <a:avLst/>
          </a:prstGeom>
          <a:noFill/>
          <a:ln/>
        </p:spPr>
        <p:txBody>
          <a:bodyPr wrap="square" lIns="0" tIns="0" rIns="0" bIns="0" rtlCol="0" anchor="ctr">
            <a:normAutofit/>
          </a:bodyPr>
          <a:lstStyle/>
          <a:p>
            <a:pPr algn="l" indent="0" marL="0">
              <a:buNone/>
            </a:pPr>
            <a:r>
              <a:rPr lang="en-US" sz="900" b="1" dirty="0">
                <a:solidFill>
                  <a:srgbClr val="FFFFFF">
                    <a:alpha val="75000"/>
                  </a:srgbClr>
                </a:solidFill>
                <a:latin typeface="Aptos" pitchFamily="34" charset="0"/>
                <a:ea typeface="Aptos" pitchFamily="34" charset="-122"/>
                <a:cs typeface="Aptos" pitchFamily="34" charset="-120"/>
              </a:rPr>
              <a:t>HIGH</a:t>
            </a:r>
            <a:endParaRPr lang="en-US" sz="900" dirty="0"/>
          </a:p>
        </p:txBody>
      </p:sp>
      <p:sp>
        <p:nvSpPr>
          <p:cNvPr id="35" name="Text 33"/>
          <p:cNvSpPr/>
          <p:nvPr/>
        </p:nvSpPr>
        <p:spPr>
          <a:xfrm>
            <a:off x="6784848" y="4645152"/>
            <a:ext cx="2103120" cy="219456"/>
          </a:xfrm>
          <a:prstGeom prst="rect">
            <a:avLst/>
          </a:prstGeom>
          <a:noFill/>
          <a:ln/>
        </p:spPr>
        <p:txBody>
          <a:bodyPr wrap="square" lIns="0" tIns="0" rIns="0" bIns="0" rtlCol="0" anchor="ctr">
            <a:normAutofit/>
          </a:bodyPr>
          <a:lstStyle/>
          <a:p>
            <a:pPr algn="l" indent="0" marL="0">
              <a:buNone/>
            </a:pPr>
            <a:r>
              <a:rPr lang="en-US" sz="900" b="1" spc="80" kern="0" dirty="0">
                <a:solidFill>
                  <a:srgbClr val="BEF264"/>
                </a:solidFill>
                <a:latin typeface="Aptos" pitchFamily="34" charset="0"/>
                <a:ea typeface="Aptos" pitchFamily="34" charset="-122"/>
                <a:cs typeface="Aptos" pitchFamily="34" charset="-120"/>
              </a:rPr>
              <a:t>Top contributing factors</a:t>
            </a:r>
            <a:endParaRPr lang="en-US" sz="900" dirty="0"/>
          </a:p>
        </p:txBody>
      </p:sp>
      <p:sp>
        <p:nvSpPr>
          <p:cNvPr id="36" name="Text 34"/>
          <p:cNvSpPr/>
          <p:nvPr/>
        </p:nvSpPr>
        <p:spPr>
          <a:xfrm>
            <a:off x="6784848" y="4919472"/>
            <a:ext cx="3429000" cy="594360"/>
          </a:xfrm>
          <a:prstGeom prst="rect">
            <a:avLst/>
          </a:prstGeom>
          <a:noFill/>
          <a:ln/>
        </p:spPr>
        <p:txBody>
          <a:bodyPr wrap="square" lIns="0" tIns="0" rIns="0" bIns="0" rtlCol="0" anchor="t">
            <a:normAutofit/>
          </a:bodyPr>
          <a:lstStyle/>
          <a:p>
            <a:pPr algn="l" indent="0" marL="0">
              <a:buNone/>
            </a:pPr>
            <a:r>
              <a:rPr lang="en-US" sz="1050" dirty="0">
                <a:solidFill>
                  <a:srgbClr val="CAD9D3"/>
                </a:solidFill>
                <a:latin typeface="Aptos" pitchFamily="34" charset="0"/>
                <a:ea typeface="Aptos" pitchFamily="34" charset="-122"/>
                <a:cs typeface="Aptos" pitchFamily="34" charset="-120"/>
              </a:rPr>
              <a:t>1  Days until expiry</a:t>
            </a:r>
            <a:endParaRPr lang="en-US" sz="1050" dirty="0"/>
          </a:p>
          <a:p>
            <a:pPr algn="l" indent="0" marL="0">
              <a:buNone/>
            </a:pPr>
            <a:r>
              <a:rPr lang="en-US" sz="1050" dirty="0">
                <a:solidFill>
                  <a:srgbClr val="CAD9D3"/>
                </a:solidFill>
                <a:latin typeface="Aptos" pitchFamily="34" charset="0"/>
                <a:ea typeface="Aptos" pitchFamily="34" charset="-122"/>
                <a:cs typeface="Aptos" pitchFamily="34" charset="-120"/>
              </a:rPr>
              <a:t>2  Recent 7-day velocity</a:t>
            </a:r>
            <a:endParaRPr lang="en-US" sz="1050" dirty="0"/>
          </a:p>
          <a:p>
            <a:pPr algn="l" indent="0" marL="0">
              <a:buNone/>
            </a:pPr>
            <a:r>
              <a:rPr lang="en-US" sz="1050" dirty="0">
                <a:solidFill>
                  <a:srgbClr val="CAD9D3"/>
                </a:solidFill>
                <a:latin typeface="Aptos" pitchFamily="34" charset="0"/>
                <a:ea typeface="Aptos" pitchFamily="34" charset="-122"/>
                <a:cs typeface="Aptos" pitchFamily="34" charset="-120"/>
              </a:rPr>
              <a:t>3  Previous 23-day velocity</a:t>
            </a:r>
            <a:endParaRPr lang="en-US" sz="1050" dirty="0"/>
          </a:p>
        </p:txBody>
      </p:sp>
      <p:sp>
        <p:nvSpPr>
          <p:cNvPr id="37" name="Shape 35"/>
          <p:cNvSpPr/>
          <p:nvPr/>
        </p:nvSpPr>
        <p:spPr>
          <a:xfrm>
            <a:off x="1508760" y="5943600"/>
            <a:ext cx="9189720" cy="292608"/>
          </a:xfrm>
          <a:prstGeom prst="roundRect">
            <a:avLst>
              <a:gd name="adj" fmla="val 50000"/>
            </a:avLst>
          </a:prstGeom>
          <a:solidFill>
            <a:srgbClr val="FFF0E7"/>
          </a:solidFill>
          <a:ln w="12700">
            <a:solidFill>
              <a:srgbClr val="FFD4BD"/>
            </a:solidFill>
            <a:prstDash val="solid"/>
          </a:ln>
        </p:spPr>
      </p:sp>
      <p:sp>
        <p:nvSpPr>
          <p:cNvPr id="38" name="Text 36"/>
          <p:cNvSpPr/>
          <p:nvPr/>
        </p:nvSpPr>
        <p:spPr>
          <a:xfrm>
            <a:off x="1581912" y="5943600"/>
            <a:ext cx="9043416" cy="292608"/>
          </a:xfrm>
          <a:prstGeom prst="rect">
            <a:avLst/>
          </a:prstGeom>
          <a:noFill/>
          <a:ln/>
        </p:spPr>
        <p:txBody>
          <a:bodyPr wrap="square" lIns="0" tIns="0" rIns="0" bIns="0" rtlCol="0" anchor="ctr">
            <a:normAutofit/>
          </a:bodyPr>
          <a:lstStyle/>
          <a:p>
            <a:pPr algn="ctr" indent="0" marL="0">
              <a:buNone/>
            </a:pPr>
            <a:r>
              <a:rPr lang="en-US" sz="900" b="1" dirty="0">
                <a:solidFill>
                  <a:srgbClr val="F97316"/>
                </a:solidFill>
                <a:latin typeface="Aptos" pitchFamily="34" charset="0"/>
                <a:ea typeface="Aptos" pitchFamily="34" charset="-122"/>
                <a:cs typeface="Aptos" pitchFamily="34" charset="-120"/>
              </a:rPr>
              <a:t>SYNTHETIC EVALUATION — NO CAUSAL IMPACT CLAIM</a:t>
            </a:r>
            <a:endParaRPr lang="en-US" sz="900" dirty="0"/>
          </a:p>
        </p:txBody>
      </p:sp>
      <p:sp>
        <p:nvSpPr>
          <p:cNvPr id="39" name="Shape 37"/>
          <p:cNvSpPr/>
          <p:nvPr/>
        </p:nvSpPr>
        <p:spPr>
          <a:xfrm>
            <a:off x="502920" y="6419088"/>
            <a:ext cx="10744200" cy="0"/>
          </a:xfrm>
          <a:prstGeom prst="line">
            <a:avLst/>
          </a:prstGeom>
          <a:noFill/>
          <a:ln w="10160">
            <a:solidFill>
              <a:srgbClr val="D9E3DD"/>
            </a:solidFill>
            <a:prstDash val="solid"/>
          </a:ln>
        </p:spPr>
      </p:sp>
      <p:sp>
        <p:nvSpPr>
          <p:cNvPr id="40" name="Text 38"/>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10B981"/>
                </a:solidFill>
                <a:latin typeface="Aptos" pitchFamily="34" charset="0"/>
                <a:ea typeface="Aptos" pitchFamily="34" charset="-122"/>
                <a:cs typeface="Aptos" pitchFamily="34" charset="-120"/>
              </a:rPr>
              <a:t>FRESHSAVER</a:t>
            </a:r>
            <a:endParaRPr lang="en-US" sz="750" dirty="0"/>
          </a:p>
        </p:txBody>
      </p:sp>
      <p:sp>
        <p:nvSpPr>
          <p:cNvPr id="41" name="Text 39"/>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82938D"/>
                </a:solidFill>
                <a:latin typeface="Aptos" pitchFamily="34" charset="0"/>
                <a:ea typeface="Aptos" pitchFamily="34" charset="-122"/>
                <a:cs typeface="Aptos" pitchFamily="34" charset="-120"/>
              </a:rPr>
              <a:t>Innovation &amp; technical evidence</a:t>
            </a:r>
            <a:endParaRPr lang="en-US" sz="750" dirty="0"/>
          </a:p>
        </p:txBody>
      </p:sp>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82938D"/>
                </a:solidFill>
                <a:latin typeface="Aptos"/>
                <a:ea typeface="Aptos"/>
                <a:cs typeface="Apto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10B981"/>
                </a:solidFill>
                <a:latin typeface="Aptos" pitchFamily="34" charset="0"/>
                <a:ea typeface="Aptos" pitchFamily="34" charset="-122"/>
                <a:cs typeface="Aptos" pitchFamily="34" charset="-120"/>
              </a:rPr>
              <a:t>TRUST BY DESIGN</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15352C"/>
                </a:solidFill>
                <a:latin typeface="Aptos Display" pitchFamily="34" charset="0"/>
                <a:ea typeface="Aptos Display" pitchFamily="34" charset="-122"/>
                <a:cs typeface="Aptos Display" pitchFamily="34" charset="-120"/>
              </a:rPr>
              <a:t>Every recommendation is inspectable — and reversible.</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667D75"/>
                </a:solidFill>
                <a:latin typeface="Aptos" pitchFamily="34" charset="0"/>
                <a:ea typeface="Aptos" pitchFamily="34" charset="-122"/>
                <a:cs typeface="Aptos" pitchFamily="34" charset="-120"/>
              </a:rPr>
              <a:t>No silent price change. No black-box confidence. No customer identity in pricing.</a:t>
            </a:r>
            <a:endParaRPr lang="en-US" sz="1250" dirty="0"/>
          </a:p>
        </p:txBody>
      </p:sp>
      <p:sp>
        <p:nvSpPr>
          <p:cNvPr id="5" name="Shape 3"/>
          <p:cNvSpPr/>
          <p:nvPr/>
        </p:nvSpPr>
        <p:spPr>
          <a:xfrm>
            <a:off x="594360" y="2011680"/>
            <a:ext cx="5989320" cy="3767328"/>
          </a:xfrm>
          <a:prstGeom prst="roundRect">
            <a:avLst>
              <a:gd name="adj" fmla="val 5825"/>
            </a:avLst>
          </a:prstGeom>
          <a:solidFill>
            <a:srgbClr val="FFFFFF"/>
          </a:solidFill>
          <a:ln w="12700">
            <a:solidFill>
              <a:srgbClr val="D9E3DD"/>
            </a:solidFill>
            <a:prstDash val="solid"/>
          </a:ln>
          <a:effectLst>
            <a:outerShdw sx="100000" sy="100000" kx="0" ky="0" algn="bl" rotWithShape="0" blurRad="2.7724959868064195e+45" dist="5.544991973612839e+45" dir="1.6325867520000003e+54">
              <a:srgbClr val="0A241C">
                <a:alpha val="1.2999999999999999e+54"/>
              </a:srgbClr>
            </a:outerShdw>
          </a:effectLst>
        </p:spPr>
      </p:sp>
      <p:sp>
        <p:nvSpPr>
          <p:cNvPr id="6" name="Text 4"/>
          <p:cNvSpPr/>
          <p:nvPr/>
        </p:nvSpPr>
        <p:spPr>
          <a:xfrm>
            <a:off x="896112" y="2304288"/>
            <a:ext cx="2194560" cy="228600"/>
          </a:xfrm>
          <a:prstGeom prst="rect">
            <a:avLst/>
          </a:prstGeom>
          <a:noFill/>
          <a:ln/>
        </p:spPr>
        <p:txBody>
          <a:bodyPr wrap="square" lIns="0" tIns="0" rIns="0" bIns="0" rtlCol="0" anchor="ctr">
            <a:normAutofit/>
          </a:bodyPr>
          <a:lstStyle/>
          <a:p>
            <a:pPr algn="l" indent="0" marL="0">
              <a:buNone/>
            </a:pPr>
            <a:r>
              <a:rPr lang="en-US" sz="900" b="1" spc="120" kern="0" dirty="0">
                <a:solidFill>
                  <a:srgbClr val="10B981"/>
                </a:solidFill>
                <a:latin typeface="Aptos" pitchFamily="34" charset="0"/>
                <a:ea typeface="Aptos" pitchFamily="34" charset="-122"/>
                <a:cs typeface="Aptos" pitchFamily="34" charset="-120"/>
              </a:rPr>
              <a:t>CANDIDATES TESTED</a:t>
            </a:r>
            <a:endParaRPr lang="en-US" sz="900" dirty="0"/>
          </a:p>
        </p:txBody>
      </p:sp>
      <p:sp>
        <p:nvSpPr>
          <p:cNvPr id="7" name="Text 5"/>
          <p:cNvSpPr/>
          <p:nvPr/>
        </p:nvSpPr>
        <p:spPr>
          <a:xfrm>
            <a:off x="896112" y="2761488"/>
            <a:ext cx="749808" cy="182880"/>
          </a:xfrm>
          <a:prstGeom prst="rect">
            <a:avLst/>
          </a:prstGeom>
          <a:noFill/>
          <a:ln/>
        </p:spPr>
        <p:txBody>
          <a:bodyPr wrap="square" lIns="0" tIns="0" rIns="0" bIns="0" rtlCol="0" anchor="ctr">
            <a:normAutofit/>
          </a:bodyPr>
          <a:lstStyle/>
          <a:p>
            <a:pPr algn="l" indent="0" marL="0">
              <a:buNone/>
            </a:pPr>
            <a:r>
              <a:rPr lang="en-US" sz="800" b="1" dirty="0">
                <a:solidFill>
                  <a:srgbClr val="667D75"/>
                </a:solidFill>
                <a:latin typeface="Aptos" pitchFamily="34" charset="0"/>
                <a:ea typeface="Aptos" pitchFamily="34" charset="-122"/>
                <a:cs typeface="Aptos" pitchFamily="34" charset="-120"/>
              </a:rPr>
              <a:t>DISCOUNT</a:t>
            </a:r>
            <a:endParaRPr lang="en-US" sz="800" dirty="0"/>
          </a:p>
        </p:txBody>
      </p:sp>
      <p:sp>
        <p:nvSpPr>
          <p:cNvPr id="8" name="Text 6"/>
          <p:cNvSpPr/>
          <p:nvPr/>
        </p:nvSpPr>
        <p:spPr>
          <a:xfrm>
            <a:off x="1810512" y="2761488"/>
            <a:ext cx="749808" cy="182880"/>
          </a:xfrm>
          <a:prstGeom prst="rect">
            <a:avLst/>
          </a:prstGeom>
          <a:noFill/>
          <a:ln/>
        </p:spPr>
        <p:txBody>
          <a:bodyPr wrap="square" lIns="0" tIns="0" rIns="0" bIns="0" rtlCol="0" anchor="ctr">
            <a:normAutofit/>
          </a:bodyPr>
          <a:lstStyle/>
          <a:p>
            <a:pPr algn="l" indent="0" marL="0">
              <a:buNone/>
            </a:pPr>
            <a:r>
              <a:rPr lang="en-US" sz="800" b="1" dirty="0">
                <a:solidFill>
                  <a:srgbClr val="667D75"/>
                </a:solidFill>
                <a:latin typeface="Aptos" pitchFamily="34" charset="0"/>
                <a:ea typeface="Aptos" pitchFamily="34" charset="-122"/>
                <a:cs typeface="Aptos" pitchFamily="34" charset="-120"/>
              </a:rPr>
              <a:t>PRICE</a:t>
            </a:r>
            <a:endParaRPr lang="en-US" sz="800" dirty="0"/>
          </a:p>
        </p:txBody>
      </p:sp>
      <p:sp>
        <p:nvSpPr>
          <p:cNvPr id="9" name="Text 7"/>
          <p:cNvSpPr/>
          <p:nvPr/>
        </p:nvSpPr>
        <p:spPr>
          <a:xfrm>
            <a:off x="2724912" y="2761488"/>
            <a:ext cx="749808" cy="182880"/>
          </a:xfrm>
          <a:prstGeom prst="rect">
            <a:avLst/>
          </a:prstGeom>
          <a:noFill/>
          <a:ln/>
        </p:spPr>
        <p:txBody>
          <a:bodyPr wrap="square" lIns="0" tIns="0" rIns="0" bIns="0" rtlCol="0" anchor="ctr">
            <a:normAutofit/>
          </a:bodyPr>
          <a:lstStyle/>
          <a:p>
            <a:pPr algn="l" indent="0" marL="0">
              <a:buNone/>
            </a:pPr>
            <a:r>
              <a:rPr lang="en-US" sz="800" b="1" dirty="0">
                <a:solidFill>
                  <a:srgbClr val="667D75"/>
                </a:solidFill>
                <a:latin typeface="Aptos" pitchFamily="34" charset="0"/>
                <a:ea typeface="Aptos" pitchFamily="34" charset="-122"/>
                <a:cs typeface="Aptos" pitchFamily="34" charset="-120"/>
              </a:rPr>
              <a:t>UNITS</a:t>
            </a:r>
            <a:endParaRPr lang="en-US" sz="800" dirty="0"/>
          </a:p>
        </p:txBody>
      </p:sp>
      <p:sp>
        <p:nvSpPr>
          <p:cNvPr id="10" name="Text 8"/>
          <p:cNvSpPr/>
          <p:nvPr/>
        </p:nvSpPr>
        <p:spPr>
          <a:xfrm>
            <a:off x="3639312" y="2761488"/>
            <a:ext cx="749808" cy="182880"/>
          </a:xfrm>
          <a:prstGeom prst="rect">
            <a:avLst/>
          </a:prstGeom>
          <a:noFill/>
          <a:ln/>
        </p:spPr>
        <p:txBody>
          <a:bodyPr wrap="square" lIns="0" tIns="0" rIns="0" bIns="0" rtlCol="0" anchor="ctr">
            <a:normAutofit/>
          </a:bodyPr>
          <a:lstStyle/>
          <a:p>
            <a:pPr algn="l" indent="0" marL="0">
              <a:buNone/>
            </a:pPr>
            <a:r>
              <a:rPr lang="en-US" sz="800" b="1" dirty="0">
                <a:solidFill>
                  <a:srgbClr val="667D75"/>
                </a:solidFill>
                <a:latin typeface="Aptos" pitchFamily="34" charset="0"/>
                <a:ea typeface="Aptos" pitchFamily="34" charset="-122"/>
                <a:cs typeface="Aptos" pitchFamily="34" charset="-120"/>
              </a:rPr>
              <a:t>LEFT</a:t>
            </a:r>
            <a:endParaRPr lang="en-US" sz="800" dirty="0"/>
          </a:p>
        </p:txBody>
      </p:sp>
      <p:sp>
        <p:nvSpPr>
          <p:cNvPr id="11" name="Text 9"/>
          <p:cNvSpPr/>
          <p:nvPr/>
        </p:nvSpPr>
        <p:spPr>
          <a:xfrm>
            <a:off x="4599432" y="2761488"/>
            <a:ext cx="1051560" cy="182880"/>
          </a:xfrm>
          <a:prstGeom prst="rect">
            <a:avLst/>
          </a:prstGeom>
          <a:noFill/>
          <a:ln/>
        </p:spPr>
        <p:txBody>
          <a:bodyPr wrap="square" lIns="0" tIns="0" rIns="0" bIns="0" rtlCol="0" anchor="ctr">
            <a:normAutofit/>
          </a:bodyPr>
          <a:lstStyle/>
          <a:p>
            <a:pPr algn="l" indent="0" marL="0">
              <a:buNone/>
            </a:pPr>
            <a:r>
              <a:rPr lang="en-US" sz="800" b="1" dirty="0">
                <a:solidFill>
                  <a:srgbClr val="667D75"/>
                </a:solidFill>
                <a:latin typeface="Aptos" pitchFamily="34" charset="0"/>
                <a:ea typeface="Aptos" pitchFamily="34" charset="-122"/>
                <a:cs typeface="Aptos" pitchFamily="34" charset="-120"/>
              </a:rPr>
              <a:t>DECISION</a:t>
            </a:r>
            <a:endParaRPr lang="en-US" sz="800" dirty="0"/>
          </a:p>
        </p:txBody>
      </p:sp>
      <p:sp>
        <p:nvSpPr>
          <p:cNvPr id="12" name="Shape 10"/>
          <p:cNvSpPr/>
          <p:nvPr/>
        </p:nvSpPr>
        <p:spPr>
          <a:xfrm>
            <a:off x="822960" y="3090672"/>
            <a:ext cx="5468112" cy="402336"/>
          </a:xfrm>
          <a:prstGeom prst="roundRect">
            <a:avLst>
              <a:gd name="adj" fmla="val 22727"/>
            </a:avLst>
          </a:prstGeom>
          <a:solidFill>
            <a:srgbClr val="FFFFFF"/>
          </a:solidFill>
          <a:ln w="12700">
            <a:solidFill>
              <a:srgbClr val="EDF2EF"/>
            </a:solidFill>
            <a:prstDash val="solid"/>
          </a:ln>
        </p:spPr>
      </p:sp>
      <p:sp>
        <p:nvSpPr>
          <p:cNvPr id="13" name="Text 11"/>
          <p:cNvSpPr/>
          <p:nvPr/>
        </p:nvSpPr>
        <p:spPr>
          <a:xfrm>
            <a:off x="932688" y="3090672"/>
            <a:ext cx="640080"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0%</a:t>
            </a:r>
            <a:endParaRPr lang="en-US" sz="1100" dirty="0"/>
          </a:p>
        </p:txBody>
      </p:sp>
      <p:sp>
        <p:nvSpPr>
          <p:cNvPr id="14" name="Text 12"/>
          <p:cNvSpPr/>
          <p:nvPr/>
        </p:nvSpPr>
        <p:spPr>
          <a:xfrm>
            <a:off x="1828800" y="3090672"/>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₹84</a:t>
            </a:r>
            <a:endParaRPr lang="en-US" sz="1100" dirty="0"/>
          </a:p>
        </p:txBody>
      </p:sp>
      <p:sp>
        <p:nvSpPr>
          <p:cNvPr id="15" name="Text 13"/>
          <p:cNvSpPr/>
          <p:nvPr/>
        </p:nvSpPr>
        <p:spPr>
          <a:xfrm>
            <a:off x="2743200" y="3090672"/>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5.6</a:t>
            </a:r>
            <a:endParaRPr lang="en-US" sz="1100" dirty="0"/>
          </a:p>
        </p:txBody>
      </p:sp>
      <p:sp>
        <p:nvSpPr>
          <p:cNvPr id="16" name="Text 14"/>
          <p:cNvSpPr/>
          <p:nvPr/>
        </p:nvSpPr>
        <p:spPr>
          <a:xfrm>
            <a:off x="3657600" y="3090672"/>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12.4</a:t>
            </a:r>
            <a:endParaRPr lang="en-US" sz="1100" dirty="0"/>
          </a:p>
        </p:txBody>
      </p:sp>
      <p:sp>
        <p:nvSpPr>
          <p:cNvPr id="17" name="Shape 15"/>
          <p:cNvSpPr/>
          <p:nvPr/>
        </p:nvSpPr>
        <p:spPr>
          <a:xfrm>
            <a:off x="4617720" y="3145536"/>
            <a:ext cx="1426464" cy="292608"/>
          </a:xfrm>
          <a:prstGeom prst="roundRect">
            <a:avLst>
              <a:gd name="adj" fmla="val 50000"/>
            </a:avLst>
          </a:prstGeom>
          <a:solidFill>
            <a:srgbClr val="EEF3F0"/>
          </a:solidFill>
          <a:ln w="12700">
            <a:solidFill>
              <a:srgbClr val="EEF3F0">
                <a:alpha val="0"/>
              </a:srgbClr>
            </a:solidFill>
            <a:prstDash val="solid"/>
          </a:ln>
        </p:spPr>
      </p:sp>
      <p:sp>
        <p:nvSpPr>
          <p:cNvPr id="18" name="Text 16"/>
          <p:cNvSpPr/>
          <p:nvPr/>
        </p:nvSpPr>
        <p:spPr>
          <a:xfrm>
            <a:off x="4690872" y="3145536"/>
            <a:ext cx="1280160" cy="292608"/>
          </a:xfrm>
          <a:prstGeom prst="rect">
            <a:avLst/>
          </a:prstGeom>
          <a:noFill/>
          <a:ln/>
        </p:spPr>
        <p:txBody>
          <a:bodyPr wrap="square" lIns="0" tIns="0" rIns="0" bIns="0" rtlCol="0" anchor="ctr">
            <a:normAutofit/>
          </a:bodyPr>
          <a:lstStyle/>
          <a:p>
            <a:pPr algn="ctr" indent="0" marL="0">
              <a:buNone/>
            </a:pPr>
            <a:r>
              <a:rPr lang="en-US" sz="900" b="1" dirty="0">
                <a:solidFill>
                  <a:srgbClr val="667D75"/>
                </a:solidFill>
                <a:latin typeface="Aptos" pitchFamily="34" charset="0"/>
                <a:ea typeface="Aptos" pitchFamily="34" charset="-122"/>
                <a:cs typeface="Aptos" pitchFamily="34" charset="-120"/>
              </a:rPr>
              <a:t>BASELINE</a:t>
            </a:r>
            <a:endParaRPr lang="en-US" sz="900" dirty="0"/>
          </a:p>
        </p:txBody>
      </p:sp>
      <p:sp>
        <p:nvSpPr>
          <p:cNvPr id="19" name="Shape 17"/>
          <p:cNvSpPr/>
          <p:nvPr/>
        </p:nvSpPr>
        <p:spPr>
          <a:xfrm>
            <a:off x="822960" y="3621024"/>
            <a:ext cx="5468112" cy="402336"/>
          </a:xfrm>
          <a:prstGeom prst="roundRect">
            <a:avLst>
              <a:gd name="adj" fmla="val 22727"/>
            </a:avLst>
          </a:prstGeom>
          <a:solidFill>
            <a:srgbClr val="F8FAF9"/>
          </a:solidFill>
          <a:ln w="12700">
            <a:solidFill>
              <a:srgbClr val="EDF2EF"/>
            </a:solidFill>
            <a:prstDash val="solid"/>
          </a:ln>
        </p:spPr>
      </p:sp>
      <p:sp>
        <p:nvSpPr>
          <p:cNvPr id="20" name="Text 18"/>
          <p:cNvSpPr/>
          <p:nvPr/>
        </p:nvSpPr>
        <p:spPr>
          <a:xfrm>
            <a:off x="932688" y="3621024"/>
            <a:ext cx="640080"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15%</a:t>
            </a:r>
            <a:endParaRPr lang="en-US" sz="1100" dirty="0"/>
          </a:p>
        </p:txBody>
      </p:sp>
      <p:sp>
        <p:nvSpPr>
          <p:cNvPr id="21" name="Text 19"/>
          <p:cNvSpPr/>
          <p:nvPr/>
        </p:nvSpPr>
        <p:spPr>
          <a:xfrm>
            <a:off x="1828800" y="3621024"/>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₹71</a:t>
            </a:r>
            <a:endParaRPr lang="en-US" sz="1100" dirty="0"/>
          </a:p>
        </p:txBody>
      </p:sp>
      <p:sp>
        <p:nvSpPr>
          <p:cNvPr id="22" name="Text 20"/>
          <p:cNvSpPr/>
          <p:nvPr/>
        </p:nvSpPr>
        <p:spPr>
          <a:xfrm>
            <a:off x="2743200" y="3621024"/>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8.2</a:t>
            </a:r>
            <a:endParaRPr lang="en-US" sz="1100" dirty="0"/>
          </a:p>
        </p:txBody>
      </p:sp>
      <p:sp>
        <p:nvSpPr>
          <p:cNvPr id="23" name="Text 21"/>
          <p:cNvSpPr/>
          <p:nvPr/>
        </p:nvSpPr>
        <p:spPr>
          <a:xfrm>
            <a:off x="3657600" y="3621024"/>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9.8</a:t>
            </a:r>
            <a:endParaRPr lang="en-US" sz="1100" dirty="0"/>
          </a:p>
        </p:txBody>
      </p:sp>
      <p:sp>
        <p:nvSpPr>
          <p:cNvPr id="24" name="Shape 22"/>
          <p:cNvSpPr/>
          <p:nvPr/>
        </p:nvSpPr>
        <p:spPr>
          <a:xfrm>
            <a:off x="4617720" y="3675888"/>
            <a:ext cx="1426464" cy="292608"/>
          </a:xfrm>
          <a:prstGeom prst="roundRect">
            <a:avLst>
              <a:gd name="adj" fmla="val 50000"/>
            </a:avLst>
          </a:prstGeom>
          <a:solidFill>
            <a:srgbClr val="EEF3F0"/>
          </a:solidFill>
          <a:ln w="12700">
            <a:solidFill>
              <a:srgbClr val="EEF3F0">
                <a:alpha val="0"/>
              </a:srgbClr>
            </a:solidFill>
            <a:prstDash val="solid"/>
          </a:ln>
        </p:spPr>
      </p:sp>
      <p:sp>
        <p:nvSpPr>
          <p:cNvPr id="25" name="Text 23"/>
          <p:cNvSpPr/>
          <p:nvPr/>
        </p:nvSpPr>
        <p:spPr>
          <a:xfrm>
            <a:off x="4690872" y="3675888"/>
            <a:ext cx="1280160" cy="292608"/>
          </a:xfrm>
          <a:prstGeom prst="rect">
            <a:avLst/>
          </a:prstGeom>
          <a:noFill/>
          <a:ln/>
        </p:spPr>
        <p:txBody>
          <a:bodyPr wrap="square" lIns="0" tIns="0" rIns="0" bIns="0" rtlCol="0" anchor="ctr">
            <a:normAutofit/>
          </a:bodyPr>
          <a:lstStyle/>
          <a:p>
            <a:pPr algn="ctr" indent="0" marL="0">
              <a:buNone/>
            </a:pPr>
            <a:r>
              <a:rPr lang="en-US" sz="900" b="1" dirty="0">
                <a:solidFill>
                  <a:srgbClr val="667D75"/>
                </a:solidFill>
                <a:latin typeface="Aptos" pitchFamily="34" charset="0"/>
                <a:ea typeface="Aptos" pitchFamily="34" charset="-122"/>
                <a:cs typeface="Aptos" pitchFamily="34" charset="-120"/>
              </a:rPr>
              <a:t>CANDIDATE</a:t>
            </a:r>
            <a:endParaRPr lang="en-US" sz="900" dirty="0"/>
          </a:p>
        </p:txBody>
      </p:sp>
      <p:sp>
        <p:nvSpPr>
          <p:cNvPr id="26" name="Shape 24"/>
          <p:cNvSpPr/>
          <p:nvPr/>
        </p:nvSpPr>
        <p:spPr>
          <a:xfrm>
            <a:off x="822960" y="4151376"/>
            <a:ext cx="5468112" cy="402336"/>
          </a:xfrm>
          <a:prstGeom prst="roundRect">
            <a:avLst>
              <a:gd name="adj" fmla="val 22727"/>
            </a:avLst>
          </a:prstGeom>
          <a:solidFill>
            <a:srgbClr val="BEF264"/>
          </a:solidFill>
          <a:ln w="12700">
            <a:solidFill>
              <a:srgbClr val="BEF264"/>
            </a:solidFill>
            <a:prstDash val="solid"/>
          </a:ln>
        </p:spPr>
      </p:sp>
      <p:sp>
        <p:nvSpPr>
          <p:cNvPr id="27" name="Text 25"/>
          <p:cNvSpPr/>
          <p:nvPr/>
        </p:nvSpPr>
        <p:spPr>
          <a:xfrm>
            <a:off x="932688" y="4151376"/>
            <a:ext cx="640080" cy="402336"/>
          </a:xfrm>
          <a:prstGeom prst="rect">
            <a:avLst/>
          </a:prstGeom>
          <a:noFill/>
          <a:ln/>
        </p:spPr>
        <p:txBody>
          <a:bodyPr wrap="square" lIns="0" tIns="0" rIns="0" bIns="0" rtlCol="0" anchor="ctr">
            <a:normAutofit/>
          </a:bodyPr>
          <a:lstStyle/>
          <a:p>
            <a:pPr algn="l" indent="0" marL="0">
              <a:buNone/>
            </a:pPr>
            <a:r>
              <a:rPr lang="en-US" sz="1100" b="1" dirty="0">
                <a:solidFill>
                  <a:srgbClr val="15352C"/>
                </a:solidFill>
                <a:latin typeface="Aptos" pitchFamily="34" charset="0"/>
                <a:ea typeface="Aptos" pitchFamily="34" charset="-122"/>
                <a:cs typeface="Aptos" pitchFamily="34" charset="-120"/>
              </a:rPr>
              <a:t>20%</a:t>
            </a:r>
            <a:endParaRPr lang="en-US" sz="1100" dirty="0"/>
          </a:p>
        </p:txBody>
      </p:sp>
      <p:sp>
        <p:nvSpPr>
          <p:cNvPr id="28" name="Text 26"/>
          <p:cNvSpPr/>
          <p:nvPr/>
        </p:nvSpPr>
        <p:spPr>
          <a:xfrm>
            <a:off x="1828800" y="4151376"/>
            <a:ext cx="658368" cy="402336"/>
          </a:xfrm>
          <a:prstGeom prst="rect">
            <a:avLst/>
          </a:prstGeom>
          <a:noFill/>
          <a:ln/>
        </p:spPr>
        <p:txBody>
          <a:bodyPr wrap="square" lIns="0" tIns="0" rIns="0" bIns="0" rtlCol="0" anchor="ctr">
            <a:normAutofit/>
          </a:bodyPr>
          <a:lstStyle/>
          <a:p>
            <a:pPr algn="l" indent="0" marL="0">
              <a:buNone/>
            </a:pPr>
            <a:r>
              <a:rPr lang="en-US" sz="1100" b="1" dirty="0">
                <a:solidFill>
                  <a:srgbClr val="15352C"/>
                </a:solidFill>
                <a:latin typeface="Aptos" pitchFamily="34" charset="0"/>
                <a:ea typeface="Aptos" pitchFamily="34" charset="-122"/>
                <a:cs typeface="Aptos" pitchFamily="34" charset="-120"/>
              </a:rPr>
              <a:t>₹67</a:t>
            </a:r>
            <a:endParaRPr lang="en-US" sz="1100" dirty="0"/>
          </a:p>
        </p:txBody>
      </p:sp>
      <p:sp>
        <p:nvSpPr>
          <p:cNvPr id="29" name="Text 27"/>
          <p:cNvSpPr/>
          <p:nvPr/>
        </p:nvSpPr>
        <p:spPr>
          <a:xfrm>
            <a:off x="2743200" y="4151376"/>
            <a:ext cx="658368" cy="402336"/>
          </a:xfrm>
          <a:prstGeom prst="rect">
            <a:avLst/>
          </a:prstGeom>
          <a:noFill/>
          <a:ln/>
        </p:spPr>
        <p:txBody>
          <a:bodyPr wrap="square" lIns="0" tIns="0" rIns="0" bIns="0" rtlCol="0" anchor="ctr">
            <a:normAutofit/>
          </a:bodyPr>
          <a:lstStyle/>
          <a:p>
            <a:pPr algn="l" indent="0" marL="0">
              <a:buNone/>
            </a:pPr>
            <a:r>
              <a:rPr lang="en-US" sz="1100" b="1" dirty="0">
                <a:solidFill>
                  <a:srgbClr val="15352C"/>
                </a:solidFill>
                <a:latin typeface="Aptos" pitchFamily="34" charset="0"/>
                <a:ea typeface="Aptos" pitchFamily="34" charset="-122"/>
                <a:cs typeface="Aptos" pitchFamily="34" charset="-120"/>
              </a:rPr>
              <a:t>10.8</a:t>
            </a:r>
            <a:endParaRPr lang="en-US" sz="1100" dirty="0"/>
          </a:p>
        </p:txBody>
      </p:sp>
      <p:sp>
        <p:nvSpPr>
          <p:cNvPr id="30" name="Text 28"/>
          <p:cNvSpPr/>
          <p:nvPr/>
        </p:nvSpPr>
        <p:spPr>
          <a:xfrm>
            <a:off x="3657600" y="4151376"/>
            <a:ext cx="658368" cy="402336"/>
          </a:xfrm>
          <a:prstGeom prst="rect">
            <a:avLst/>
          </a:prstGeom>
          <a:noFill/>
          <a:ln/>
        </p:spPr>
        <p:txBody>
          <a:bodyPr wrap="square" lIns="0" tIns="0" rIns="0" bIns="0" rtlCol="0" anchor="ctr">
            <a:normAutofit/>
          </a:bodyPr>
          <a:lstStyle/>
          <a:p>
            <a:pPr algn="l" indent="0" marL="0">
              <a:buNone/>
            </a:pPr>
            <a:r>
              <a:rPr lang="en-US" sz="1100" b="1" dirty="0">
                <a:solidFill>
                  <a:srgbClr val="15352C"/>
                </a:solidFill>
                <a:latin typeface="Aptos" pitchFamily="34" charset="0"/>
                <a:ea typeface="Aptos" pitchFamily="34" charset="-122"/>
                <a:cs typeface="Aptos" pitchFamily="34" charset="-120"/>
              </a:rPr>
              <a:t>7.2</a:t>
            </a:r>
            <a:endParaRPr lang="en-US" sz="1100" dirty="0"/>
          </a:p>
        </p:txBody>
      </p:sp>
      <p:sp>
        <p:nvSpPr>
          <p:cNvPr id="31" name="Shape 29"/>
          <p:cNvSpPr/>
          <p:nvPr/>
        </p:nvSpPr>
        <p:spPr>
          <a:xfrm>
            <a:off x="4617720" y="4206240"/>
            <a:ext cx="1426464" cy="292608"/>
          </a:xfrm>
          <a:prstGeom prst="roundRect">
            <a:avLst>
              <a:gd name="adj" fmla="val 50000"/>
            </a:avLst>
          </a:prstGeom>
          <a:solidFill>
            <a:srgbClr val="173D31"/>
          </a:solidFill>
          <a:ln w="12700">
            <a:solidFill>
              <a:srgbClr val="173D31">
                <a:alpha val="0"/>
              </a:srgbClr>
            </a:solidFill>
            <a:prstDash val="solid"/>
          </a:ln>
        </p:spPr>
      </p:sp>
      <p:sp>
        <p:nvSpPr>
          <p:cNvPr id="32" name="Text 30"/>
          <p:cNvSpPr/>
          <p:nvPr/>
        </p:nvSpPr>
        <p:spPr>
          <a:xfrm>
            <a:off x="4690872" y="4206240"/>
            <a:ext cx="1280160" cy="292608"/>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RECOMMENDED</a:t>
            </a:r>
            <a:endParaRPr lang="en-US" sz="900" dirty="0"/>
          </a:p>
        </p:txBody>
      </p:sp>
      <p:sp>
        <p:nvSpPr>
          <p:cNvPr id="33" name="Shape 31"/>
          <p:cNvSpPr/>
          <p:nvPr/>
        </p:nvSpPr>
        <p:spPr>
          <a:xfrm>
            <a:off x="822960" y="4681728"/>
            <a:ext cx="5468112" cy="402336"/>
          </a:xfrm>
          <a:prstGeom prst="roundRect">
            <a:avLst>
              <a:gd name="adj" fmla="val 22727"/>
            </a:avLst>
          </a:prstGeom>
          <a:solidFill>
            <a:srgbClr val="F8FAF9"/>
          </a:solidFill>
          <a:ln w="12700">
            <a:solidFill>
              <a:srgbClr val="EDF2EF"/>
            </a:solidFill>
            <a:prstDash val="solid"/>
          </a:ln>
        </p:spPr>
      </p:sp>
      <p:sp>
        <p:nvSpPr>
          <p:cNvPr id="34" name="Text 32"/>
          <p:cNvSpPr/>
          <p:nvPr/>
        </p:nvSpPr>
        <p:spPr>
          <a:xfrm>
            <a:off x="932688" y="4681728"/>
            <a:ext cx="640080"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25%</a:t>
            </a:r>
            <a:endParaRPr lang="en-US" sz="1100" dirty="0"/>
          </a:p>
        </p:txBody>
      </p:sp>
      <p:sp>
        <p:nvSpPr>
          <p:cNvPr id="35" name="Text 33"/>
          <p:cNvSpPr/>
          <p:nvPr/>
        </p:nvSpPr>
        <p:spPr>
          <a:xfrm>
            <a:off x="1828800" y="4681728"/>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₹63</a:t>
            </a:r>
            <a:endParaRPr lang="en-US" sz="1100" dirty="0"/>
          </a:p>
        </p:txBody>
      </p:sp>
      <p:sp>
        <p:nvSpPr>
          <p:cNvPr id="36" name="Text 34"/>
          <p:cNvSpPr/>
          <p:nvPr/>
        </p:nvSpPr>
        <p:spPr>
          <a:xfrm>
            <a:off x="2743200" y="4681728"/>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12.1</a:t>
            </a:r>
            <a:endParaRPr lang="en-US" sz="1100" dirty="0"/>
          </a:p>
        </p:txBody>
      </p:sp>
      <p:sp>
        <p:nvSpPr>
          <p:cNvPr id="37" name="Text 35"/>
          <p:cNvSpPr/>
          <p:nvPr/>
        </p:nvSpPr>
        <p:spPr>
          <a:xfrm>
            <a:off x="3657600" y="4681728"/>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5.9</a:t>
            </a:r>
            <a:endParaRPr lang="en-US" sz="1100" dirty="0"/>
          </a:p>
        </p:txBody>
      </p:sp>
      <p:sp>
        <p:nvSpPr>
          <p:cNvPr id="38" name="Shape 36"/>
          <p:cNvSpPr/>
          <p:nvPr/>
        </p:nvSpPr>
        <p:spPr>
          <a:xfrm>
            <a:off x="4617720" y="4736592"/>
            <a:ext cx="1426464" cy="292608"/>
          </a:xfrm>
          <a:prstGeom prst="roundRect">
            <a:avLst>
              <a:gd name="adj" fmla="val 50000"/>
            </a:avLst>
          </a:prstGeom>
          <a:solidFill>
            <a:srgbClr val="EEF3F0"/>
          </a:solidFill>
          <a:ln w="12700">
            <a:solidFill>
              <a:srgbClr val="EEF3F0">
                <a:alpha val="0"/>
              </a:srgbClr>
            </a:solidFill>
            <a:prstDash val="solid"/>
          </a:ln>
        </p:spPr>
      </p:sp>
      <p:sp>
        <p:nvSpPr>
          <p:cNvPr id="39" name="Text 37"/>
          <p:cNvSpPr/>
          <p:nvPr/>
        </p:nvSpPr>
        <p:spPr>
          <a:xfrm>
            <a:off x="4690872" y="4736592"/>
            <a:ext cx="1280160" cy="292608"/>
          </a:xfrm>
          <a:prstGeom prst="rect">
            <a:avLst/>
          </a:prstGeom>
          <a:noFill/>
          <a:ln/>
        </p:spPr>
        <p:txBody>
          <a:bodyPr wrap="square" lIns="0" tIns="0" rIns="0" bIns="0" rtlCol="0" anchor="ctr">
            <a:normAutofit/>
          </a:bodyPr>
          <a:lstStyle/>
          <a:p>
            <a:pPr algn="ctr" indent="0" marL="0">
              <a:buNone/>
            </a:pPr>
            <a:r>
              <a:rPr lang="en-US" sz="900" b="1" dirty="0">
                <a:solidFill>
                  <a:srgbClr val="667D75"/>
                </a:solidFill>
                <a:latin typeface="Aptos" pitchFamily="34" charset="0"/>
                <a:ea typeface="Aptos" pitchFamily="34" charset="-122"/>
                <a:cs typeface="Aptos" pitchFamily="34" charset="-120"/>
              </a:rPr>
              <a:t>CANDIDATE</a:t>
            </a:r>
            <a:endParaRPr lang="en-US" sz="900" dirty="0"/>
          </a:p>
        </p:txBody>
      </p:sp>
      <p:sp>
        <p:nvSpPr>
          <p:cNvPr id="40" name="Text 38"/>
          <p:cNvSpPr/>
          <p:nvPr/>
        </p:nvSpPr>
        <p:spPr>
          <a:xfrm>
            <a:off x="896112" y="5422392"/>
            <a:ext cx="4251960" cy="164592"/>
          </a:xfrm>
          <a:prstGeom prst="rect">
            <a:avLst/>
          </a:prstGeom>
          <a:noFill/>
          <a:ln/>
        </p:spPr>
        <p:txBody>
          <a:bodyPr wrap="square" lIns="0" tIns="0" rIns="0" bIns="0" rtlCol="0" anchor="ctr">
            <a:normAutofit/>
          </a:bodyPr>
          <a:lstStyle/>
          <a:p>
            <a:pPr algn="l" indent="0" marL="0">
              <a:buNone/>
            </a:pPr>
            <a:r>
              <a:rPr lang="en-US" sz="850" i="1" dirty="0">
                <a:solidFill>
                  <a:srgbClr val="8B9C96"/>
                </a:solidFill>
                <a:latin typeface="Aptos" pitchFamily="34" charset="0"/>
                <a:ea typeface="Aptos" pitchFamily="34" charset="-122"/>
                <a:cs typeface="Aptos" pitchFamily="34" charset="-120"/>
              </a:rPr>
              <a:t>Illustrative candidate table from the synthetic demo.</a:t>
            </a:r>
            <a:endParaRPr lang="en-US" sz="850" dirty="0"/>
          </a:p>
        </p:txBody>
      </p:sp>
      <p:sp>
        <p:nvSpPr>
          <p:cNvPr id="41" name="Shape 39"/>
          <p:cNvSpPr/>
          <p:nvPr/>
        </p:nvSpPr>
        <p:spPr>
          <a:xfrm>
            <a:off x="7040880" y="2084832"/>
            <a:ext cx="411480" cy="411480"/>
          </a:xfrm>
          <a:prstGeom prst="ellipse">
            <a:avLst/>
          </a:prstGeom>
          <a:solidFill>
            <a:srgbClr val="DDF7E8"/>
          </a:solidFill>
          <a:ln w="12700">
            <a:solidFill>
              <a:srgbClr val="DDF7E8"/>
            </a:solidFill>
            <a:prstDash val="solid"/>
          </a:ln>
        </p:spPr>
      </p:sp>
      <p:sp>
        <p:nvSpPr>
          <p:cNvPr id="42" name="Text 40"/>
          <p:cNvSpPr/>
          <p:nvPr/>
        </p:nvSpPr>
        <p:spPr>
          <a:xfrm>
            <a:off x="7040880" y="2084832"/>
            <a:ext cx="411480" cy="41148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01</a:t>
            </a:r>
            <a:endParaRPr lang="en-US" sz="1000" dirty="0"/>
          </a:p>
        </p:txBody>
      </p:sp>
      <p:sp>
        <p:nvSpPr>
          <p:cNvPr id="43" name="Text 41"/>
          <p:cNvSpPr/>
          <p:nvPr/>
        </p:nvSpPr>
        <p:spPr>
          <a:xfrm>
            <a:off x="7635240" y="2066544"/>
            <a:ext cx="3108960" cy="256032"/>
          </a:xfrm>
          <a:prstGeom prst="rect">
            <a:avLst/>
          </a:prstGeom>
          <a:noFill/>
          <a:ln/>
        </p:spPr>
        <p:txBody>
          <a:bodyPr wrap="square" lIns="0" tIns="0" rIns="0" bIns="0" rtlCol="0" anchor="ctr">
            <a:normAutofit/>
          </a:bodyPr>
          <a:lstStyle/>
          <a:p>
            <a:pPr algn="l" indent="0" marL="0">
              <a:buNone/>
            </a:pPr>
            <a:r>
              <a:rPr lang="en-US" sz="1400" b="1" dirty="0">
                <a:solidFill>
                  <a:srgbClr val="15352C"/>
                </a:solidFill>
                <a:latin typeface="Aptos" pitchFamily="34" charset="0"/>
                <a:ea typeface="Aptos" pitchFamily="34" charset="-122"/>
                <a:cs typeface="Aptos" pitchFamily="34" charset="-120"/>
              </a:rPr>
              <a:t>Guardrails first</a:t>
            </a:r>
            <a:endParaRPr lang="en-US" sz="1400" dirty="0"/>
          </a:p>
        </p:txBody>
      </p:sp>
      <p:sp>
        <p:nvSpPr>
          <p:cNvPr id="44" name="Text 42"/>
          <p:cNvSpPr/>
          <p:nvPr/>
        </p:nvSpPr>
        <p:spPr>
          <a:xfrm>
            <a:off x="7635240" y="2359152"/>
            <a:ext cx="3401568" cy="384048"/>
          </a:xfrm>
          <a:prstGeom prst="rect">
            <a:avLst/>
          </a:prstGeom>
          <a:noFill/>
          <a:ln/>
        </p:spPr>
        <p:txBody>
          <a:bodyPr wrap="square" lIns="0" tIns="0" rIns="0" bIns="0" rtlCol="0" anchor="t">
            <a:normAutofit/>
          </a:bodyPr>
          <a:lstStyle/>
          <a:p>
            <a:pPr algn="l" indent="0" marL="0">
              <a:buNone/>
            </a:pPr>
            <a:r>
              <a:rPr lang="en-US" sz="1050" dirty="0">
                <a:solidFill>
                  <a:srgbClr val="667D75"/>
                </a:solidFill>
                <a:latin typeface="Aptos" pitchFamily="34" charset="0"/>
                <a:ea typeface="Aptos" pitchFamily="34" charset="-122"/>
                <a:cs typeface="Aptos" pitchFamily="34" charset="-120"/>
              </a:rPr>
              <a:t>Expiry block, minimum price, bounded discount.</a:t>
            </a:r>
            <a:endParaRPr lang="en-US" sz="1050" dirty="0"/>
          </a:p>
        </p:txBody>
      </p:sp>
      <p:sp>
        <p:nvSpPr>
          <p:cNvPr id="45" name="Shape 43"/>
          <p:cNvSpPr/>
          <p:nvPr/>
        </p:nvSpPr>
        <p:spPr>
          <a:xfrm>
            <a:off x="7242048" y="2523744"/>
            <a:ext cx="0" cy="493776"/>
          </a:xfrm>
          <a:prstGeom prst="line">
            <a:avLst/>
          </a:prstGeom>
          <a:noFill/>
          <a:ln w="15240">
            <a:solidFill>
              <a:srgbClr val="B9DACA"/>
            </a:solidFill>
            <a:prstDash val="solid"/>
          </a:ln>
        </p:spPr>
      </p:sp>
      <p:sp>
        <p:nvSpPr>
          <p:cNvPr id="46" name="Shape 44"/>
          <p:cNvSpPr/>
          <p:nvPr/>
        </p:nvSpPr>
        <p:spPr>
          <a:xfrm>
            <a:off x="7040880" y="3017520"/>
            <a:ext cx="411480" cy="411480"/>
          </a:xfrm>
          <a:prstGeom prst="ellipse">
            <a:avLst/>
          </a:prstGeom>
          <a:solidFill>
            <a:srgbClr val="DDF7E8"/>
          </a:solidFill>
          <a:ln w="12700">
            <a:solidFill>
              <a:srgbClr val="DDF7E8"/>
            </a:solidFill>
            <a:prstDash val="solid"/>
          </a:ln>
        </p:spPr>
      </p:sp>
      <p:sp>
        <p:nvSpPr>
          <p:cNvPr id="47" name="Text 45"/>
          <p:cNvSpPr/>
          <p:nvPr/>
        </p:nvSpPr>
        <p:spPr>
          <a:xfrm>
            <a:off x="7040880" y="3017520"/>
            <a:ext cx="411480" cy="41148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02</a:t>
            </a:r>
            <a:endParaRPr lang="en-US" sz="1000" dirty="0"/>
          </a:p>
        </p:txBody>
      </p:sp>
      <p:sp>
        <p:nvSpPr>
          <p:cNvPr id="48" name="Text 46"/>
          <p:cNvSpPr/>
          <p:nvPr/>
        </p:nvSpPr>
        <p:spPr>
          <a:xfrm>
            <a:off x="7635240" y="2999232"/>
            <a:ext cx="3108960" cy="256032"/>
          </a:xfrm>
          <a:prstGeom prst="rect">
            <a:avLst/>
          </a:prstGeom>
          <a:noFill/>
          <a:ln/>
        </p:spPr>
        <p:txBody>
          <a:bodyPr wrap="square" lIns="0" tIns="0" rIns="0" bIns="0" rtlCol="0" anchor="ctr">
            <a:normAutofit/>
          </a:bodyPr>
          <a:lstStyle/>
          <a:p>
            <a:pPr algn="l" indent="0" marL="0">
              <a:buNone/>
            </a:pPr>
            <a:r>
              <a:rPr lang="en-US" sz="1400" b="1" dirty="0">
                <a:solidFill>
                  <a:srgbClr val="15352C"/>
                </a:solidFill>
                <a:latin typeface="Aptos" pitchFamily="34" charset="0"/>
                <a:ea typeface="Aptos" pitchFamily="34" charset="-122"/>
                <a:cs typeface="Aptos" pitchFamily="34" charset="-120"/>
              </a:rPr>
              <a:t>Evidence retained</a:t>
            </a:r>
            <a:endParaRPr lang="en-US" sz="1400" dirty="0"/>
          </a:p>
        </p:txBody>
      </p:sp>
      <p:sp>
        <p:nvSpPr>
          <p:cNvPr id="49" name="Text 47"/>
          <p:cNvSpPr/>
          <p:nvPr/>
        </p:nvSpPr>
        <p:spPr>
          <a:xfrm>
            <a:off x="7635240" y="3291840"/>
            <a:ext cx="3401568" cy="384048"/>
          </a:xfrm>
          <a:prstGeom prst="rect">
            <a:avLst/>
          </a:prstGeom>
          <a:noFill/>
          <a:ln/>
        </p:spPr>
        <p:txBody>
          <a:bodyPr wrap="square" lIns="0" tIns="0" rIns="0" bIns="0" rtlCol="0" anchor="t">
            <a:normAutofit/>
          </a:bodyPr>
          <a:lstStyle/>
          <a:p>
            <a:pPr algn="l" indent="0" marL="0">
              <a:buNone/>
            </a:pPr>
            <a:r>
              <a:rPr lang="en-US" sz="1050" dirty="0">
                <a:solidFill>
                  <a:srgbClr val="667D75"/>
                </a:solidFill>
                <a:latin typeface="Aptos" pitchFamily="34" charset="0"/>
                <a:ea typeface="Aptos" pitchFamily="34" charset="-122"/>
                <a:cs typeface="Aptos" pitchFamily="34" charset="-120"/>
              </a:rPr>
              <a:t>Inputs, candidates, model, factors, version.</a:t>
            </a:r>
            <a:endParaRPr lang="en-US" sz="1050" dirty="0"/>
          </a:p>
        </p:txBody>
      </p:sp>
      <p:sp>
        <p:nvSpPr>
          <p:cNvPr id="50" name="Shape 48"/>
          <p:cNvSpPr/>
          <p:nvPr/>
        </p:nvSpPr>
        <p:spPr>
          <a:xfrm>
            <a:off x="7242048" y="3456432"/>
            <a:ext cx="0" cy="493776"/>
          </a:xfrm>
          <a:prstGeom prst="line">
            <a:avLst/>
          </a:prstGeom>
          <a:noFill/>
          <a:ln w="15240">
            <a:solidFill>
              <a:srgbClr val="B9DACA"/>
            </a:solidFill>
            <a:prstDash val="solid"/>
          </a:ln>
        </p:spPr>
      </p:sp>
      <p:sp>
        <p:nvSpPr>
          <p:cNvPr id="51" name="Shape 49"/>
          <p:cNvSpPr/>
          <p:nvPr/>
        </p:nvSpPr>
        <p:spPr>
          <a:xfrm>
            <a:off x="7040880" y="3950208"/>
            <a:ext cx="411480" cy="411480"/>
          </a:xfrm>
          <a:prstGeom prst="ellipse">
            <a:avLst/>
          </a:prstGeom>
          <a:solidFill>
            <a:srgbClr val="BEF264"/>
          </a:solidFill>
          <a:ln w="12700">
            <a:solidFill>
              <a:srgbClr val="BEF264"/>
            </a:solidFill>
            <a:prstDash val="solid"/>
          </a:ln>
        </p:spPr>
      </p:sp>
      <p:sp>
        <p:nvSpPr>
          <p:cNvPr id="52" name="Text 50"/>
          <p:cNvSpPr/>
          <p:nvPr/>
        </p:nvSpPr>
        <p:spPr>
          <a:xfrm>
            <a:off x="7040880" y="3950208"/>
            <a:ext cx="411480" cy="41148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03</a:t>
            </a:r>
            <a:endParaRPr lang="en-US" sz="1000" dirty="0"/>
          </a:p>
        </p:txBody>
      </p:sp>
      <p:sp>
        <p:nvSpPr>
          <p:cNvPr id="53" name="Text 51"/>
          <p:cNvSpPr/>
          <p:nvPr/>
        </p:nvSpPr>
        <p:spPr>
          <a:xfrm>
            <a:off x="7635240" y="3931920"/>
            <a:ext cx="3108960" cy="256032"/>
          </a:xfrm>
          <a:prstGeom prst="rect">
            <a:avLst/>
          </a:prstGeom>
          <a:noFill/>
          <a:ln/>
        </p:spPr>
        <p:txBody>
          <a:bodyPr wrap="square" lIns="0" tIns="0" rIns="0" bIns="0" rtlCol="0" anchor="ctr">
            <a:normAutofit/>
          </a:bodyPr>
          <a:lstStyle/>
          <a:p>
            <a:pPr algn="l" indent="0" marL="0">
              <a:buNone/>
            </a:pPr>
            <a:r>
              <a:rPr lang="en-US" sz="1400" b="1" dirty="0">
                <a:solidFill>
                  <a:srgbClr val="15352C"/>
                </a:solidFill>
                <a:latin typeface="Aptos" pitchFamily="34" charset="0"/>
                <a:ea typeface="Aptos" pitchFamily="34" charset="-122"/>
                <a:cs typeface="Aptos" pitchFamily="34" charset="-120"/>
              </a:rPr>
              <a:t>Human decision</a:t>
            </a:r>
            <a:endParaRPr lang="en-US" sz="1400" dirty="0"/>
          </a:p>
        </p:txBody>
      </p:sp>
      <p:sp>
        <p:nvSpPr>
          <p:cNvPr id="54" name="Text 52"/>
          <p:cNvSpPr/>
          <p:nvPr/>
        </p:nvSpPr>
        <p:spPr>
          <a:xfrm>
            <a:off x="7635240" y="4224528"/>
            <a:ext cx="3401568" cy="384048"/>
          </a:xfrm>
          <a:prstGeom prst="rect">
            <a:avLst/>
          </a:prstGeom>
          <a:noFill/>
          <a:ln/>
        </p:spPr>
        <p:txBody>
          <a:bodyPr wrap="square" lIns="0" tIns="0" rIns="0" bIns="0" rtlCol="0" anchor="t">
            <a:normAutofit/>
          </a:bodyPr>
          <a:lstStyle/>
          <a:p>
            <a:pPr algn="l" indent="0" marL="0">
              <a:buNone/>
            </a:pPr>
            <a:r>
              <a:rPr lang="en-US" sz="1050" dirty="0">
                <a:solidFill>
                  <a:srgbClr val="667D75"/>
                </a:solidFill>
                <a:latin typeface="Aptos" pitchFamily="34" charset="0"/>
                <a:ea typeface="Aptos" pitchFamily="34" charset="-122"/>
                <a:cs typeface="Aptos" pitchFamily="34" charset="-120"/>
              </a:rPr>
              <a:t>Approve, reject, or preserve an override.</a:t>
            </a:r>
            <a:endParaRPr lang="en-US" sz="1050" dirty="0"/>
          </a:p>
        </p:txBody>
      </p:sp>
      <p:sp>
        <p:nvSpPr>
          <p:cNvPr id="55" name="Shape 53"/>
          <p:cNvSpPr/>
          <p:nvPr/>
        </p:nvSpPr>
        <p:spPr>
          <a:xfrm>
            <a:off x="7242048" y="4389120"/>
            <a:ext cx="0" cy="493776"/>
          </a:xfrm>
          <a:prstGeom prst="line">
            <a:avLst/>
          </a:prstGeom>
          <a:noFill/>
          <a:ln w="15240">
            <a:solidFill>
              <a:srgbClr val="B9DACA"/>
            </a:solidFill>
            <a:prstDash val="solid"/>
          </a:ln>
        </p:spPr>
      </p:sp>
      <p:sp>
        <p:nvSpPr>
          <p:cNvPr id="56" name="Shape 54"/>
          <p:cNvSpPr/>
          <p:nvPr/>
        </p:nvSpPr>
        <p:spPr>
          <a:xfrm>
            <a:off x="7040880" y="4882896"/>
            <a:ext cx="411480" cy="411480"/>
          </a:xfrm>
          <a:prstGeom prst="ellipse">
            <a:avLst/>
          </a:prstGeom>
          <a:solidFill>
            <a:srgbClr val="DDF7E8"/>
          </a:solidFill>
          <a:ln w="12700">
            <a:solidFill>
              <a:srgbClr val="DDF7E8"/>
            </a:solidFill>
            <a:prstDash val="solid"/>
          </a:ln>
        </p:spPr>
      </p:sp>
      <p:sp>
        <p:nvSpPr>
          <p:cNvPr id="57" name="Text 55"/>
          <p:cNvSpPr/>
          <p:nvPr/>
        </p:nvSpPr>
        <p:spPr>
          <a:xfrm>
            <a:off x="7040880" y="4882896"/>
            <a:ext cx="411480" cy="41148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04</a:t>
            </a:r>
            <a:endParaRPr lang="en-US" sz="1000" dirty="0"/>
          </a:p>
        </p:txBody>
      </p:sp>
      <p:sp>
        <p:nvSpPr>
          <p:cNvPr id="58" name="Text 56"/>
          <p:cNvSpPr/>
          <p:nvPr/>
        </p:nvSpPr>
        <p:spPr>
          <a:xfrm>
            <a:off x="7635240" y="4864608"/>
            <a:ext cx="3108960" cy="256032"/>
          </a:xfrm>
          <a:prstGeom prst="rect">
            <a:avLst/>
          </a:prstGeom>
          <a:noFill/>
          <a:ln/>
        </p:spPr>
        <p:txBody>
          <a:bodyPr wrap="square" lIns="0" tIns="0" rIns="0" bIns="0" rtlCol="0" anchor="ctr">
            <a:normAutofit/>
          </a:bodyPr>
          <a:lstStyle/>
          <a:p>
            <a:pPr algn="l" indent="0" marL="0">
              <a:buNone/>
            </a:pPr>
            <a:r>
              <a:rPr lang="en-US" sz="1400" b="1" dirty="0">
                <a:solidFill>
                  <a:srgbClr val="15352C"/>
                </a:solidFill>
                <a:latin typeface="Aptos" pitchFamily="34" charset="0"/>
                <a:ea typeface="Aptos" pitchFamily="34" charset="-122"/>
                <a:cs typeface="Aptos" pitchFamily="34" charset="-120"/>
              </a:rPr>
              <a:t>Outcome ledger</a:t>
            </a:r>
            <a:endParaRPr lang="en-US" sz="1400" dirty="0"/>
          </a:p>
        </p:txBody>
      </p:sp>
      <p:sp>
        <p:nvSpPr>
          <p:cNvPr id="59" name="Text 57"/>
          <p:cNvSpPr/>
          <p:nvPr/>
        </p:nvSpPr>
        <p:spPr>
          <a:xfrm>
            <a:off x="7635240" y="5157216"/>
            <a:ext cx="3401568" cy="384048"/>
          </a:xfrm>
          <a:prstGeom prst="rect">
            <a:avLst/>
          </a:prstGeom>
          <a:noFill/>
          <a:ln/>
        </p:spPr>
        <p:txBody>
          <a:bodyPr wrap="square" lIns="0" tIns="0" rIns="0" bIns="0" rtlCol="0" anchor="t">
            <a:normAutofit/>
          </a:bodyPr>
          <a:lstStyle/>
          <a:p>
            <a:pPr algn="l" indent="0" marL="0">
              <a:buNone/>
            </a:pPr>
            <a:r>
              <a:rPr lang="en-US" sz="1050" dirty="0">
                <a:solidFill>
                  <a:srgbClr val="667D75"/>
                </a:solidFill>
                <a:latin typeface="Aptos" pitchFamily="34" charset="0"/>
                <a:ea typeface="Aptos" pitchFamily="34" charset="-122"/>
                <a:cs typeface="Aptos" pitchFamily="34" charset="-120"/>
              </a:rPr>
              <a:t>Link approval, order, pickup, waste, donation.</a:t>
            </a:r>
            <a:endParaRPr lang="en-US" sz="1050" dirty="0"/>
          </a:p>
        </p:txBody>
      </p:sp>
      <p:sp>
        <p:nvSpPr>
          <p:cNvPr id="60" name="Shape 58"/>
          <p:cNvSpPr/>
          <p:nvPr/>
        </p:nvSpPr>
        <p:spPr>
          <a:xfrm>
            <a:off x="7498080" y="5870448"/>
            <a:ext cx="3611880" cy="292608"/>
          </a:xfrm>
          <a:prstGeom prst="roundRect">
            <a:avLst>
              <a:gd name="adj" fmla="val 50000"/>
            </a:avLst>
          </a:prstGeom>
          <a:solidFill>
            <a:srgbClr val="F2ECFF"/>
          </a:solidFill>
          <a:ln w="12700">
            <a:solidFill>
              <a:srgbClr val="F2ECFF">
                <a:alpha val="0"/>
              </a:srgbClr>
            </a:solidFill>
            <a:prstDash val="solid"/>
          </a:ln>
        </p:spPr>
      </p:sp>
      <p:sp>
        <p:nvSpPr>
          <p:cNvPr id="61" name="Text 59"/>
          <p:cNvSpPr/>
          <p:nvPr/>
        </p:nvSpPr>
        <p:spPr>
          <a:xfrm>
            <a:off x="7571232" y="5870448"/>
            <a:ext cx="3465576" cy="292608"/>
          </a:xfrm>
          <a:prstGeom prst="rect">
            <a:avLst/>
          </a:prstGeom>
          <a:noFill/>
          <a:ln/>
        </p:spPr>
        <p:txBody>
          <a:bodyPr wrap="square" lIns="0" tIns="0" rIns="0" bIns="0" rtlCol="0" anchor="ctr">
            <a:normAutofit/>
          </a:bodyPr>
          <a:lstStyle/>
          <a:p>
            <a:pPr algn="ctr" indent="0" marL="0">
              <a:buNone/>
            </a:pPr>
            <a:r>
              <a:rPr lang="en-US" sz="900" b="1" dirty="0">
                <a:solidFill>
                  <a:srgbClr val="7C3AED"/>
                </a:solidFill>
                <a:latin typeface="Aptos" pitchFamily="34" charset="0"/>
                <a:ea typeface="Aptos" pitchFamily="34" charset="-122"/>
                <a:cs typeface="Aptos" pitchFamily="34" charset="-120"/>
              </a:rPr>
              <a:t>PRICING EXCLUDES CUSTOMER IDENTITY</a:t>
            </a:r>
            <a:endParaRPr lang="en-US" sz="900" dirty="0"/>
          </a:p>
        </p:txBody>
      </p:sp>
      <p:sp>
        <p:nvSpPr>
          <p:cNvPr id="62" name="Shape 60"/>
          <p:cNvSpPr/>
          <p:nvPr/>
        </p:nvSpPr>
        <p:spPr>
          <a:xfrm>
            <a:off x="502920" y="6419088"/>
            <a:ext cx="10744200" cy="0"/>
          </a:xfrm>
          <a:prstGeom prst="line">
            <a:avLst/>
          </a:prstGeom>
          <a:noFill/>
          <a:ln w="10160">
            <a:solidFill>
              <a:srgbClr val="D9E3DD"/>
            </a:solidFill>
            <a:prstDash val="solid"/>
          </a:ln>
        </p:spPr>
      </p:sp>
      <p:sp>
        <p:nvSpPr>
          <p:cNvPr id="63" name="Text 61"/>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10B981"/>
                </a:solidFill>
                <a:latin typeface="Aptos" pitchFamily="34" charset="0"/>
                <a:ea typeface="Aptos" pitchFamily="34" charset="-122"/>
                <a:cs typeface="Aptos" pitchFamily="34" charset="-120"/>
              </a:rPr>
              <a:t>FRESHSAVER</a:t>
            </a:r>
            <a:endParaRPr lang="en-US" sz="750" dirty="0"/>
          </a:p>
        </p:txBody>
      </p:sp>
      <p:sp>
        <p:nvSpPr>
          <p:cNvPr id="64" name="Text 62"/>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82938D"/>
                </a:solidFill>
                <a:latin typeface="Aptos" pitchFamily="34" charset="0"/>
                <a:ea typeface="Aptos" pitchFamily="34" charset="-122"/>
                <a:cs typeface="Aptos" pitchFamily="34" charset="-120"/>
              </a:rPr>
              <a:t>Explainability, safety &amp; human oversight</a:t>
            </a:r>
            <a:endParaRPr lang="en-US" sz="750" dirty="0"/>
          </a:p>
        </p:txBody>
      </p:sp>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82938D"/>
                </a:solidFill>
                <a:latin typeface="Aptos"/>
                <a:ea typeface="Aptos"/>
                <a:cs typeface="Apto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BEF264"/>
                </a:solidFill>
                <a:latin typeface="Aptos" pitchFamily="34" charset="0"/>
                <a:ea typeface="Aptos" pitchFamily="34" charset="-122"/>
                <a:cs typeface="Aptos" pitchFamily="34" charset="-120"/>
              </a:rPr>
              <a:t>SYSTEM ARCHITECTURE</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FFFFFF"/>
                </a:solidFill>
                <a:latin typeface="Aptos Display" pitchFamily="34" charset="0"/>
                <a:ea typeface="Aptos Display" pitchFamily="34" charset="-122"/>
                <a:cs typeface="Aptos Display" pitchFamily="34" charset="-120"/>
              </a:rPr>
              <a:t>Store-scoped from database row to customer order.</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B9CBC4"/>
                </a:solidFill>
                <a:latin typeface="Aptos" pitchFamily="34" charset="0"/>
                <a:ea typeface="Aptos" pitchFamily="34" charset="-122"/>
                <a:cs typeface="Aptos" pitchFamily="34" charset="-120"/>
              </a:rPr>
              <a:t>The browser is untrusted. Every privileged operation resolves role and store ownership on the server.</a:t>
            </a:r>
            <a:endParaRPr lang="en-US" sz="1250" dirty="0"/>
          </a:p>
        </p:txBody>
      </p:sp>
      <p:sp>
        <p:nvSpPr>
          <p:cNvPr id="5" name="Text 3"/>
          <p:cNvSpPr/>
          <p:nvPr/>
        </p:nvSpPr>
        <p:spPr>
          <a:xfrm>
            <a:off x="621792" y="2267712"/>
            <a:ext cx="1170432" cy="228600"/>
          </a:xfrm>
          <a:prstGeom prst="rect">
            <a:avLst/>
          </a:prstGeom>
          <a:noFill/>
          <a:ln/>
        </p:spPr>
        <p:txBody>
          <a:bodyPr wrap="square" lIns="0" tIns="0" rIns="0" bIns="0" rtlCol="0" anchor="ctr">
            <a:normAutofit/>
          </a:bodyPr>
          <a:lstStyle/>
          <a:p>
            <a:pPr algn="l" indent="0" marL="0">
              <a:buNone/>
            </a:pPr>
            <a:r>
              <a:rPr lang="en-US" sz="850" b="1" spc="120" kern="0" dirty="0">
                <a:solidFill>
                  <a:srgbClr val="BEF264"/>
                </a:solidFill>
                <a:latin typeface="Aptos" pitchFamily="34" charset="0"/>
                <a:ea typeface="Aptos" pitchFamily="34" charset="-122"/>
                <a:cs typeface="Aptos" pitchFamily="34" charset="-120"/>
              </a:rPr>
              <a:t>EXPERIENCE</a:t>
            </a:r>
            <a:endParaRPr lang="en-US" sz="850" dirty="0"/>
          </a:p>
        </p:txBody>
      </p:sp>
      <p:sp>
        <p:nvSpPr>
          <p:cNvPr id="6" name="Shape 4"/>
          <p:cNvSpPr/>
          <p:nvPr/>
        </p:nvSpPr>
        <p:spPr>
          <a:xfrm>
            <a:off x="1737360" y="2404872"/>
            <a:ext cx="411480" cy="0"/>
          </a:xfrm>
          <a:prstGeom prst="line">
            <a:avLst/>
          </a:prstGeom>
          <a:noFill/>
          <a:ln w="17780">
            <a:solidFill>
              <a:srgbClr val="BEF264"/>
            </a:solidFill>
            <a:prstDash val="solid"/>
          </a:ln>
        </p:spPr>
      </p:sp>
      <p:sp>
        <p:nvSpPr>
          <p:cNvPr id="7" name="Shape 5"/>
          <p:cNvSpPr/>
          <p:nvPr/>
        </p:nvSpPr>
        <p:spPr>
          <a:xfrm>
            <a:off x="2331720" y="2057400"/>
            <a:ext cx="2560320" cy="694944"/>
          </a:xfrm>
          <a:prstGeom prst="roundRect">
            <a:avLst>
              <a:gd name="adj" fmla="val 23684"/>
            </a:avLst>
          </a:prstGeom>
          <a:solidFill>
            <a:srgbClr val="244E42"/>
          </a:solidFill>
          <a:ln w="12700">
            <a:solidFill>
              <a:srgbClr val="496C61"/>
            </a:solidFill>
            <a:prstDash val="solid"/>
          </a:ln>
        </p:spPr>
      </p:sp>
      <p:sp>
        <p:nvSpPr>
          <p:cNvPr id="8" name="Shape 6"/>
          <p:cNvSpPr/>
          <p:nvPr/>
        </p:nvSpPr>
        <p:spPr>
          <a:xfrm>
            <a:off x="2496312" y="2212848"/>
            <a:ext cx="365760" cy="365760"/>
          </a:xfrm>
          <a:prstGeom prst="ellipse">
            <a:avLst/>
          </a:prstGeom>
          <a:solidFill>
            <a:srgbClr val="BEF264"/>
          </a:solidFill>
          <a:ln w="12700">
            <a:solidFill>
              <a:srgbClr val="BEF264"/>
            </a:solidFill>
            <a:prstDash val="solid"/>
          </a:ln>
        </p:spPr>
      </p:sp>
      <p:sp>
        <p:nvSpPr>
          <p:cNvPr id="9" name="Text 7"/>
          <p:cNvSpPr/>
          <p:nvPr/>
        </p:nvSpPr>
        <p:spPr>
          <a:xfrm>
            <a:off x="2496312" y="2212848"/>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1</a:t>
            </a:r>
            <a:endParaRPr lang="en-US" sz="1000" dirty="0"/>
          </a:p>
        </p:txBody>
      </p:sp>
      <p:sp>
        <p:nvSpPr>
          <p:cNvPr id="10" name="Text 8"/>
          <p:cNvSpPr/>
          <p:nvPr/>
        </p:nvSpPr>
        <p:spPr>
          <a:xfrm>
            <a:off x="2990088" y="2176272"/>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Customer marketplace</a:t>
            </a:r>
            <a:endParaRPr lang="en-US" sz="1100" dirty="0"/>
          </a:p>
        </p:txBody>
      </p:sp>
      <p:sp>
        <p:nvSpPr>
          <p:cNvPr id="11" name="Shape 9"/>
          <p:cNvSpPr/>
          <p:nvPr/>
        </p:nvSpPr>
        <p:spPr>
          <a:xfrm>
            <a:off x="5349240" y="2057400"/>
            <a:ext cx="2560320" cy="694944"/>
          </a:xfrm>
          <a:prstGeom prst="roundRect">
            <a:avLst>
              <a:gd name="adj" fmla="val 23684"/>
            </a:avLst>
          </a:prstGeom>
          <a:solidFill>
            <a:srgbClr val="244E42"/>
          </a:solidFill>
          <a:ln w="12700">
            <a:solidFill>
              <a:srgbClr val="496C61"/>
            </a:solidFill>
            <a:prstDash val="solid"/>
          </a:ln>
        </p:spPr>
      </p:sp>
      <p:sp>
        <p:nvSpPr>
          <p:cNvPr id="12" name="Shape 10"/>
          <p:cNvSpPr/>
          <p:nvPr/>
        </p:nvSpPr>
        <p:spPr>
          <a:xfrm>
            <a:off x="5513832" y="2212848"/>
            <a:ext cx="365760" cy="365760"/>
          </a:xfrm>
          <a:prstGeom prst="ellipse">
            <a:avLst/>
          </a:prstGeom>
          <a:solidFill>
            <a:srgbClr val="BEF264"/>
          </a:solidFill>
          <a:ln w="12700">
            <a:solidFill>
              <a:srgbClr val="BEF264"/>
            </a:solidFill>
            <a:prstDash val="solid"/>
          </a:ln>
        </p:spPr>
      </p:sp>
      <p:sp>
        <p:nvSpPr>
          <p:cNvPr id="13" name="Text 11"/>
          <p:cNvSpPr/>
          <p:nvPr/>
        </p:nvSpPr>
        <p:spPr>
          <a:xfrm>
            <a:off x="5513832" y="2212848"/>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2</a:t>
            </a:r>
            <a:endParaRPr lang="en-US" sz="1000" dirty="0"/>
          </a:p>
        </p:txBody>
      </p:sp>
      <p:sp>
        <p:nvSpPr>
          <p:cNvPr id="14" name="Text 12"/>
          <p:cNvSpPr/>
          <p:nvPr/>
        </p:nvSpPr>
        <p:spPr>
          <a:xfrm>
            <a:off x="6007608" y="2176272"/>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Owner portal</a:t>
            </a:r>
            <a:endParaRPr lang="en-US" sz="1100" dirty="0"/>
          </a:p>
        </p:txBody>
      </p:sp>
      <p:sp>
        <p:nvSpPr>
          <p:cNvPr id="15" name="Shape 13"/>
          <p:cNvSpPr/>
          <p:nvPr/>
        </p:nvSpPr>
        <p:spPr>
          <a:xfrm>
            <a:off x="8366760" y="2057400"/>
            <a:ext cx="2560320" cy="694944"/>
          </a:xfrm>
          <a:prstGeom prst="roundRect">
            <a:avLst>
              <a:gd name="adj" fmla="val 23684"/>
            </a:avLst>
          </a:prstGeom>
          <a:solidFill>
            <a:srgbClr val="244E42"/>
          </a:solidFill>
          <a:ln w="12700">
            <a:solidFill>
              <a:srgbClr val="496C61"/>
            </a:solidFill>
            <a:prstDash val="solid"/>
          </a:ln>
        </p:spPr>
      </p:sp>
      <p:sp>
        <p:nvSpPr>
          <p:cNvPr id="16" name="Shape 14"/>
          <p:cNvSpPr/>
          <p:nvPr/>
        </p:nvSpPr>
        <p:spPr>
          <a:xfrm>
            <a:off x="8531352" y="2212848"/>
            <a:ext cx="365760" cy="365760"/>
          </a:xfrm>
          <a:prstGeom prst="ellipse">
            <a:avLst/>
          </a:prstGeom>
          <a:solidFill>
            <a:srgbClr val="BEF264"/>
          </a:solidFill>
          <a:ln w="12700">
            <a:solidFill>
              <a:srgbClr val="BEF264"/>
            </a:solidFill>
            <a:prstDash val="solid"/>
          </a:ln>
        </p:spPr>
      </p:sp>
      <p:sp>
        <p:nvSpPr>
          <p:cNvPr id="17" name="Text 15"/>
          <p:cNvSpPr/>
          <p:nvPr/>
        </p:nvSpPr>
        <p:spPr>
          <a:xfrm>
            <a:off x="8531352" y="2212848"/>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3</a:t>
            </a:r>
            <a:endParaRPr lang="en-US" sz="1000" dirty="0"/>
          </a:p>
        </p:txBody>
      </p:sp>
      <p:sp>
        <p:nvSpPr>
          <p:cNvPr id="18" name="Text 16"/>
          <p:cNvSpPr/>
          <p:nvPr/>
        </p:nvSpPr>
        <p:spPr>
          <a:xfrm>
            <a:off x="9025128" y="2176272"/>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Offline judge demo</a:t>
            </a:r>
            <a:endParaRPr lang="en-US" sz="1100" dirty="0"/>
          </a:p>
        </p:txBody>
      </p:sp>
      <p:sp>
        <p:nvSpPr>
          <p:cNvPr id="19" name="Text 17"/>
          <p:cNvSpPr/>
          <p:nvPr/>
        </p:nvSpPr>
        <p:spPr>
          <a:xfrm>
            <a:off x="621792" y="3300984"/>
            <a:ext cx="1170432" cy="228600"/>
          </a:xfrm>
          <a:prstGeom prst="rect">
            <a:avLst/>
          </a:prstGeom>
          <a:noFill/>
          <a:ln/>
        </p:spPr>
        <p:txBody>
          <a:bodyPr wrap="square" lIns="0" tIns="0" rIns="0" bIns="0" rtlCol="0" anchor="ctr">
            <a:normAutofit/>
          </a:bodyPr>
          <a:lstStyle/>
          <a:p>
            <a:pPr algn="l" indent="0" marL="0">
              <a:buNone/>
            </a:pPr>
            <a:r>
              <a:rPr lang="en-US" sz="850" b="1" spc="120" kern="0" dirty="0">
                <a:solidFill>
                  <a:srgbClr val="10B981"/>
                </a:solidFill>
                <a:latin typeface="Aptos" pitchFamily="34" charset="0"/>
                <a:ea typeface="Aptos" pitchFamily="34" charset="-122"/>
                <a:cs typeface="Aptos" pitchFamily="34" charset="-120"/>
              </a:rPr>
              <a:t>APPLICATION</a:t>
            </a:r>
            <a:endParaRPr lang="en-US" sz="850" dirty="0"/>
          </a:p>
        </p:txBody>
      </p:sp>
      <p:sp>
        <p:nvSpPr>
          <p:cNvPr id="20" name="Shape 18"/>
          <p:cNvSpPr/>
          <p:nvPr/>
        </p:nvSpPr>
        <p:spPr>
          <a:xfrm>
            <a:off x="1737360" y="3438144"/>
            <a:ext cx="411480" cy="0"/>
          </a:xfrm>
          <a:prstGeom prst="line">
            <a:avLst/>
          </a:prstGeom>
          <a:noFill/>
          <a:ln w="17780">
            <a:solidFill>
              <a:srgbClr val="10B981"/>
            </a:solidFill>
            <a:prstDash val="solid"/>
          </a:ln>
        </p:spPr>
      </p:sp>
      <p:sp>
        <p:nvSpPr>
          <p:cNvPr id="21" name="Shape 19"/>
          <p:cNvSpPr/>
          <p:nvPr/>
        </p:nvSpPr>
        <p:spPr>
          <a:xfrm>
            <a:off x="2331720" y="3090672"/>
            <a:ext cx="2560320" cy="694944"/>
          </a:xfrm>
          <a:prstGeom prst="roundRect">
            <a:avLst>
              <a:gd name="adj" fmla="val 23684"/>
            </a:avLst>
          </a:prstGeom>
          <a:solidFill>
            <a:srgbClr val="244E42"/>
          </a:solidFill>
          <a:ln w="12700">
            <a:solidFill>
              <a:srgbClr val="496C61"/>
            </a:solidFill>
            <a:prstDash val="solid"/>
          </a:ln>
        </p:spPr>
      </p:sp>
      <p:sp>
        <p:nvSpPr>
          <p:cNvPr id="22" name="Shape 20"/>
          <p:cNvSpPr/>
          <p:nvPr/>
        </p:nvSpPr>
        <p:spPr>
          <a:xfrm>
            <a:off x="2496312" y="3246120"/>
            <a:ext cx="365760" cy="365760"/>
          </a:xfrm>
          <a:prstGeom prst="ellipse">
            <a:avLst/>
          </a:prstGeom>
          <a:solidFill>
            <a:srgbClr val="10B981"/>
          </a:solidFill>
          <a:ln w="12700">
            <a:solidFill>
              <a:srgbClr val="10B981"/>
            </a:solidFill>
            <a:prstDash val="solid"/>
          </a:ln>
        </p:spPr>
      </p:sp>
      <p:sp>
        <p:nvSpPr>
          <p:cNvPr id="23" name="Text 21"/>
          <p:cNvSpPr/>
          <p:nvPr/>
        </p:nvSpPr>
        <p:spPr>
          <a:xfrm>
            <a:off x="2496312" y="3246120"/>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sp>
        <p:nvSpPr>
          <p:cNvPr id="24" name="Text 22"/>
          <p:cNvSpPr/>
          <p:nvPr/>
        </p:nvSpPr>
        <p:spPr>
          <a:xfrm>
            <a:off x="2990088" y="3209544"/>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Next.js 16</a:t>
            </a:r>
            <a:endParaRPr lang="en-US" sz="1100" dirty="0"/>
          </a:p>
        </p:txBody>
      </p:sp>
      <p:sp>
        <p:nvSpPr>
          <p:cNvPr id="25" name="Shape 23"/>
          <p:cNvSpPr/>
          <p:nvPr/>
        </p:nvSpPr>
        <p:spPr>
          <a:xfrm>
            <a:off x="5349240" y="3090672"/>
            <a:ext cx="2560320" cy="694944"/>
          </a:xfrm>
          <a:prstGeom prst="roundRect">
            <a:avLst>
              <a:gd name="adj" fmla="val 23684"/>
            </a:avLst>
          </a:prstGeom>
          <a:solidFill>
            <a:srgbClr val="244E42"/>
          </a:solidFill>
          <a:ln w="12700">
            <a:solidFill>
              <a:srgbClr val="496C61"/>
            </a:solidFill>
            <a:prstDash val="solid"/>
          </a:ln>
        </p:spPr>
      </p:sp>
      <p:sp>
        <p:nvSpPr>
          <p:cNvPr id="26" name="Shape 24"/>
          <p:cNvSpPr/>
          <p:nvPr/>
        </p:nvSpPr>
        <p:spPr>
          <a:xfrm>
            <a:off x="5513832" y="3246120"/>
            <a:ext cx="365760" cy="365760"/>
          </a:xfrm>
          <a:prstGeom prst="ellipse">
            <a:avLst/>
          </a:prstGeom>
          <a:solidFill>
            <a:srgbClr val="10B981"/>
          </a:solidFill>
          <a:ln w="12700">
            <a:solidFill>
              <a:srgbClr val="10B981"/>
            </a:solidFill>
            <a:prstDash val="solid"/>
          </a:ln>
        </p:spPr>
      </p:sp>
      <p:sp>
        <p:nvSpPr>
          <p:cNvPr id="27" name="Text 25"/>
          <p:cNvSpPr/>
          <p:nvPr/>
        </p:nvSpPr>
        <p:spPr>
          <a:xfrm>
            <a:off x="5513832" y="3246120"/>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sp>
        <p:nvSpPr>
          <p:cNvPr id="28" name="Text 26"/>
          <p:cNvSpPr/>
          <p:nvPr/>
        </p:nvSpPr>
        <p:spPr>
          <a:xfrm>
            <a:off x="6007608" y="3209544"/>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Scan + approval APIs</a:t>
            </a:r>
            <a:endParaRPr lang="en-US" sz="1100" dirty="0"/>
          </a:p>
        </p:txBody>
      </p:sp>
      <p:sp>
        <p:nvSpPr>
          <p:cNvPr id="29" name="Shape 27"/>
          <p:cNvSpPr/>
          <p:nvPr/>
        </p:nvSpPr>
        <p:spPr>
          <a:xfrm>
            <a:off x="8366760" y="3090672"/>
            <a:ext cx="2560320" cy="694944"/>
          </a:xfrm>
          <a:prstGeom prst="roundRect">
            <a:avLst>
              <a:gd name="adj" fmla="val 23684"/>
            </a:avLst>
          </a:prstGeom>
          <a:solidFill>
            <a:srgbClr val="244E42"/>
          </a:solidFill>
          <a:ln w="12700">
            <a:solidFill>
              <a:srgbClr val="496C61"/>
            </a:solidFill>
            <a:prstDash val="solid"/>
          </a:ln>
        </p:spPr>
      </p:sp>
      <p:sp>
        <p:nvSpPr>
          <p:cNvPr id="30" name="Shape 28"/>
          <p:cNvSpPr/>
          <p:nvPr/>
        </p:nvSpPr>
        <p:spPr>
          <a:xfrm>
            <a:off x="8531352" y="3246120"/>
            <a:ext cx="365760" cy="365760"/>
          </a:xfrm>
          <a:prstGeom prst="ellipse">
            <a:avLst/>
          </a:prstGeom>
          <a:solidFill>
            <a:srgbClr val="10B981"/>
          </a:solidFill>
          <a:ln w="12700">
            <a:solidFill>
              <a:srgbClr val="10B981"/>
            </a:solidFill>
            <a:prstDash val="solid"/>
          </a:ln>
        </p:spPr>
      </p:sp>
      <p:sp>
        <p:nvSpPr>
          <p:cNvPr id="31" name="Text 29"/>
          <p:cNvSpPr/>
          <p:nvPr/>
        </p:nvSpPr>
        <p:spPr>
          <a:xfrm>
            <a:off x="8531352" y="3246120"/>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sp>
        <p:nvSpPr>
          <p:cNvPr id="32" name="Text 30"/>
          <p:cNvSpPr/>
          <p:nvPr/>
        </p:nvSpPr>
        <p:spPr>
          <a:xfrm>
            <a:off x="9025128" y="3209544"/>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Brevo adapter</a:t>
            </a:r>
            <a:endParaRPr lang="en-US" sz="1100" dirty="0"/>
          </a:p>
        </p:txBody>
      </p:sp>
      <p:sp>
        <p:nvSpPr>
          <p:cNvPr id="33" name="Text 31"/>
          <p:cNvSpPr/>
          <p:nvPr/>
        </p:nvSpPr>
        <p:spPr>
          <a:xfrm>
            <a:off x="621792" y="4334256"/>
            <a:ext cx="1170432" cy="228600"/>
          </a:xfrm>
          <a:prstGeom prst="rect">
            <a:avLst/>
          </a:prstGeom>
          <a:noFill/>
          <a:ln/>
        </p:spPr>
        <p:txBody>
          <a:bodyPr wrap="square" lIns="0" tIns="0" rIns="0" bIns="0" rtlCol="0" anchor="ctr">
            <a:normAutofit/>
          </a:bodyPr>
          <a:lstStyle/>
          <a:p>
            <a:pPr algn="l" indent="0" marL="0">
              <a:buNone/>
            </a:pPr>
            <a:r>
              <a:rPr lang="en-US" sz="850" b="1" spc="120" kern="0" dirty="0">
                <a:solidFill>
                  <a:srgbClr val="7C3AED"/>
                </a:solidFill>
                <a:latin typeface="Aptos" pitchFamily="34" charset="0"/>
                <a:ea typeface="Aptos" pitchFamily="34" charset="-122"/>
                <a:cs typeface="Aptos" pitchFamily="34" charset="-120"/>
              </a:rPr>
              <a:t>INTELLIGENCE</a:t>
            </a:r>
            <a:endParaRPr lang="en-US" sz="850" dirty="0"/>
          </a:p>
        </p:txBody>
      </p:sp>
      <p:sp>
        <p:nvSpPr>
          <p:cNvPr id="34" name="Shape 32"/>
          <p:cNvSpPr/>
          <p:nvPr/>
        </p:nvSpPr>
        <p:spPr>
          <a:xfrm>
            <a:off x="1737360" y="4471416"/>
            <a:ext cx="411480" cy="0"/>
          </a:xfrm>
          <a:prstGeom prst="line">
            <a:avLst/>
          </a:prstGeom>
          <a:noFill/>
          <a:ln w="17780">
            <a:solidFill>
              <a:srgbClr val="7C3AED"/>
            </a:solidFill>
            <a:prstDash val="solid"/>
          </a:ln>
        </p:spPr>
      </p:sp>
      <p:sp>
        <p:nvSpPr>
          <p:cNvPr id="35" name="Shape 33"/>
          <p:cNvSpPr/>
          <p:nvPr/>
        </p:nvSpPr>
        <p:spPr>
          <a:xfrm>
            <a:off x="2331720" y="4123944"/>
            <a:ext cx="2560320" cy="694944"/>
          </a:xfrm>
          <a:prstGeom prst="roundRect">
            <a:avLst>
              <a:gd name="adj" fmla="val 23684"/>
            </a:avLst>
          </a:prstGeom>
          <a:solidFill>
            <a:srgbClr val="2A2145"/>
          </a:solidFill>
          <a:ln w="12700">
            <a:solidFill>
              <a:srgbClr val="496C61"/>
            </a:solidFill>
            <a:prstDash val="solid"/>
          </a:ln>
        </p:spPr>
      </p:sp>
      <p:sp>
        <p:nvSpPr>
          <p:cNvPr id="36" name="Shape 34"/>
          <p:cNvSpPr/>
          <p:nvPr/>
        </p:nvSpPr>
        <p:spPr>
          <a:xfrm>
            <a:off x="2496312" y="4279392"/>
            <a:ext cx="365760" cy="365760"/>
          </a:xfrm>
          <a:prstGeom prst="ellipse">
            <a:avLst/>
          </a:prstGeom>
          <a:solidFill>
            <a:srgbClr val="7C3AED"/>
          </a:solidFill>
          <a:ln w="12700">
            <a:solidFill>
              <a:srgbClr val="7C3AED"/>
            </a:solidFill>
            <a:prstDash val="solid"/>
          </a:ln>
        </p:spPr>
      </p:sp>
      <p:sp>
        <p:nvSpPr>
          <p:cNvPr id="37" name="Text 35"/>
          <p:cNvSpPr/>
          <p:nvPr/>
        </p:nvSpPr>
        <p:spPr>
          <a:xfrm>
            <a:off x="2496312" y="4279392"/>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sp>
        <p:nvSpPr>
          <p:cNvPr id="38" name="Text 36"/>
          <p:cNvSpPr/>
          <p:nvPr/>
        </p:nvSpPr>
        <p:spPr>
          <a:xfrm>
            <a:off x="2990088" y="4242816"/>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XGBoost / FastAPI</a:t>
            </a:r>
            <a:endParaRPr lang="en-US" sz="1100" dirty="0"/>
          </a:p>
        </p:txBody>
      </p:sp>
      <p:sp>
        <p:nvSpPr>
          <p:cNvPr id="39" name="Shape 37"/>
          <p:cNvSpPr/>
          <p:nvPr/>
        </p:nvSpPr>
        <p:spPr>
          <a:xfrm>
            <a:off x="5349240" y="4123944"/>
            <a:ext cx="2560320" cy="694944"/>
          </a:xfrm>
          <a:prstGeom prst="roundRect">
            <a:avLst>
              <a:gd name="adj" fmla="val 23684"/>
            </a:avLst>
          </a:prstGeom>
          <a:solidFill>
            <a:srgbClr val="2A2145"/>
          </a:solidFill>
          <a:ln w="12700">
            <a:solidFill>
              <a:srgbClr val="496C61"/>
            </a:solidFill>
            <a:prstDash val="solid"/>
          </a:ln>
        </p:spPr>
      </p:sp>
      <p:sp>
        <p:nvSpPr>
          <p:cNvPr id="40" name="Shape 38"/>
          <p:cNvSpPr/>
          <p:nvPr/>
        </p:nvSpPr>
        <p:spPr>
          <a:xfrm>
            <a:off x="5513832" y="4279392"/>
            <a:ext cx="365760" cy="365760"/>
          </a:xfrm>
          <a:prstGeom prst="ellipse">
            <a:avLst/>
          </a:prstGeom>
          <a:solidFill>
            <a:srgbClr val="7C3AED"/>
          </a:solidFill>
          <a:ln w="12700">
            <a:solidFill>
              <a:srgbClr val="7C3AED"/>
            </a:solidFill>
            <a:prstDash val="solid"/>
          </a:ln>
        </p:spPr>
      </p:sp>
      <p:sp>
        <p:nvSpPr>
          <p:cNvPr id="41" name="Text 39"/>
          <p:cNvSpPr/>
          <p:nvPr/>
        </p:nvSpPr>
        <p:spPr>
          <a:xfrm>
            <a:off x="5513832" y="4279392"/>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sp>
        <p:nvSpPr>
          <p:cNvPr id="42" name="Text 40"/>
          <p:cNvSpPr/>
          <p:nvPr/>
        </p:nvSpPr>
        <p:spPr>
          <a:xfrm>
            <a:off x="6007608" y="4242816"/>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Constrained optimizer</a:t>
            </a:r>
            <a:endParaRPr lang="en-US" sz="1100" dirty="0"/>
          </a:p>
        </p:txBody>
      </p:sp>
      <p:sp>
        <p:nvSpPr>
          <p:cNvPr id="43" name="Shape 41"/>
          <p:cNvSpPr/>
          <p:nvPr/>
        </p:nvSpPr>
        <p:spPr>
          <a:xfrm>
            <a:off x="8366760" y="4123944"/>
            <a:ext cx="2560320" cy="694944"/>
          </a:xfrm>
          <a:prstGeom prst="roundRect">
            <a:avLst>
              <a:gd name="adj" fmla="val 23684"/>
            </a:avLst>
          </a:prstGeom>
          <a:solidFill>
            <a:srgbClr val="2A2145"/>
          </a:solidFill>
          <a:ln w="12700">
            <a:solidFill>
              <a:srgbClr val="496C61"/>
            </a:solidFill>
            <a:prstDash val="solid"/>
          </a:ln>
        </p:spPr>
      </p:sp>
      <p:sp>
        <p:nvSpPr>
          <p:cNvPr id="44" name="Shape 42"/>
          <p:cNvSpPr/>
          <p:nvPr/>
        </p:nvSpPr>
        <p:spPr>
          <a:xfrm>
            <a:off x="8531352" y="4279392"/>
            <a:ext cx="365760" cy="365760"/>
          </a:xfrm>
          <a:prstGeom prst="ellipse">
            <a:avLst/>
          </a:prstGeom>
          <a:solidFill>
            <a:srgbClr val="7C3AED"/>
          </a:solidFill>
          <a:ln w="12700">
            <a:solidFill>
              <a:srgbClr val="7C3AED"/>
            </a:solidFill>
            <a:prstDash val="solid"/>
          </a:ln>
        </p:spPr>
      </p:sp>
      <p:sp>
        <p:nvSpPr>
          <p:cNvPr id="45" name="Text 43"/>
          <p:cNvSpPr/>
          <p:nvPr/>
        </p:nvSpPr>
        <p:spPr>
          <a:xfrm>
            <a:off x="8531352" y="4279392"/>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sp>
        <p:nvSpPr>
          <p:cNvPr id="46" name="Text 44"/>
          <p:cNvSpPr/>
          <p:nvPr/>
        </p:nvSpPr>
        <p:spPr>
          <a:xfrm>
            <a:off x="9025128" y="4242816"/>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Gemini adapter</a:t>
            </a:r>
            <a:endParaRPr lang="en-US" sz="1100" dirty="0"/>
          </a:p>
        </p:txBody>
      </p:sp>
      <p:sp>
        <p:nvSpPr>
          <p:cNvPr id="47" name="Text 45"/>
          <p:cNvSpPr/>
          <p:nvPr/>
        </p:nvSpPr>
        <p:spPr>
          <a:xfrm>
            <a:off x="621792" y="5367528"/>
            <a:ext cx="1170432" cy="228600"/>
          </a:xfrm>
          <a:prstGeom prst="rect">
            <a:avLst/>
          </a:prstGeom>
          <a:noFill/>
          <a:ln/>
        </p:spPr>
        <p:txBody>
          <a:bodyPr wrap="square" lIns="0" tIns="0" rIns="0" bIns="0" rtlCol="0" anchor="ctr">
            <a:normAutofit/>
          </a:bodyPr>
          <a:lstStyle/>
          <a:p>
            <a:pPr algn="l" indent="0" marL="0">
              <a:buNone/>
            </a:pPr>
            <a:r>
              <a:rPr lang="en-US" sz="850" b="1" spc="120" kern="0" dirty="0">
                <a:solidFill>
                  <a:srgbClr val="F97316"/>
                </a:solidFill>
                <a:latin typeface="Aptos" pitchFamily="34" charset="0"/>
                <a:ea typeface="Aptos" pitchFamily="34" charset="-122"/>
                <a:cs typeface="Aptos" pitchFamily="34" charset="-120"/>
              </a:rPr>
              <a:t>DATA + OPS</a:t>
            </a:r>
            <a:endParaRPr lang="en-US" sz="850" dirty="0"/>
          </a:p>
        </p:txBody>
      </p:sp>
      <p:sp>
        <p:nvSpPr>
          <p:cNvPr id="48" name="Shape 46"/>
          <p:cNvSpPr/>
          <p:nvPr/>
        </p:nvSpPr>
        <p:spPr>
          <a:xfrm>
            <a:off x="1737360" y="5504688"/>
            <a:ext cx="411480" cy="0"/>
          </a:xfrm>
          <a:prstGeom prst="line">
            <a:avLst/>
          </a:prstGeom>
          <a:noFill/>
          <a:ln w="17780">
            <a:solidFill>
              <a:srgbClr val="F97316"/>
            </a:solidFill>
            <a:prstDash val="solid"/>
          </a:ln>
        </p:spPr>
      </p:sp>
      <p:sp>
        <p:nvSpPr>
          <p:cNvPr id="49" name="Shape 47"/>
          <p:cNvSpPr/>
          <p:nvPr/>
        </p:nvSpPr>
        <p:spPr>
          <a:xfrm>
            <a:off x="2331720" y="5157216"/>
            <a:ext cx="2560320" cy="694944"/>
          </a:xfrm>
          <a:prstGeom prst="roundRect">
            <a:avLst>
              <a:gd name="adj" fmla="val 23684"/>
            </a:avLst>
          </a:prstGeom>
          <a:solidFill>
            <a:srgbClr val="493020"/>
          </a:solidFill>
          <a:ln w="12700">
            <a:solidFill>
              <a:srgbClr val="496C61"/>
            </a:solidFill>
            <a:prstDash val="solid"/>
          </a:ln>
        </p:spPr>
      </p:sp>
      <p:sp>
        <p:nvSpPr>
          <p:cNvPr id="50" name="Shape 48"/>
          <p:cNvSpPr/>
          <p:nvPr/>
        </p:nvSpPr>
        <p:spPr>
          <a:xfrm>
            <a:off x="2496312" y="5312664"/>
            <a:ext cx="365760" cy="365760"/>
          </a:xfrm>
          <a:prstGeom prst="ellipse">
            <a:avLst/>
          </a:prstGeom>
          <a:solidFill>
            <a:srgbClr val="F97316"/>
          </a:solidFill>
          <a:ln w="12700">
            <a:solidFill>
              <a:srgbClr val="F97316"/>
            </a:solidFill>
            <a:prstDash val="solid"/>
          </a:ln>
        </p:spPr>
      </p:sp>
      <p:sp>
        <p:nvSpPr>
          <p:cNvPr id="51" name="Text 49"/>
          <p:cNvSpPr/>
          <p:nvPr/>
        </p:nvSpPr>
        <p:spPr>
          <a:xfrm>
            <a:off x="2496312" y="5312664"/>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1</a:t>
            </a:r>
            <a:endParaRPr lang="en-US" sz="1000" dirty="0"/>
          </a:p>
        </p:txBody>
      </p:sp>
      <p:sp>
        <p:nvSpPr>
          <p:cNvPr id="52" name="Text 50"/>
          <p:cNvSpPr/>
          <p:nvPr/>
        </p:nvSpPr>
        <p:spPr>
          <a:xfrm>
            <a:off x="2990088" y="5276088"/>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Supabase + RLS</a:t>
            </a:r>
            <a:endParaRPr lang="en-US" sz="1100" dirty="0"/>
          </a:p>
        </p:txBody>
      </p:sp>
      <p:sp>
        <p:nvSpPr>
          <p:cNvPr id="53" name="Shape 51"/>
          <p:cNvSpPr/>
          <p:nvPr/>
        </p:nvSpPr>
        <p:spPr>
          <a:xfrm>
            <a:off x="5349240" y="5157216"/>
            <a:ext cx="2560320" cy="694944"/>
          </a:xfrm>
          <a:prstGeom prst="roundRect">
            <a:avLst>
              <a:gd name="adj" fmla="val 23684"/>
            </a:avLst>
          </a:prstGeom>
          <a:solidFill>
            <a:srgbClr val="493020"/>
          </a:solidFill>
          <a:ln w="12700">
            <a:solidFill>
              <a:srgbClr val="496C61"/>
            </a:solidFill>
            <a:prstDash val="solid"/>
          </a:ln>
        </p:spPr>
      </p:sp>
      <p:sp>
        <p:nvSpPr>
          <p:cNvPr id="54" name="Shape 52"/>
          <p:cNvSpPr/>
          <p:nvPr/>
        </p:nvSpPr>
        <p:spPr>
          <a:xfrm>
            <a:off x="5513832" y="5312664"/>
            <a:ext cx="365760" cy="365760"/>
          </a:xfrm>
          <a:prstGeom prst="ellipse">
            <a:avLst/>
          </a:prstGeom>
          <a:solidFill>
            <a:srgbClr val="F97316"/>
          </a:solidFill>
          <a:ln w="12700">
            <a:solidFill>
              <a:srgbClr val="F97316"/>
            </a:solidFill>
            <a:prstDash val="solid"/>
          </a:ln>
        </p:spPr>
      </p:sp>
      <p:sp>
        <p:nvSpPr>
          <p:cNvPr id="55" name="Text 53"/>
          <p:cNvSpPr/>
          <p:nvPr/>
        </p:nvSpPr>
        <p:spPr>
          <a:xfrm>
            <a:off x="5513832" y="5312664"/>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2</a:t>
            </a:r>
            <a:endParaRPr lang="en-US" sz="1000" dirty="0"/>
          </a:p>
        </p:txBody>
      </p:sp>
      <p:sp>
        <p:nvSpPr>
          <p:cNvPr id="56" name="Text 54"/>
          <p:cNvSpPr/>
          <p:nvPr/>
        </p:nvSpPr>
        <p:spPr>
          <a:xfrm>
            <a:off x="6007608" y="5276088"/>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Vercel + cron</a:t>
            </a:r>
            <a:endParaRPr lang="en-US" sz="1100" dirty="0"/>
          </a:p>
        </p:txBody>
      </p:sp>
      <p:sp>
        <p:nvSpPr>
          <p:cNvPr id="57" name="Shape 55"/>
          <p:cNvSpPr/>
          <p:nvPr/>
        </p:nvSpPr>
        <p:spPr>
          <a:xfrm>
            <a:off x="8366760" y="5157216"/>
            <a:ext cx="2560320" cy="694944"/>
          </a:xfrm>
          <a:prstGeom prst="roundRect">
            <a:avLst>
              <a:gd name="adj" fmla="val 23684"/>
            </a:avLst>
          </a:prstGeom>
          <a:solidFill>
            <a:srgbClr val="493020"/>
          </a:solidFill>
          <a:ln w="12700">
            <a:solidFill>
              <a:srgbClr val="496C61"/>
            </a:solidFill>
            <a:prstDash val="solid"/>
          </a:ln>
        </p:spPr>
      </p:sp>
      <p:sp>
        <p:nvSpPr>
          <p:cNvPr id="58" name="Shape 56"/>
          <p:cNvSpPr/>
          <p:nvPr/>
        </p:nvSpPr>
        <p:spPr>
          <a:xfrm>
            <a:off x="8531352" y="5312664"/>
            <a:ext cx="365760" cy="365760"/>
          </a:xfrm>
          <a:prstGeom prst="ellipse">
            <a:avLst/>
          </a:prstGeom>
          <a:solidFill>
            <a:srgbClr val="F97316"/>
          </a:solidFill>
          <a:ln w="12700">
            <a:solidFill>
              <a:srgbClr val="F97316"/>
            </a:solidFill>
            <a:prstDash val="solid"/>
          </a:ln>
        </p:spPr>
      </p:sp>
      <p:sp>
        <p:nvSpPr>
          <p:cNvPr id="59" name="Text 57"/>
          <p:cNvSpPr/>
          <p:nvPr/>
        </p:nvSpPr>
        <p:spPr>
          <a:xfrm>
            <a:off x="8531352" y="5312664"/>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3</a:t>
            </a:r>
            <a:endParaRPr lang="en-US" sz="1000" dirty="0"/>
          </a:p>
        </p:txBody>
      </p:sp>
      <p:sp>
        <p:nvSpPr>
          <p:cNvPr id="60" name="Text 58"/>
          <p:cNvSpPr/>
          <p:nvPr/>
        </p:nvSpPr>
        <p:spPr>
          <a:xfrm>
            <a:off x="9025128" y="5276088"/>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Render model service</a:t>
            </a:r>
            <a:endParaRPr lang="en-US" sz="1100" dirty="0"/>
          </a:p>
        </p:txBody>
      </p:sp>
      <p:sp>
        <p:nvSpPr>
          <p:cNvPr id="61" name="Shape 59"/>
          <p:cNvSpPr/>
          <p:nvPr/>
        </p:nvSpPr>
        <p:spPr>
          <a:xfrm>
            <a:off x="10899648" y="1993392"/>
            <a:ext cx="594360" cy="3895344"/>
          </a:xfrm>
          <a:prstGeom prst="roundRect">
            <a:avLst>
              <a:gd name="adj" fmla="val 27692"/>
            </a:avLst>
          </a:prstGeom>
          <a:solidFill>
            <a:srgbClr val="244E42"/>
          </a:solidFill>
          <a:ln w="12700">
            <a:solidFill>
              <a:srgbClr val="244E42">
                <a:alpha val="0"/>
              </a:srgbClr>
            </a:solidFill>
            <a:prstDash val="solid"/>
          </a:ln>
        </p:spPr>
      </p:sp>
      <p:sp>
        <p:nvSpPr>
          <p:cNvPr id="62" name="Text 60"/>
          <p:cNvSpPr/>
          <p:nvPr/>
        </p:nvSpPr>
        <p:spPr>
          <a:xfrm>
            <a:off x="11009376" y="2395728"/>
            <a:ext cx="374904" cy="914400"/>
          </a:xfrm>
          <a:prstGeom prst="rect">
            <a:avLst/>
          </a:prstGeom>
          <a:noFill/>
          <a:ln/>
        </p:spPr>
        <p:txBody>
          <a:bodyPr wrap="square" lIns="0" tIns="0" rIns="0" bIns="0" rtlCol="0" anchor="ctr">
            <a:normAutofit/>
          </a:bodyPr>
          <a:lstStyle/>
          <a:p>
            <a:pPr algn="ctr" indent="0" marL="0">
              <a:buNone/>
            </a:pPr>
            <a:r>
              <a:rPr lang="en-US" sz="900" b="1" dirty="0">
                <a:solidFill>
                  <a:srgbClr val="BEF264"/>
                </a:solidFill>
                <a:latin typeface="Aptos" pitchFamily="34" charset="0"/>
                <a:ea typeface="Aptos" pitchFamily="34" charset="-122"/>
                <a:cs typeface="Aptos" pitchFamily="34" charset="-120"/>
              </a:rPr>
              <a:t>AUDIT</a:t>
            </a:r>
            <a:endParaRPr lang="en-US" sz="900" dirty="0"/>
          </a:p>
          <a:p>
            <a:pPr algn="ctr" indent="0" marL="0">
              <a:buNone/>
            </a:pPr>
            <a:r>
              <a:rPr lang="en-US" sz="900" b="1" dirty="0">
                <a:solidFill>
                  <a:srgbClr val="BEF264"/>
                </a:solidFill>
                <a:latin typeface="Aptos" pitchFamily="34" charset="0"/>
                <a:ea typeface="Aptos" pitchFamily="34" charset="-122"/>
                <a:cs typeface="Aptos" pitchFamily="34" charset="-120"/>
              </a:rPr>
              <a:t>TRAIL</a:t>
            </a:r>
            <a:endParaRPr lang="en-US" sz="900" dirty="0"/>
          </a:p>
        </p:txBody>
      </p:sp>
      <p:sp>
        <p:nvSpPr>
          <p:cNvPr id="63" name="Shape 61"/>
          <p:cNvSpPr/>
          <p:nvPr/>
        </p:nvSpPr>
        <p:spPr>
          <a:xfrm>
            <a:off x="11192256" y="3429000"/>
            <a:ext cx="0" cy="1536192"/>
          </a:xfrm>
          <a:prstGeom prst="line">
            <a:avLst/>
          </a:prstGeom>
          <a:noFill/>
          <a:ln w="17780">
            <a:solidFill>
              <a:srgbClr val="5D7D72"/>
            </a:solidFill>
            <a:prstDash val="dash"/>
          </a:ln>
        </p:spPr>
      </p:sp>
      <p:sp>
        <p:nvSpPr>
          <p:cNvPr id="64" name="Text 62"/>
          <p:cNvSpPr/>
          <p:nvPr/>
        </p:nvSpPr>
        <p:spPr>
          <a:xfrm>
            <a:off x="11009376" y="5029200"/>
            <a:ext cx="374904" cy="53035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STORE</a:t>
            </a:r>
            <a:endParaRPr lang="en-US" sz="900" dirty="0"/>
          </a:p>
          <a:p>
            <a:pPr algn="ctr" indent="0" marL="0">
              <a:buNone/>
            </a:pPr>
            <a:r>
              <a:rPr lang="en-US" sz="900" b="1" dirty="0">
                <a:solidFill>
                  <a:srgbClr val="FFFFFF"/>
                </a:solidFill>
                <a:latin typeface="Aptos" pitchFamily="34" charset="0"/>
                <a:ea typeface="Aptos" pitchFamily="34" charset="-122"/>
                <a:cs typeface="Aptos" pitchFamily="34" charset="-120"/>
              </a:rPr>
              <a:t>ID</a:t>
            </a:r>
            <a:endParaRPr lang="en-US" sz="900" dirty="0"/>
          </a:p>
        </p:txBody>
      </p:sp>
      <p:sp>
        <p:nvSpPr>
          <p:cNvPr id="65" name="Shape 63"/>
          <p:cNvSpPr/>
          <p:nvPr/>
        </p:nvSpPr>
        <p:spPr>
          <a:xfrm>
            <a:off x="502920" y="6419088"/>
            <a:ext cx="10744200" cy="0"/>
          </a:xfrm>
          <a:prstGeom prst="line">
            <a:avLst/>
          </a:prstGeom>
          <a:noFill/>
          <a:ln w="10160">
            <a:solidFill>
              <a:srgbClr val="406459"/>
            </a:solidFill>
            <a:prstDash val="solid"/>
          </a:ln>
        </p:spPr>
      </p:sp>
      <p:sp>
        <p:nvSpPr>
          <p:cNvPr id="66" name="Text 64"/>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BEF264"/>
                </a:solidFill>
                <a:latin typeface="Aptos" pitchFamily="34" charset="0"/>
                <a:ea typeface="Aptos" pitchFamily="34" charset="-122"/>
                <a:cs typeface="Aptos" pitchFamily="34" charset="-120"/>
              </a:rPr>
              <a:t>FRESHSAVER</a:t>
            </a:r>
            <a:endParaRPr lang="en-US" sz="750" dirty="0"/>
          </a:p>
        </p:txBody>
      </p:sp>
      <p:sp>
        <p:nvSpPr>
          <p:cNvPr id="67" name="Text 65"/>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90A99F"/>
                </a:solidFill>
                <a:latin typeface="Aptos" pitchFamily="34" charset="0"/>
                <a:ea typeface="Aptos" pitchFamily="34" charset="-122"/>
                <a:cs typeface="Aptos" pitchFamily="34" charset="-120"/>
              </a:rPr>
              <a:t>Next.js · Supabase · XGBoost · Render · Vercel</a:t>
            </a:r>
            <a:endParaRPr lang="en-US" sz="750" dirty="0"/>
          </a:p>
        </p:txBody>
      </p:sp>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6ADA4"/>
                </a:solidFill>
                <a:latin typeface="Aptos"/>
                <a:ea typeface="Aptos"/>
                <a:cs typeface="Apto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10B981"/>
                </a:solidFill>
                <a:latin typeface="Aptos" pitchFamily="34" charset="0"/>
                <a:ea typeface="Aptos" pitchFamily="34" charset="-122"/>
                <a:cs typeface="Aptos" pitchFamily="34" charset="-120"/>
              </a:rPr>
              <a:t>WHAT IS LIVE TODAY</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15352C"/>
                </a:solidFill>
                <a:latin typeface="Aptos Display" pitchFamily="34" charset="0"/>
                <a:ea typeface="Aptos Display" pitchFamily="34" charset="-122"/>
                <a:cs typeface="Aptos Display" pitchFamily="34" charset="-120"/>
              </a:rPr>
              <a:t>A deployed product — with honest boundaries.</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667D75"/>
                </a:solidFill>
                <a:latin typeface="Aptos" pitchFamily="34" charset="0"/>
                <a:ea typeface="Aptos" pitchFamily="34" charset="-122"/>
                <a:cs typeface="Aptos" pitchFamily="34" charset="-120"/>
              </a:rPr>
              <a:t>The system is usable now; impact claims wait for real merchant evidence.</a:t>
            </a:r>
            <a:endParaRPr lang="en-US" sz="1250" dirty="0"/>
          </a:p>
        </p:txBody>
      </p:sp>
      <p:sp>
        <p:nvSpPr>
          <p:cNvPr id="5" name="Shape 3"/>
          <p:cNvSpPr/>
          <p:nvPr/>
        </p:nvSpPr>
        <p:spPr>
          <a:xfrm>
            <a:off x="640080" y="2029968"/>
            <a:ext cx="2377440" cy="960120"/>
          </a:xfrm>
          <a:prstGeom prst="roundRect">
            <a:avLst>
              <a:gd name="adj" fmla="val 17143"/>
            </a:avLst>
          </a:prstGeom>
          <a:solidFill>
            <a:srgbClr val="DDF7E8"/>
          </a:solidFill>
          <a:ln w="12700">
            <a:solidFill>
              <a:srgbClr val="DDF7E8">
                <a:alpha val="0"/>
              </a:srgbClr>
            </a:solidFill>
            <a:prstDash val="solid"/>
          </a:ln>
        </p:spPr>
      </p:sp>
      <p:sp>
        <p:nvSpPr>
          <p:cNvPr id="6" name="Text 4"/>
          <p:cNvSpPr/>
          <p:nvPr/>
        </p:nvSpPr>
        <p:spPr>
          <a:xfrm>
            <a:off x="804672" y="2157984"/>
            <a:ext cx="2048256" cy="384048"/>
          </a:xfrm>
          <a:prstGeom prst="rect">
            <a:avLst/>
          </a:prstGeom>
          <a:noFill/>
          <a:ln/>
        </p:spPr>
        <p:txBody>
          <a:bodyPr wrap="square" lIns="0" tIns="0" rIns="0" bIns="0" rtlCol="0" anchor="ctr">
            <a:normAutofit/>
          </a:bodyPr>
          <a:lstStyle/>
          <a:p>
            <a:pPr algn="l" indent="0" marL="0">
              <a:buNone/>
            </a:pPr>
            <a:r>
              <a:rPr lang="en-US" sz="2300" b="1" dirty="0">
                <a:solidFill>
                  <a:srgbClr val="173D31"/>
                </a:solidFill>
                <a:latin typeface="Aptos Display" pitchFamily="34" charset="0"/>
                <a:ea typeface="Aptos Display" pitchFamily="34" charset="-122"/>
                <a:cs typeface="Aptos Display" pitchFamily="34" charset="-120"/>
              </a:rPr>
              <a:t>18</a:t>
            </a:r>
            <a:endParaRPr lang="en-US" sz="2300" dirty="0"/>
          </a:p>
        </p:txBody>
      </p:sp>
      <p:sp>
        <p:nvSpPr>
          <p:cNvPr id="7" name="Text 5"/>
          <p:cNvSpPr/>
          <p:nvPr/>
        </p:nvSpPr>
        <p:spPr>
          <a:xfrm>
            <a:off x="804672" y="2596896"/>
            <a:ext cx="2048256" cy="219456"/>
          </a:xfrm>
          <a:prstGeom prst="rect">
            <a:avLst/>
          </a:prstGeom>
          <a:noFill/>
          <a:ln/>
        </p:spPr>
        <p:txBody>
          <a:bodyPr wrap="square" lIns="0" tIns="0" rIns="0" bIns="0" rtlCol="0" anchor="ctr">
            <a:normAutofit/>
          </a:bodyPr>
          <a:lstStyle/>
          <a:p>
            <a:pPr algn="l" indent="0" marL="0">
              <a:buNone/>
            </a:pPr>
            <a:r>
              <a:rPr lang="en-US" sz="900" b="1" dirty="0">
                <a:solidFill>
                  <a:srgbClr val="173D31">
                    <a:alpha val="75000"/>
                  </a:srgbClr>
                </a:solidFill>
                <a:latin typeface="Aptos" pitchFamily="34" charset="0"/>
                <a:ea typeface="Aptos" pitchFamily="34" charset="-122"/>
                <a:cs typeface="Aptos" pitchFamily="34" charset="-120"/>
              </a:rPr>
              <a:t>AUTOMATED TESTS</a:t>
            </a:r>
            <a:endParaRPr lang="en-US" sz="900" dirty="0"/>
          </a:p>
        </p:txBody>
      </p:sp>
      <p:sp>
        <p:nvSpPr>
          <p:cNvPr id="8" name="Shape 6"/>
          <p:cNvSpPr/>
          <p:nvPr/>
        </p:nvSpPr>
        <p:spPr>
          <a:xfrm>
            <a:off x="3182112" y="2029968"/>
            <a:ext cx="2377440" cy="960120"/>
          </a:xfrm>
          <a:prstGeom prst="roundRect">
            <a:avLst>
              <a:gd name="adj" fmla="val 17143"/>
            </a:avLst>
          </a:prstGeom>
          <a:solidFill>
            <a:srgbClr val="BEF264"/>
          </a:solidFill>
          <a:ln w="12700">
            <a:solidFill>
              <a:srgbClr val="BEF264">
                <a:alpha val="0"/>
              </a:srgbClr>
            </a:solidFill>
            <a:prstDash val="solid"/>
          </a:ln>
        </p:spPr>
      </p:sp>
      <p:sp>
        <p:nvSpPr>
          <p:cNvPr id="9" name="Text 7"/>
          <p:cNvSpPr/>
          <p:nvPr/>
        </p:nvSpPr>
        <p:spPr>
          <a:xfrm>
            <a:off x="3346704" y="2157984"/>
            <a:ext cx="2048256" cy="384048"/>
          </a:xfrm>
          <a:prstGeom prst="rect">
            <a:avLst/>
          </a:prstGeom>
          <a:noFill/>
          <a:ln/>
        </p:spPr>
        <p:txBody>
          <a:bodyPr wrap="square" lIns="0" tIns="0" rIns="0" bIns="0" rtlCol="0" anchor="ctr">
            <a:normAutofit/>
          </a:bodyPr>
          <a:lstStyle/>
          <a:p>
            <a:pPr algn="l" indent="0" marL="0">
              <a:buNone/>
            </a:pPr>
            <a:r>
              <a:rPr lang="en-US" sz="2300" b="1" dirty="0">
                <a:solidFill>
                  <a:srgbClr val="173D31"/>
                </a:solidFill>
                <a:latin typeface="Aptos Display" pitchFamily="34" charset="0"/>
                <a:ea typeface="Aptos Display" pitchFamily="34" charset="-122"/>
                <a:cs typeface="Aptos Display" pitchFamily="34" charset="-120"/>
              </a:rPr>
              <a:t>8× 200</a:t>
            </a:r>
            <a:endParaRPr lang="en-US" sz="2300" dirty="0"/>
          </a:p>
        </p:txBody>
      </p:sp>
      <p:sp>
        <p:nvSpPr>
          <p:cNvPr id="10" name="Text 8"/>
          <p:cNvSpPr/>
          <p:nvPr/>
        </p:nvSpPr>
        <p:spPr>
          <a:xfrm>
            <a:off x="3346704" y="2596896"/>
            <a:ext cx="2048256" cy="219456"/>
          </a:xfrm>
          <a:prstGeom prst="rect">
            <a:avLst/>
          </a:prstGeom>
          <a:noFill/>
          <a:ln/>
        </p:spPr>
        <p:txBody>
          <a:bodyPr wrap="square" lIns="0" tIns="0" rIns="0" bIns="0" rtlCol="0" anchor="ctr">
            <a:normAutofit/>
          </a:bodyPr>
          <a:lstStyle/>
          <a:p>
            <a:pPr algn="l" indent="0" marL="0">
              <a:buNone/>
            </a:pPr>
            <a:r>
              <a:rPr lang="en-US" sz="900" b="1" dirty="0">
                <a:solidFill>
                  <a:srgbClr val="173D31">
                    <a:alpha val="75000"/>
                  </a:srgbClr>
                </a:solidFill>
                <a:latin typeface="Aptos" pitchFamily="34" charset="0"/>
                <a:ea typeface="Aptos" pitchFamily="34" charset="-122"/>
                <a:cs typeface="Aptos" pitchFamily="34" charset="-120"/>
              </a:rPr>
              <a:t>PUBLIC ROUTES VERIFIED</a:t>
            </a:r>
            <a:endParaRPr lang="en-US" sz="900" dirty="0"/>
          </a:p>
        </p:txBody>
      </p:sp>
      <p:sp>
        <p:nvSpPr>
          <p:cNvPr id="11" name="Shape 9"/>
          <p:cNvSpPr/>
          <p:nvPr/>
        </p:nvSpPr>
        <p:spPr>
          <a:xfrm>
            <a:off x="5724144" y="2029968"/>
            <a:ext cx="2377440" cy="960120"/>
          </a:xfrm>
          <a:prstGeom prst="roundRect">
            <a:avLst>
              <a:gd name="adj" fmla="val 17143"/>
            </a:avLst>
          </a:prstGeom>
          <a:solidFill>
            <a:srgbClr val="F2ECFF"/>
          </a:solidFill>
          <a:ln w="12700">
            <a:solidFill>
              <a:srgbClr val="F2ECFF">
                <a:alpha val="0"/>
              </a:srgbClr>
            </a:solidFill>
            <a:prstDash val="solid"/>
          </a:ln>
        </p:spPr>
      </p:sp>
      <p:sp>
        <p:nvSpPr>
          <p:cNvPr id="12" name="Text 10"/>
          <p:cNvSpPr/>
          <p:nvPr/>
        </p:nvSpPr>
        <p:spPr>
          <a:xfrm>
            <a:off x="5888736" y="2157984"/>
            <a:ext cx="2048256" cy="384048"/>
          </a:xfrm>
          <a:prstGeom prst="rect">
            <a:avLst/>
          </a:prstGeom>
          <a:noFill/>
          <a:ln/>
        </p:spPr>
        <p:txBody>
          <a:bodyPr wrap="square" lIns="0" tIns="0" rIns="0" bIns="0" rtlCol="0" anchor="ctr">
            <a:normAutofit/>
          </a:bodyPr>
          <a:lstStyle/>
          <a:p>
            <a:pPr algn="l" indent="0" marL="0">
              <a:buNone/>
            </a:pPr>
            <a:r>
              <a:rPr lang="en-US" sz="2300" b="1" dirty="0">
                <a:solidFill>
                  <a:srgbClr val="7C3AED"/>
                </a:solidFill>
                <a:latin typeface="Aptos Display" pitchFamily="34" charset="0"/>
                <a:ea typeface="Aptos Display" pitchFamily="34" charset="-122"/>
                <a:cs typeface="Aptos Display" pitchFamily="34" charset="-120"/>
              </a:rPr>
              <a:t>XGBoost</a:t>
            </a:r>
            <a:endParaRPr lang="en-US" sz="2300" dirty="0"/>
          </a:p>
        </p:txBody>
      </p:sp>
      <p:sp>
        <p:nvSpPr>
          <p:cNvPr id="13" name="Text 11"/>
          <p:cNvSpPr/>
          <p:nvPr/>
        </p:nvSpPr>
        <p:spPr>
          <a:xfrm>
            <a:off x="5888736" y="2596896"/>
            <a:ext cx="2048256" cy="219456"/>
          </a:xfrm>
          <a:prstGeom prst="rect">
            <a:avLst/>
          </a:prstGeom>
          <a:noFill/>
          <a:ln/>
        </p:spPr>
        <p:txBody>
          <a:bodyPr wrap="square" lIns="0" tIns="0" rIns="0" bIns="0" rtlCol="0" anchor="ctr">
            <a:normAutofit/>
          </a:bodyPr>
          <a:lstStyle/>
          <a:p>
            <a:pPr algn="l" indent="0" marL="0">
              <a:buNone/>
            </a:pPr>
            <a:r>
              <a:rPr lang="en-US" sz="900" b="1" dirty="0">
                <a:solidFill>
                  <a:srgbClr val="7C3AED">
                    <a:alpha val="75000"/>
                  </a:srgbClr>
                </a:solidFill>
                <a:latin typeface="Aptos" pitchFamily="34" charset="0"/>
                <a:ea typeface="Aptos" pitchFamily="34" charset="-122"/>
                <a:cs typeface="Aptos" pitchFamily="34" charset="-120"/>
              </a:rPr>
              <a:t>LIVE AI PROVIDER</a:t>
            </a:r>
            <a:endParaRPr lang="en-US" sz="900" dirty="0"/>
          </a:p>
        </p:txBody>
      </p:sp>
      <p:sp>
        <p:nvSpPr>
          <p:cNvPr id="14" name="Shape 12"/>
          <p:cNvSpPr/>
          <p:nvPr/>
        </p:nvSpPr>
        <p:spPr>
          <a:xfrm>
            <a:off x="8266176" y="2029968"/>
            <a:ext cx="2377440" cy="960120"/>
          </a:xfrm>
          <a:prstGeom prst="roundRect">
            <a:avLst>
              <a:gd name="adj" fmla="val 17143"/>
            </a:avLst>
          </a:prstGeom>
          <a:solidFill>
            <a:srgbClr val="FFF0E7"/>
          </a:solidFill>
          <a:ln w="12700">
            <a:solidFill>
              <a:srgbClr val="FFF0E7">
                <a:alpha val="0"/>
              </a:srgbClr>
            </a:solidFill>
            <a:prstDash val="solid"/>
          </a:ln>
        </p:spPr>
      </p:sp>
      <p:sp>
        <p:nvSpPr>
          <p:cNvPr id="15" name="Text 13"/>
          <p:cNvSpPr/>
          <p:nvPr/>
        </p:nvSpPr>
        <p:spPr>
          <a:xfrm>
            <a:off x="8430768" y="2157984"/>
            <a:ext cx="2048256" cy="384048"/>
          </a:xfrm>
          <a:prstGeom prst="rect">
            <a:avLst/>
          </a:prstGeom>
          <a:noFill/>
          <a:ln/>
        </p:spPr>
        <p:txBody>
          <a:bodyPr wrap="square" lIns="0" tIns="0" rIns="0" bIns="0" rtlCol="0" anchor="ctr">
            <a:normAutofit/>
          </a:bodyPr>
          <a:lstStyle/>
          <a:p>
            <a:pPr algn="l" indent="0" marL="0">
              <a:buNone/>
            </a:pPr>
            <a:r>
              <a:rPr lang="en-US" sz="2300" b="1" dirty="0">
                <a:solidFill>
                  <a:srgbClr val="F97316"/>
                </a:solidFill>
                <a:latin typeface="Aptos Display" pitchFamily="34" charset="0"/>
                <a:ea typeface="Aptos Display" pitchFamily="34" charset="-122"/>
                <a:cs typeface="Aptos Display" pitchFamily="34" charset="-120"/>
              </a:rPr>
              <a:t>3</a:t>
            </a:r>
            <a:endParaRPr lang="en-US" sz="2300" dirty="0"/>
          </a:p>
        </p:txBody>
      </p:sp>
      <p:sp>
        <p:nvSpPr>
          <p:cNvPr id="16" name="Text 14"/>
          <p:cNvSpPr/>
          <p:nvPr/>
        </p:nvSpPr>
        <p:spPr>
          <a:xfrm>
            <a:off x="8430768" y="2596896"/>
            <a:ext cx="2048256" cy="219456"/>
          </a:xfrm>
          <a:prstGeom prst="rect">
            <a:avLst/>
          </a:prstGeom>
          <a:noFill/>
          <a:ln/>
        </p:spPr>
        <p:txBody>
          <a:bodyPr wrap="square" lIns="0" tIns="0" rIns="0" bIns="0" rtlCol="0" anchor="ctr">
            <a:normAutofit/>
          </a:bodyPr>
          <a:lstStyle/>
          <a:p>
            <a:pPr algn="l" indent="0" marL="0">
              <a:buNone/>
            </a:pPr>
            <a:r>
              <a:rPr lang="en-US" sz="900" b="1" dirty="0">
                <a:solidFill>
                  <a:srgbClr val="F97316">
                    <a:alpha val="75000"/>
                  </a:srgbClr>
                </a:solidFill>
                <a:latin typeface="Aptos" pitchFamily="34" charset="0"/>
                <a:ea typeface="Aptos" pitchFamily="34" charset="-122"/>
                <a:cs typeface="Aptos" pitchFamily="34" charset="-120"/>
              </a:rPr>
              <a:t>MCP CONTROL PLANES</a:t>
            </a:r>
            <a:endParaRPr lang="en-US" sz="900" dirty="0"/>
          </a:p>
        </p:txBody>
      </p:sp>
      <p:sp>
        <p:nvSpPr>
          <p:cNvPr id="17" name="Shape 15"/>
          <p:cNvSpPr/>
          <p:nvPr/>
        </p:nvSpPr>
        <p:spPr>
          <a:xfrm>
            <a:off x="640080" y="3310128"/>
            <a:ext cx="5230368" cy="2331720"/>
          </a:xfrm>
          <a:prstGeom prst="roundRect">
            <a:avLst>
              <a:gd name="adj" fmla="val 9020"/>
            </a:avLst>
          </a:prstGeom>
          <a:solidFill>
            <a:srgbClr val="FFFFFF"/>
          </a:solidFill>
          <a:ln w="12700">
            <a:solidFill>
              <a:srgbClr val="D9E3DD"/>
            </a:solidFill>
            <a:prstDash val="solid"/>
          </a:ln>
          <a:effectLst>
            <a:outerShdw sx="100000" sy="100000" kx="0" ky="0" algn="bl" rotWithShape="0" blurRad="3.5210699032441527e+49" dist="7.042139806488305e+49" dir="9.795520512000002e+58">
              <a:srgbClr val="0A241C">
                <a:alpha val="1.2999999999999998e+59"/>
              </a:srgbClr>
            </a:outerShdw>
          </a:effectLst>
        </p:spPr>
      </p:sp>
      <p:sp>
        <p:nvSpPr>
          <p:cNvPr id="18" name="Shape 16"/>
          <p:cNvSpPr/>
          <p:nvPr/>
        </p:nvSpPr>
        <p:spPr>
          <a:xfrm>
            <a:off x="941832" y="3602736"/>
            <a:ext cx="777240" cy="292608"/>
          </a:xfrm>
          <a:prstGeom prst="roundRect">
            <a:avLst>
              <a:gd name="adj" fmla="val 50000"/>
            </a:avLst>
          </a:prstGeom>
          <a:solidFill>
            <a:srgbClr val="DDF7E8"/>
          </a:solidFill>
          <a:ln w="12700">
            <a:solidFill>
              <a:srgbClr val="DDF7E8">
                <a:alpha val="0"/>
              </a:srgbClr>
            </a:solidFill>
            <a:prstDash val="solid"/>
          </a:ln>
        </p:spPr>
      </p:sp>
      <p:sp>
        <p:nvSpPr>
          <p:cNvPr id="19" name="Text 17"/>
          <p:cNvSpPr/>
          <p:nvPr/>
        </p:nvSpPr>
        <p:spPr>
          <a:xfrm>
            <a:off x="1014984" y="3602736"/>
            <a:ext cx="630936" cy="292608"/>
          </a:xfrm>
          <a:prstGeom prst="rect">
            <a:avLst/>
          </a:prstGeom>
          <a:noFill/>
          <a:ln/>
        </p:spPr>
        <p:txBody>
          <a:bodyPr wrap="square" lIns="0" tIns="0" rIns="0" bIns="0" rtlCol="0" anchor="ctr">
            <a:normAutofit/>
          </a:bodyPr>
          <a:lstStyle/>
          <a:p>
            <a:pPr algn="ctr" indent="0" marL="0">
              <a:buNone/>
            </a:pPr>
            <a:r>
              <a:rPr lang="en-US" sz="900" b="1" dirty="0">
                <a:solidFill>
                  <a:srgbClr val="10B981"/>
                </a:solidFill>
                <a:latin typeface="Aptos" pitchFamily="34" charset="0"/>
                <a:ea typeface="Aptos" pitchFamily="34" charset="-122"/>
                <a:cs typeface="Aptos" pitchFamily="34" charset="-120"/>
              </a:rPr>
              <a:t>PROVEN</a:t>
            </a:r>
            <a:endParaRPr lang="en-US" sz="900" dirty="0"/>
          </a:p>
        </p:txBody>
      </p:sp>
      <p:sp>
        <p:nvSpPr>
          <p:cNvPr id="20" name="Shape 18"/>
          <p:cNvSpPr/>
          <p:nvPr/>
        </p:nvSpPr>
        <p:spPr>
          <a:xfrm>
            <a:off x="950976" y="4087368"/>
            <a:ext cx="173736" cy="173736"/>
          </a:xfrm>
          <a:prstGeom prst="ellipse">
            <a:avLst/>
          </a:prstGeom>
          <a:solidFill>
            <a:srgbClr val="10B981"/>
          </a:solidFill>
          <a:ln w="12700">
            <a:solidFill>
              <a:srgbClr val="10B981"/>
            </a:solidFill>
            <a:prstDash val="solid"/>
          </a:ln>
        </p:spPr>
      </p:sp>
      <p:sp>
        <p:nvSpPr>
          <p:cNvPr id="21" name="Text 19"/>
          <p:cNvSpPr/>
          <p:nvPr/>
        </p:nvSpPr>
        <p:spPr>
          <a:xfrm>
            <a:off x="950976" y="4087368"/>
            <a:ext cx="173736" cy="173736"/>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a:t>
            </a:r>
            <a:endParaRPr lang="en-US" sz="700" dirty="0"/>
          </a:p>
        </p:txBody>
      </p:sp>
      <p:sp>
        <p:nvSpPr>
          <p:cNvPr id="22" name="Text 20"/>
          <p:cNvSpPr/>
          <p:nvPr/>
        </p:nvSpPr>
        <p:spPr>
          <a:xfrm>
            <a:off x="1261872" y="4050792"/>
            <a:ext cx="4069080" cy="246888"/>
          </a:xfrm>
          <a:prstGeom prst="rect">
            <a:avLst/>
          </a:prstGeom>
          <a:noFill/>
          <a:ln/>
        </p:spPr>
        <p:txBody>
          <a:bodyPr wrap="square" lIns="0" tIns="0" rIns="0" bIns="0" rtlCol="0" anchor="ctr">
            <a:normAutofit/>
          </a:bodyPr>
          <a:lstStyle/>
          <a:p>
            <a:pPr algn="l" indent="0" marL="0">
              <a:buNone/>
            </a:pPr>
            <a:r>
              <a:rPr lang="en-US" sz="1050" b="1" dirty="0">
                <a:solidFill>
                  <a:srgbClr val="15352C"/>
                </a:solidFill>
                <a:latin typeface="Aptos" pitchFamily="34" charset="0"/>
                <a:ea typeface="Aptos" pitchFamily="34" charset="-122"/>
                <a:cs typeface="Aptos" pitchFamily="34" charset="-120"/>
              </a:rPr>
              <a:t>Public Vercel app + credential-free demo</a:t>
            </a:r>
            <a:endParaRPr lang="en-US" sz="1050" dirty="0"/>
          </a:p>
        </p:txBody>
      </p:sp>
      <p:sp>
        <p:nvSpPr>
          <p:cNvPr id="23" name="Shape 21"/>
          <p:cNvSpPr/>
          <p:nvPr/>
        </p:nvSpPr>
        <p:spPr>
          <a:xfrm>
            <a:off x="950976" y="4453128"/>
            <a:ext cx="173736" cy="173736"/>
          </a:xfrm>
          <a:prstGeom prst="ellipse">
            <a:avLst/>
          </a:prstGeom>
          <a:solidFill>
            <a:srgbClr val="10B981"/>
          </a:solidFill>
          <a:ln w="12700">
            <a:solidFill>
              <a:srgbClr val="10B981"/>
            </a:solidFill>
            <a:prstDash val="solid"/>
          </a:ln>
        </p:spPr>
      </p:sp>
      <p:sp>
        <p:nvSpPr>
          <p:cNvPr id="24" name="Text 22"/>
          <p:cNvSpPr/>
          <p:nvPr/>
        </p:nvSpPr>
        <p:spPr>
          <a:xfrm>
            <a:off x="950976" y="4453128"/>
            <a:ext cx="173736" cy="173736"/>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a:t>
            </a:r>
            <a:endParaRPr lang="en-US" sz="700" dirty="0"/>
          </a:p>
        </p:txBody>
      </p:sp>
      <p:sp>
        <p:nvSpPr>
          <p:cNvPr id="25" name="Text 23"/>
          <p:cNvSpPr/>
          <p:nvPr/>
        </p:nvSpPr>
        <p:spPr>
          <a:xfrm>
            <a:off x="1261872" y="4416552"/>
            <a:ext cx="4069080" cy="246888"/>
          </a:xfrm>
          <a:prstGeom prst="rect">
            <a:avLst/>
          </a:prstGeom>
          <a:noFill/>
          <a:ln/>
        </p:spPr>
        <p:txBody>
          <a:bodyPr wrap="square" lIns="0" tIns="0" rIns="0" bIns="0" rtlCol="0" anchor="ctr">
            <a:normAutofit/>
          </a:bodyPr>
          <a:lstStyle/>
          <a:p>
            <a:pPr algn="l" indent="0" marL="0">
              <a:buNone/>
            </a:pPr>
            <a:r>
              <a:rPr lang="en-US" sz="1050" b="1" dirty="0">
                <a:solidFill>
                  <a:srgbClr val="15352C"/>
                </a:solidFill>
                <a:latin typeface="Aptos" pitchFamily="34" charset="0"/>
                <a:ea typeface="Aptos" pitchFamily="34" charset="-122"/>
                <a:cs typeface="Aptos" pitchFamily="34" charset="-120"/>
              </a:rPr>
              <a:t>Authenticated owner and customer journeys</a:t>
            </a:r>
            <a:endParaRPr lang="en-US" sz="1050" dirty="0"/>
          </a:p>
        </p:txBody>
      </p:sp>
      <p:sp>
        <p:nvSpPr>
          <p:cNvPr id="26" name="Shape 24"/>
          <p:cNvSpPr/>
          <p:nvPr/>
        </p:nvSpPr>
        <p:spPr>
          <a:xfrm>
            <a:off x="950976" y="4818888"/>
            <a:ext cx="173736" cy="173736"/>
          </a:xfrm>
          <a:prstGeom prst="ellipse">
            <a:avLst/>
          </a:prstGeom>
          <a:solidFill>
            <a:srgbClr val="10B981"/>
          </a:solidFill>
          <a:ln w="12700">
            <a:solidFill>
              <a:srgbClr val="10B981"/>
            </a:solidFill>
            <a:prstDash val="solid"/>
          </a:ln>
        </p:spPr>
      </p:sp>
      <p:sp>
        <p:nvSpPr>
          <p:cNvPr id="27" name="Text 25"/>
          <p:cNvSpPr/>
          <p:nvPr/>
        </p:nvSpPr>
        <p:spPr>
          <a:xfrm>
            <a:off x="950976" y="4818888"/>
            <a:ext cx="173736" cy="173736"/>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a:t>
            </a:r>
            <a:endParaRPr lang="en-US" sz="700" dirty="0"/>
          </a:p>
        </p:txBody>
      </p:sp>
      <p:sp>
        <p:nvSpPr>
          <p:cNvPr id="28" name="Text 26"/>
          <p:cNvSpPr/>
          <p:nvPr/>
        </p:nvSpPr>
        <p:spPr>
          <a:xfrm>
            <a:off x="1261872" y="4782312"/>
            <a:ext cx="4069080" cy="246888"/>
          </a:xfrm>
          <a:prstGeom prst="rect">
            <a:avLst/>
          </a:prstGeom>
          <a:noFill/>
          <a:ln/>
        </p:spPr>
        <p:txBody>
          <a:bodyPr wrap="square" lIns="0" tIns="0" rIns="0" bIns="0" rtlCol="0" anchor="ctr">
            <a:normAutofit/>
          </a:bodyPr>
          <a:lstStyle/>
          <a:p>
            <a:pPr algn="l" indent="0" marL="0">
              <a:buNone/>
            </a:pPr>
            <a:r>
              <a:rPr lang="en-US" sz="1050" b="1" dirty="0">
                <a:solidFill>
                  <a:srgbClr val="15352C"/>
                </a:solidFill>
                <a:latin typeface="Aptos" pitchFamily="34" charset="0"/>
                <a:ea typeface="Aptos" pitchFamily="34" charset="-122"/>
                <a:cs typeface="Aptos" pitchFamily="34" charset="-120"/>
              </a:rPr>
              <a:t>Remote XGBoost candidate predictions</a:t>
            </a:r>
            <a:endParaRPr lang="en-US" sz="1050" dirty="0"/>
          </a:p>
        </p:txBody>
      </p:sp>
      <p:sp>
        <p:nvSpPr>
          <p:cNvPr id="29" name="Shape 27"/>
          <p:cNvSpPr/>
          <p:nvPr/>
        </p:nvSpPr>
        <p:spPr>
          <a:xfrm>
            <a:off x="950976" y="5184648"/>
            <a:ext cx="173736" cy="173736"/>
          </a:xfrm>
          <a:prstGeom prst="ellipse">
            <a:avLst/>
          </a:prstGeom>
          <a:solidFill>
            <a:srgbClr val="10B981"/>
          </a:solidFill>
          <a:ln w="12700">
            <a:solidFill>
              <a:srgbClr val="10B981"/>
            </a:solidFill>
            <a:prstDash val="solid"/>
          </a:ln>
        </p:spPr>
      </p:sp>
      <p:sp>
        <p:nvSpPr>
          <p:cNvPr id="30" name="Text 28"/>
          <p:cNvSpPr/>
          <p:nvPr/>
        </p:nvSpPr>
        <p:spPr>
          <a:xfrm>
            <a:off x="950976" y="5184648"/>
            <a:ext cx="173736" cy="173736"/>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a:t>
            </a:r>
            <a:endParaRPr lang="en-US" sz="700" dirty="0"/>
          </a:p>
        </p:txBody>
      </p:sp>
      <p:sp>
        <p:nvSpPr>
          <p:cNvPr id="31" name="Text 29"/>
          <p:cNvSpPr/>
          <p:nvPr/>
        </p:nvSpPr>
        <p:spPr>
          <a:xfrm>
            <a:off x="1261872" y="5148072"/>
            <a:ext cx="4069080" cy="246888"/>
          </a:xfrm>
          <a:prstGeom prst="rect">
            <a:avLst/>
          </a:prstGeom>
          <a:noFill/>
          <a:ln/>
        </p:spPr>
        <p:txBody>
          <a:bodyPr wrap="square" lIns="0" tIns="0" rIns="0" bIns="0" rtlCol="0" anchor="ctr">
            <a:normAutofit/>
          </a:bodyPr>
          <a:lstStyle/>
          <a:p>
            <a:pPr algn="l" indent="0" marL="0">
              <a:buNone/>
            </a:pPr>
            <a:r>
              <a:rPr lang="en-US" sz="1050" b="1" dirty="0">
                <a:solidFill>
                  <a:srgbClr val="15352C"/>
                </a:solidFill>
                <a:latin typeface="Aptos" pitchFamily="34" charset="0"/>
                <a:ea typeface="Aptos" pitchFamily="34" charset="-122"/>
                <a:cs typeface="Aptos" pitchFamily="34" charset="-120"/>
              </a:rPr>
              <a:t>Pending approval → live marketplace deal</a:t>
            </a:r>
            <a:endParaRPr lang="en-US" sz="1050" dirty="0"/>
          </a:p>
        </p:txBody>
      </p:sp>
      <p:sp>
        <p:nvSpPr>
          <p:cNvPr id="32" name="Shape 30"/>
          <p:cNvSpPr/>
          <p:nvPr/>
        </p:nvSpPr>
        <p:spPr>
          <a:xfrm>
            <a:off x="6144768" y="3310128"/>
            <a:ext cx="5413248" cy="2331720"/>
          </a:xfrm>
          <a:prstGeom prst="roundRect">
            <a:avLst>
              <a:gd name="adj" fmla="val 9020"/>
            </a:avLst>
          </a:prstGeom>
          <a:solidFill>
            <a:srgbClr val="FFFFFF"/>
          </a:solidFill>
          <a:ln w="12700">
            <a:solidFill>
              <a:srgbClr val="D9E3DD"/>
            </a:solidFill>
            <a:prstDash val="solid"/>
          </a:ln>
          <a:effectLst>
            <a:outerShdw sx="100000" sy="100000" kx="0" ky="0" algn="bl" rotWithShape="0" blurRad="4.471758777120074e+53" dist="8.943517554240149e+53" dir="5.877312307200001e+63">
              <a:srgbClr val="0A241C">
                <a:alpha val="1.2999999999999998e+64"/>
              </a:srgbClr>
            </a:outerShdw>
          </a:effectLst>
        </p:spPr>
      </p:sp>
      <p:sp>
        <p:nvSpPr>
          <p:cNvPr id="33" name="Shape 31"/>
          <p:cNvSpPr/>
          <p:nvPr/>
        </p:nvSpPr>
        <p:spPr>
          <a:xfrm>
            <a:off x="6446520" y="3602736"/>
            <a:ext cx="1417320" cy="292608"/>
          </a:xfrm>
          <a:prstGeom prst="roundRect">
            <a:avLst>
              <a:gd name="adj" fmla="val 50000"/>
            </a:avLst>
          </a:prstGeom>
          <a:solidFill>
            <a:srgbClr val="FFF0E7"/>
          </a:solidFill>
          <a:ln w="12700">
            <a:solidFill>
              <a:srgbClr val="FFF0E7">
                <a:alpha val="0"/>
              </a:srgbClr>
            </a:solidFill>
            <a:prstDash val="solid"/>
          </a:ln>
        </p:spPr>
      </p:sp>
      <p:sp>
        <p:nvSpPr>
          <p:cNvPr id="34" name="Text 32"/>
          <p:cNvSpPr/>
          <p:nvPr/>
        </p:nvSpPr>
        <p:spPr>
          <a:xfrm>
            <a:off x="6519672" y="3602736"/>
            <a:ext cx="1271016" cy="292608"/>
          </a:xfrm>
          <a:prstGeom prst="rect">
            <a:avLst/>
          </a:prstGeom>
          <a:noFill/>
          <a:ln/>
        </p:spPr>
        <p:txBody>
          <a:bodyPr wrap="square" lIns="0" tIns="0" rIns="0" bIns="0" rtlCol="0" anchor="ctr">
            <a:normAutofit/>
          </a:bodyPr>
          <a:lstStyle/>
          <a:p>
            <a:pPr algn="ctr" indent="0" marL="0">
              <a:buNone/>
            </a:pPr>
            <a:r>
              <a:rPr lang="en-US" sz="900" b="1" dirty="0">
                <a:solidFill>
                  <a:srgbClr val="F97316"/>
                </a:solidFill>
                <a:latin typeface="Aptos" pitchFamily="34" charset="0"/>
                <a:ea typeface="Aptos" pitchFamily="34" charset="-122"/>
                <a:cs typeface="Aptos" pitchFamily="34" charset="-120"/>
              </a:rPr>
              <a:t>NOT YET CLAIMED</a:t>
            </a:r>
            <a:endParaRPr lang="en-US" sz="900" dirty="0"/>
          </a:p>
        </p:txBody>
      </p:sp>
      <p:sp>
        <p:nvSpPr>
          <p:cNvPr id="35" name="Shape 33"/>
          <p:cNvSpPr/>
          <p:nvPr/>
        </p:nvSpPr>
        <p:spPr>
          <a:xfrm>
            <a:off x="6455664" y="4087368"/>
            <a:ext cx="173736" cy="173736"/>
          </a:xfrm>
          <a:prstGeom prst="ellipse">
            <a:avLst/>
          </a:prstGeom>
          <a:solidFill>
            <a:srgbClr val="FFF0E7"/>
          </a:solidFill>
          <a:ln w="12700">
            <a:solidFill>
              <a:srgbClr val="FFF0E7"/>
            </a:solidFill>
            <a:prstDash val="solid"/>
          </a:ln>
        </p:spPr>
      </p:sp>
      <p:sp>
        <p:nvSpPr>
          <p:cNvPr id="36" name="Text 34"/>
          <p:cNvSpPr/>
          <p:nvPr/>
        </p:nvSpPr>
        <p:spPr>
          <a:xfrm>
            <a:off x="6455664" y="4087368"/>
            <a:ext cx="173736" cy="173736"/>
          </a:xfrm>
          <a:prstGeom prst="rect">
            <a:avLst/>
          </a:prstGeom>
          <a:noFill/>
          <a:ln/>
        </p:spPr>
        <p:txBody>
          <a:bodyPr wrap="square" lIns="0" tIns="0" rIns="0" bIns="0" rtlCol="0" anchor="ctr">
            <a:normAutofit/>
          </a:bodyPr>
          <a:lstStyle/>
          <a:p>
            <a:pPr algn="ctr" indent="0" marL="0">
              <a:buNone/>
            </a:pPr>
            <a:r>
              <a:rPr lang="en-US" sz="700" b="1" dirty="0">
                <a:solidFill>
                  <a:srgbClr val="F97316"/>
                </a:solidFill>
                <a:latin typeface="Aptos" pitchFamily="34" charset="0"/>
                <a:ea typeface="Aptos" pitchFamily="34" charset="-122"/>
                <a:cs typeface="Aptos" pitchFamily="34" charset="-120"/>
              </a:rPr>
              <a:t>—</a:t>
            </a:r>
            <a:endParaRPr lang="en-US" sz="700" dirty="0"/>
          </a:p>
        </p:txBody>
      </p:sp>
      <p:sp>
        <p:nvSpPr>
          <p:cNvPr id="37" name="Text 35"/>
          <p:cNvSpPr/>
          <p:nvPr/>
        </p:nvSpPr>
        <p:spPr>
          <a:xfrm>
            <a:off x="6766560" y="4050792"/>
            <a:ext cx="4114800" cy="246888"/>
          </a:xfrm>
          <a:prstGeom prst="rect">
            <a:avLst/>
          </a:prstGeom>
          <a:noFill/>
          <a:ln/>
        </p:spPr>
        <p:txBody>
          <a:bodyPr wrap="square" lIns="0" tIns="0" rIns="0" bIns="0" rtlCol="0" anchor="ctr">
            <a:normAutofit/>
          </a:bodyPr>
          <a:lstStyle/>
          <a:p>
            <a:pPr algn="l" indent="0" marL="0">
              <a:buNone/>
            </a:pPr>
            <a:r>
              <a:rPr lang="en-US" sz="1050" b="1" dirty="0">
                <a:solidFill>
                  <a:srgbClr val="15352C"/>
                </a:solidFill>
                <a:latin typeface="Aptos" pitchFamily="34" charset="0"/>
                <a:ea typeface="Aptos" pitchFamily="34" charset="-122"/>
                <a:cs typeface="Aptos" pitchFamily="34" charset="-120"/>
              </a:rPr>
              <a:t>Real-store forecast quality</a:t>
            </a:r>
            <a:endParaRPr lang="en-US" sz="1050" dirty="0"/>
          </a:p>
        </p:txBody>
      </p:sp>
      <p:sp>
        <p:nvSpPr>
          <p:cNvPr id="38" name="Shape 36"/>
          <p:cNvSpPr/>
          <p:nvPr/>
        </p:nvSpPr>
        <p:spPr>
          <a:xfrm>
            <a:off x="6455664" y="4453128"/>
            <a:ext cx="173736" cy="173736"/>
          </a:xfrm>
          <a:prstGeom prst="ellipse">
            <a:avLst/>
          </a:prstGeom>
          <a:solidFill>
            <a:srgbClr val="FFF0E7"/>
          </a:solidFill>
          <a:ln w="12700">
            <a:solidFill>
              <a:srgbClr val="FFF0E7"/>
            </a:solidFill>
            <a:prstDash val="solid"/>
          </a:ln>
        </p:spPr>
      </p:sp>
      <p:sp>
        <p:nvSpPr>
          <p:cNvPr id="39" name="Text 37"/>
          <p:cNvSpPr/>
          <p:nvPr/>
        </p:nvSpPr>
        <p:spPr>
          <a:xfrm>
            <a:off x="6455664" y="4453128"/>
            <a:ext cx="173736" cy="173736"/>
          </a:xfrm>
          <a:prstGeom prst="rect">
            <a:avLst/>
          </a:prstGeom>
          <a:noFill/>
          <a:ln/>
        </p:spPr>
        <p:txBody>
          <a:bodyPr wrap="square" lIns="0" tIns="0" rIns="0" bIns="0" rtlCol="0" anchor="ctr">
            <a:normAutofit/>
          </a:bodyPr>
          <a:lstStyle/>
          <a:p>
            <a:pPr algn="ctr" indent="0" marL="0">
              <a:buNone/>
            </a:pPr>
            <a:r>
              <a:rPr lang="en-US" sz="700" b="1" dirty="0">
                <a:solidFill>
                  <a:srgbClr val="F97316"/>
                </a:solidFill>
                <a:latin typeface="Aptos" pitchFamily="34" charset="0"/>
                <a:ea typeface="Aptos" pitchFamily="34" charset="-122"/>
                <a:cs typeface="Aptos" pitchFamily="34" charset="-120"/>
              </a:rPr>
              <a:t>—</a:t>
            </a:r>
            <a:endParaRPr lang="en-US" sz="700" dirty="0"/>
          </a:p>
        </p:txBody>
      </p:sp>
      <p:sp>
        <p:nvSpPr>
          <p:cNvPr id="40" name="Text 38"/>
          <p:cNvSpPr/>
          <p:nvPr/>
        </p:nvSpPr>
        <p:spPr>
          <a:xfrm>
            <a:off x="6766560" y="4416552"/>
            <a:ext cx="4114800" cy="246888"/>
          </a:xfrm>
          <a:prstGeom prst="rect">
            <a:avLst/>
          </a:prstGeom>
          <a:noFill/>
          <a:ln/>
        </p:spPr>
        <p:txBody>
          <a:bodyPr wrap="square" lIns="0" tIns="0" rIns="0" bIns="0" rtlCol="0" anchor="ctr">
            <a:normAutofit/>
          </a:bodyPr>
          <a:lstStyle/>
          <a:p>
            <a:pPr algn="l" indent="0" marL="0">
              <a:buNone/>
            </a:pPr>
            <a:r>
              <a:rPr lang="en-US" sz="1050" b="1" dirty="0">
                <a:solidFill>
                  <a:srgbClr val="15352C"/>
                </a:solidFill>
                <a:latin typeface="Aptos" pitchFamily="34" charset="0"/>
                <a:ea typeface="Aptos" pitchFamily="34" charset="-122"/>
                <a:cs typeface="Aptos" pitchFamily="34" charset="-120"/>
              </a:rPr>
              <a:t>Incremental sales or waste reduction</a:t>
            </a:r>
            <a:endParaRPr lang="en-US" sz="1050" dirty="0"/>
          </a:p>
        </p:txBody>
      </p:sp>
      <p:sp>
        <p:nvSpPr>
          <p:cNvPr id="41" name="Shape 39"/>
          <p:cNvSpPr/>
          <p:nvPr/>
        </p:nvSpPr>
        <p:spPr>
          <a:xfrm>
            <a:off x="6455664" y="4818888"/>
            <a:ext cx="173736" cy="173736"/>
          </a:xfrm>
          <a:prstGeom prst="ellipse">
            <a:avLst/>
          </a:prstGeom>
          <a:solidFill>
            <a:srgbClr val="FFF0E7"/>
          </a:solidFill>
          <a:ln w="12700">
            <a:solidFill>
              <a:srgbClr val="FFF0E7"/>
            </a:solidFill>
            <a:prstDash val="solid"/>
          </a:ln>
        </p:spPr>
      </p:sp>
      <p:sp>
        <p:nvSpPr>
          <p:cNvPr id="42" name="Text 40"/>
          <p:cNvSpPr/>
          <p:nvPr/>
        </p:nvSpPr>
        <p:spPr>
          <a:xfrm>
            <a:off x="6455664" y="4818888"/>
            <a:ext cx="173736" cy="173736"/>
          </a:xfrm>
          <a:prstGeom prst="rect">
            <a:avLst/>
          </a:prstGeom>
          <a:noFill/>
          <a:ln/>
        </p:spPr>
        <p:txBody>
          <a:bodyPr wrap="square" lIns="0" tIns="0" rIns="0" bIns="0" rtlCol="0" anchor="ctr">
            <a:normAutofit/>
          </a:bodyPr>
          <a:lstStyle/>
          <a:p>
            <a:pPr algn="ctr" indent="0" marL="0">
              <a:buNone/>
            </a:pPr>
            <a:r>
              <a:rPr lang="en-US" sz="700" b="1" dirty="0">
                <a:solidFill>
                  <a:srgbClr val="F97316"/>
                </a:solidFill>
                <a:latin typeface="Aptos" pitchFamily="34" charset="0"/>
                <a:ea typeface="Aptos" pitchFamily="34" charset="-122"/>
                <a:cs typeface="Aptos" pitchFamily="34" charset="-120"/>
              </a:rPr>
              <a:t>—</a:t>
            </a:r>
            <a:endParaRPr lang="en-US" sz="700" dirty="0"/>
          </a:p>
        </p:txBody>
      </p:sp>
      <p:sp>
        <p:nvSpPr>
          <p:cNvPr id="43" name="Text 41"/>
          <p:cNvSpPr/>
          <p:nvPr/>
        </p:nvSpPr>
        <p:spPr>
          <a:xfrm>
            <a:off x="6766560" y="4782312"/>
            <a:ext cx="4114800" cy="246888"/>
          </a:xfrm>
          <a:prstGeom prst="rect">
            <a:avLst/>
          </a:prstGeom>
          <a:noFill/>
          <a:ln/>
        </p:spPr>
        <p:txBody>
          <a:bodyPr wrap="square" lIns="0" tIns="0" rIns="0" bIns="0" rtlCol="0" anchor="ctr">
            <a:normAutofit/>
          </a:bodyPr>
          <a:lstStyle/>
          <a:p>
            <a:pPr algn="l" indent="0" marL="0">
              <a:buNone/>
            </a:pPr>
            <a:r>
              <a:rPr lang="en-US" sz="1050" b="1" dirty="0">
                <a:solidFill>
                  <a:srgbClr val="15352C"/>
                </a:solidFill>
                <a:latin typeface="Aptos" pitchFamily="34" charset="0"/>
                <a:ea typeface="Aptos" pitchFamily="34" charset="-122"/>
                <a:cs typeface="Aptos" pitchFamily="34" charset="-120"/>
              </a:rPr>
              <a:t>Learned price elasticity</a:t>
            </a:r>
            <a:endParaRPr lang="en-US" sz="1050" dirty="0"/>
          </a:p>
        </p:txBody>
      </p:sp>
      <p:sp>
        <p:nvSpPr>
          <p:cNvPr id="44" name="Shape 42"/>
          <p:cNvSpPr/>
          <p:nvPr/>
        </p:nvSpPr>
        <p:spPr>
          <a:xfrm>
            <a:off x="6455664" y="5184648"/>
            <a:ext cx="173736" cy="173736"/>
          </a:xfrm>
          <a:prstGeom prst="ellipse">
            <a:avLst/>
          </a:prstGeom>
          <a:solidFill>
            <a:srgbClr val="FFF0E7"/>
          </a:solidFill>
          <a:ln w="12700">
            <a:solidFill>
              <a:srgbClr val="FFF0E7"/>
            </a:solidFill>
            <a:prstDash val="solid"/>
          </a:ln>
        </p:spPr>
      </p:sp>
      <p:sp>
        <p:nvSpPr>
          <p:cNvPr id="45" name="Text 43"/>
          <p:cNvSpPr/>
          <p:nvPr/>
        </p:nvSpPr>
        <p:spPr>
          <a:xfrm>
            <a:off x="6455664" y="5184648"/>
            <a:ext cx="173736" cy="173736"/>
          </a:xfrm>
          <a:prstGeom prst="rect">
            <a:avLst/>
          </a:prstGeom>
          <a:noFill/>
          <a:ln/>
        </p:spPr>
        <p:txBody>
          <a:bodyPr wrap="square" lIns="0" tIns="0" rIns="0" bIns="0" rtlCol="0" anchor="ctr">
            <a:normAutofit/>
          </a:bodyPr>
          <a:lstStyle/>
          <a:p>
            <a:pPr algn="ctr" indent="0" marL="0">
              <a:buNone/>
            </a:pPr>
            <a:r>
              <a:rPr lang="en-US" sz="700" b="1" dirty="0">
                <a:solidFill>
                  <a:srgbClr val="F97316"/>
                </a:solidFill>
                <a:latin typeface="Aptos" pitchFamily="34" charset="0"/>
                <a:ea typeface="Aptos" pitchFamily="34" charset="-122"/>
                <a:cs typeface="Aptos" pitchFamily="34" charset="-120"/>
              </a:rPr>
              <a:t>—</a:t>
            </a:r>
            <a:endParaRPr lang="en-US" sz="700" dirty="0"/>
          </a:p>
        </p:txBody>
      </p:sp>
      <p:sp>
        <p:nvSpPr>
          <p:cNvPr id="46" name="Text 44"/>
          <p:cNvSpPr/>
          <p:nvPr/>
        </p:nvSpPr>
        <p:spPr>
          <a:xfrm>
            <a:off x="6766560" y="5148072"/>
            <a:ext cx="4114800" cy="246888"/>
          </a:xfrm>
          <a:prstGeom prst="rect">
            <a:avLst/>
          </a:prstGeom>
          <a:noFill/>
          <a:ln/>
        </p:spPr>
        <p:txBody>
          <a:bodyPr wrap="square" lIns="0" tIns="0" rIns="0" bIns="0" rtlCol="0" anchor="ctr">
            <a:normAutofit/>
          </a:bodyPr>
          <a:lstStyle/>
          <a:p>
            <a:pPr algn="l" indent="0" marL="0">
              <a:buNone/>
            </a:pPr>
            <a:r>
              <a:rPr lang="en-US" sz="1050" b="1" dirty="0">
                <a:solidFill>
                  <a:srgbClr val="15352C"/>
                </a:solidFill>
                <a:latin typeface="Aptos" pitchFamily="34" charset="0"/>
                <a:ea typeface="Aptos" pitchFamily="34" charset="-122"/>
                <a:cs typeface="Aptos" pitchFamily="34" charset="-120"/>
              </a:rPr>
              <a:t>Production payment and concurrency guarantees</a:t>
            </a:r>
            <a:endParaRPr lang="en-US" sz="1050" dirty="0"/>
          </a:p>
        </p:txBody>
      </p:sp>
      <p:sp>
        <p:nvSpPr>
          <p:cNvPr id="47" name="Text 45"/>
          <p:cNvSpPr/>
          <p:nvPr/>
        </p:nvSpPr>
        <p:spPr>
          <a:xfrm>
            <a:off x="658368" y="5961888"/>
            <a:ext cx="2971800" cy="237744"/>
          </a:xfrm>
          <a:prstGeom prst="rect">
            <a:avLst/>
          </a:prstGeom>
          <a:noFill/>
          <a:ln/>
        </p:spPr>
        <p:txBody>
          <a:bodyPr wrap="square" lIns="0" tIns="0" rIns="0" bIns="0" rtlCol="0" anchor="ctr">
            <a:normAutofit/>
          </a:bodyPr>
          <a:lstStyle/>
          <a:p>
            <a:pPr algn="l" indent="0" marL="0">
              <a:buNone/>
            </a:pPr>
            <a:r>
              <a:rPr lang="en-US" sz="1100" b="1" u="sng" dirty="0">
                <a:solidFill>
                  <a:srgbClr val="10B981"/>
                </a:solidFill>
                <a:uFill>
                  <a:solidFill>
                    <a:srgbClr val="10B981"/>
                  </a:solidFill>
                </a:u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freshsaver-ai.vercel.app</a:t>
            </a:r>
            <a:endParaRPr lang="en-US" sz="1100" dirty="0"/>
          </a:p>
        </p:txBody>
      </p:sp>
      <p:sp>
        <p:nvSpPr>
          <p:cNvPr id="48" name="Text 46"/>
          <p:cNvSpPr/>
          <p:nvPr/>
        </p:nvSpPr>
        <p:spPr>
          <a:xfrm>
            <a:off x="3703320" y="5980176"/>
            <a:ext cx="50292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10B981"/>
                </a:solidFill>
                <a:latin typeface="Aptos" pitchFamily="34" charset="0"/>
                <a:ea typeface="Aptos" pitchFamily="34" charset="-122"/>
                <a:cs typeface="Aptos" pitchFamily="34" charset="-120"/>
              </a:rPr>
              <a:t>LIVE</a:t>
            </a:r>
            <a:endParaRPr lang="en-US" sz="800" dirty="0"/>
          </a:p>
        </p:txBody>
      </p:sp>
      <p:sp>
        <p:nvSpPr>
          <p:cNvPr id="49" name="Text 47"/>
          <p:cNvSpPr/>
          <p:nvPr/>
        </p:nvSpPr>
        <p:spPr>
          <a:xfrm>
            <a:off x="6080760" y="5961888"/>
            <a:ext cx="3703320" cy="237744"/>
          </a:xfrm>
          <a:prstGeom prst="rect">
            <a:avLst/>
          </a:prstGeom>
          <a:noFill/>
          <a:ln/>
        </p:spPr>
        <p:txBody>
          <a:bodyPr wrap="square" lIns="0" tIns="0" rIns="0" bIns="0" rtlCol="0" anchor="ctr">
            <a:normAutofit/>
          </a:bodyPr>
          <a:lstStyle/>
          <a:p>
            <a:pPr algn="l" indent="0" marL="0">
              <a:buNone/>
            </a:pPr>
            <a:r>
              <a:rPr lang="en-US" sz="1050" b="1" u="sng" dirty="0">
                <a:solidFill>
                  <a:srgbClr val="7C3AED"/>
                </a:solidFill>
                <a:uFill>
                  <a:solidFill>
                    <a:srgbClr val="7C3AED"/>
                  </a:solidFill>
                </a:u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freshsaver-demand-model.onrender.com</a:t>
            </a:r>
            <a:endParaRPr lang="en-US" sz="1050" dirty="0"/>
          </a:p>
        </p:txBody>
      </p:sp>
      <p:sp>
        <p:nvSpPr>
          <p:cNvPr id="50" name="Text 48"/>
          <p:cNvSpPr/>
          <p:nvPr/>
        </p:nvSpPr>
        <p:spPr>
          <a:xfrm>
            <a:off x="9921240" y="5980176"/>
            <a:ext cx="82296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7C3AED"/>
                </a:solidFill>
                <a:latin typeface="Aptos" pitchFamily="34" charset="0"/>
                <a:ea typeface="Aptos" pitchFamily="34" charset="-122"/>
                <a:cs typeface="Aptos" pitchFamily="34" charset="-120"/>
              </a:rPr>
              <a:t>MODEL API</a:t>
            </a:r>
            <a:endParaRPr lang="en-US" sz="800" dirty="0"/>
          </a:p>
        </p:txBody>
      </p:sp>
      <p:sp>
        <p:nvSpPr>
          <p:cNvPr id="51" name="Shape 49"/>
          <p:cNvSpPr/>
          <p:nvPr/>
        </p:nvSpPr>
        <p:spPr>
          <a:xfrm>
            <a:off x="502920" y="6419088"/>
            <a:ext cx="10744200" cy="0"/>
          </a:xfrm>
          <a:prstGeom prst="line">
            <a:avLst/>
          </a:prstGeom>
          <a:noFill/>
          <a:ln w="10160">
            <a:solidFill>
              <a:srgbClr val="D9E3DD"/>
            </a:solidFill>
            <a:prstDash val="solid"/>
          </a:ln>
        </p:spPr>
      </p:sp>
      <p:sp>
        <p:nvSpPr>
          <p:cNvPr id="52" name="Text 50"/>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10B981"/>
                </a:solidFill>
                <a:latin typeface="Aptos" pitchFamily="34" charset="0"/>
                <a:ea typeface="Aptos" pitchFamily="34" charset="-122"/>
                <a:cs typeface="Aptos" pitchFamily="34" charset="-120"/>
              </a:rPr>
              <a:t>FRESHSAVER</a:t>
            </a:r>
            <a:endParaRPr lang="en-US" sz="750" dirty="0"/>
          </a:p>
        </p:txBody>
      </p:sp>
      <p:sp>
        <p:nvSpPr>
          <p:cNvPr id="53" name="Text 51"/>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82938D"/>
                </a:solidFill>
                <a:latin typeface="Aptos" pitchFamily="34" charset="0"/>
                <a:ea typeface="Aptos" pitchFamily="34" charset="-122"/>
                <a:cs typeface="Aptos" pitchFamily="34" charset="-120"/>
              </a:rPr>
              <a:t>Presentation &amp; demo readiness</a:t>
            </a:r>
            <a:endParaRPr lang="en-US" sz="750" dirty="0"/>
          </a:p>
        </p:txBody>
      </p:sp>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82938D"/>
                </a:solidFill>
                <a:latin typeface="Aptos"/>
                <a:ea typeface="Aptos"/>
                <a:cs typeface="Apto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BEF264"/>
                </a:solidFill>
                <a:latin typeface="Aptos" pitchFamily="34" charset="0"/>
                <a:ea typeface="Aptos" pitchFamily="34" charset="-122"/>
                <a:cs typeface="Aptos" pitchFamily="34" charset="-120"/>
              </a:rPr>
              <a:t>PILOT, MEASURE, THEN SCALE</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FFFFFF"/>
                </a:solidFill>
                <a:latin typeface="Aptos Display" pitchFamily="34" charset="0"/>
                <a:ea typeface="Aptos Display" pitchFamily="34" charset="-122"/>
                <a:cs typeface="Aptos Display" pitchFamily="34" charset="-120"/>
              </a:rPr>
              <a:t>The next claim will come from a controlled pilot.</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B9CBC4"/>
                </a:solidFill>
                <a:latin typeface="Aptos" pitchFamily="34" charset="0"/>
                <a:ea typeface="Aptos" pitchFamily="34" charset="-122"/>
                <a:cs typeface="Aptos" pitchFamily="34" charset="-120"/>
              </a:rPr>
              <a:t>FreshSaver is ready for shadow recommendations with independent grocers.</a:t>
            </a:r>
            <a:endParaRPr lang="en-US" sz="1250" dirty="0"/>
          </a:p>
        </p:txBody>
      </p:sp>
      <p:sp>
        <p:nvSpPr>
          <p:cNvPr id="5" name="Shape 3"/>
          <p:cNvSpPr/>
          <p:nvPr/>
        </p:nvSpPr>
        <p:spPr>
          <a:xfrm>
            <a:off x="640080" y="2121408"/>
            <a:ext cx="2331720" cy="2029968"/>
          </a:xfrm>
          <a:prstGeom prst="roundRect">
            <a:avLst>
              <a:gd name="adj" fmla="val 10360"/>
            </a:avLst>
          </a:prstGeom>
          <a:solidFill>
            <a:srgbClr val="BEF264"/>
          </a:solidFill>
          <a:ln w="12700">
            <a:solidFill>
              <a:srgbClr val="BEF264"/>
            </a:solidFill>
            <a:prstDash val="solid"/>
          </a:ln>
        </p:spPr>
      </p:sp>
      <p:sp>
        <p:nvSpPr>
          <p:cNvPr id="6" name="Text 4"/>
          <p:cNvSpPr/>
          <p:nvPr/>
        </p:nvSpPr>
        <p:spPr>
          <a:xfrm>
            <a:off x="841248" y="2340864"/>
            <a:ext cx="822960" cy="210312"/>
          </a:xfrm>
          <a:prstGeom prst="rect">
            <a:avLst/>
          </a:prstGeom>
          <a:noFill/>
          <a:ln/>
        </p:spPr>
        <p:txBody>
          <a:bodyPr wrap="square" lIns="0" tIns="0" rIns="0" bIns="0" rtlCol="0" anchor="ctr">
            <a:normAutofit/>
          </a:bodyPr>
          <a:lstStyle/>
          <a:p>
            <a:pPr algn="l" indent="0" marL="0">
              <a:buNone/>
            </a:pPr>
            <a:r>
              <a:rPr lang="en-US" sz="850" b="1" spc="120" kern="0" dirty="0">
                <a:solidFill>
                  <a:srgbClr val="173D31"/>
                </a:solidFill>
                <a:latin typeface="Aptos" pitchFamily="34" charset="0"/>
                <a:ea typeface="Aptos" pitchFamily="34" charset="-122"/>
                <a:cs typeface="Aptos" pitchFamily="34" charset="-120"/>
              </a:rPr>
              <a:t>NOW</a:t>
            </a:r>
            <a:endParaRPr lang="en-US" sz="850" dirty="0"/>
          </a:p>
        </p:txBody>
      </p:sp>
      <p:sp>
        <p:nvSpPr>
          <p:cNvPr id="7" name="Text 5"/>
          <p:cNvSpPr/>
          <p:nvPr/>
        </p:nvSpPr>
        <p:spPr>
          <a:xfrm>
            <a:off x="841248" y="2761488"/>
            <a:ext cx="1874520" cy="310896"/>
          </a:xfrm>
          <a:prstGeom prst="rect">
            <a:avLst/>
          </a:prstGeom>
          <a:noFill/>
          <a:ln/>
        </p:spPr>
        <p:txBody>
          <a:bodyPr wrap="square" lIns="0" tIns="0" rIns="0" bIns="0" rtlCol="0" anchor="ctr">
            <a:normAutofit/>
          </a:bodyPr>
          <a:lstStyle/>
          <a:p>
            <a:pPr algn="l" indent="0" marL="0">
              <a:buNone/>
            </a:pPr>
            <a:r>
              <a:rPr lang="en-US" sz="1800" b="1" dirty="0">
                <a:solidFill>
                  <a:srgbClr val="173D31"/>
                </a:solidFill>
                <a:latin typeface="Aptos Display" pitchFamily="34" charset="0"/>
                <a:ea typeface="Aptos Display" pitchFamily="34" charset="-122"/>
                <a:cs typeface="Aptos Display" pitchFamily="34" charset="-120"/>
              </a:rPr>
              <a:t>Shadow mode</a:t>
            </a:r>
            <a:endParaRPr lang="en-US" sz="1800" dirty="0"/>
          </a:p>
        </p:txBody>
      </p:sp>
      <p:sp>
        <p:nvSpPr>
          <p:cNvPr id="8" name="Text 6"/>
          <p:cNvSpPr/>
          <p:nvPr/>
        </p:nvSpPr>
        <p:spPr>
          <a:xfrm>
            <a:off x="841248" y="3255264"/>
            <a:ext cx="1865376" cy="493776"/>
          </a:xfrm>
          <a:prstGeom prst="rect">
            <a:avLst/>
          </a:prstGeom>
          <a:noFill/>
          <a:ln/>
        </p:spPr>
        <p:txBody>
          <a:bodyPr wrap="square" lIns="0" tIns="0" rIns="0" bIns="0" rtlCol="0" anchor="t">
            <a:normAutofit/>
          </a:bodyPr>
          <a:lstStyle/>
          <a:p>
            <a:pPr algn="l" indent="0" marL="0">
              <a:buNone/>
            </a:pPr>
            <a:r>
              <a:rPr lang="en-US" sz="1050" dirty="0">
                <a:solidFill>
                  <a:srgbClr val="315A4E"/>
                </a:solidFill>
                <a:latin typeface="Aptos" pitchFamily="34" charset="0"/>
                <a:ea typeface="Aptos" pitchFamily="34" charset="-122"/>
                <a:cs typeface="Aptos" pitchFamily="34" charset="-120"/>
              </a:rPr>
              <a:t>Forecast without changing prices.</a:t>
            </a:r>
            <a:endParaRPr lang="en-US" sz="1050" dirty="0"/>
          </a:p>
        </p:txBody>
      </p:sp>
      <p:sp>
        <p:nvSpPr>
          <p:cNvPr id="9" name="Shape 7"/>
          <p:cNvSpPr/>
          <p:nvPr/>
        </p:nvSpPr>
        <p:spPr>
          <a:xfrm>
            <a:off x="3346704" y="2121408"/>
            <a:ext cx="2331720" cy="2029968"/>
          </a:xfrm>
          <a:prstGeom prst="roundRect">
            <a:avLst>
              <a:gd name="adj" fmla="val 10360"/>
            </a:avLst>
          </a:prstGeom>
          <a:solidFill>
            <a:srgbClr val="244E42"/>
          </a:solidFill>
          <a:ln w="12700">
            <a:solidFill>
              <a:srgbClr val="41655A"/>
            </a:solidFill>
            <a:prstDash val="solid"/>
          </a:ln>
        </p:spPr>
      </p:sp>
      <p:sp>
        <p:nvSpPr>
          <p:cNvPr id="10" name="Text 8"/>
          <p:cNvSpPr/>
          <p:nvPr/>
        </p:nvSpPr>
        <p:spPr>
          <a:xfrm>
            <a:off x="3547872" y="2340864"/>
            <a:ext cx="822960" cy="210312"/>
          </a:xfrm>
          <a:prstGeom prst="rect">
            <a:avLst/>
          </a:prstGeom>
          <a:noFill/>
          <a:ln/>
        </p:spPr>
        <p:txBody>
          <a:bodyPr wrap="square" lIns="0" tIns="0" rIns="0" bIns="0" rtlCol="0" anchor="ctr">
            <a:normAutofit/>
          </a:bodyPr>
          <a:lstStyle/>
          <a:p>
            <a:pPr algn="l" indent="0" marL="0">
              <a:buNone/>
            </a:pPr>
            <a:r>
              <a:rPr lang="en-US" sz="850" b="1" spc="120" kern="0" dirty="0">
                <a:solidFill>
                  <a:srgbClr val="BEF264"/>
                </a:solidFill>
                <a:latin typeface="Aptos" pitchFamily="34" charset="0"/>
                <a:ea typeface="Aptos" pitchFamily="34" charset="-122"/>
                <a:cs typeface="Aptos" pitchFamily="34" charset="-120"/>
              </a:rPr>
              <a:t>NEXT</a:t>
            </a:r>
            <a:endParaRPr lang="en-US" sz="850" dirty="0"/>
          </a:p>
        </p:txBody>
      </p:sp>
      <p:sp>
        <p:nvSpPr>
          <p:cNvPr id="11" name="Text 9"/>
          <p:cNvSpPr/>
          <p:nvPr/>
        </p:nvSpPr>
        <p:spPr>
          <a:xfrm>
            <a:off x="3547872" y="2761488"/>
            <a:ext cx="1874520" cy="310896"/>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Aptos Display" pitchFamily="34" charset="0"/>
                <a:ea typeface="Aptos Display" pitchFamily="34" charset="-122"/>
                <a:cs typeface="Aptos Display" pitchFamily="34" charset="-120"/>
              </a:rPr>
              <a:t>Controlled rollout</a:t>
            </a:r>
            <a:endParaRPr lang="en-US" sz="1800" dirty="0"/>
          </a:p>
        </p:txBody>
      </p:sp>
      <p:sp>
        <p:nvSpPr>
          <p:cNvPr id="12" name="Text 10"/>
          <p:cNvSpPr/>
          <p:nvPr/>
        </p:nvSpPr>
        <p:spPr>
          <a:xfrm>
            <a:off x="3547872" y="3255264"/>
            <a:ext cx="1865376" cy="493776"/>
          </a:xfrm>
          <a:prstGeom prst="rect">
            <a:avLst/>
          </a:prstGeom>
          <a:noFill/>
          <a:ln/>
        </p:spPr>
        <p:txBody>
          <a:bodyPr wrap="square" lIns="0" tIns="0" rIns="0" bIns="0" rtlCol="0" anchor="t">
            <a:normAutofit/>
          </a:bodyPr>
          <a:lstStyle/>
          <a:p>
            <a:pPr algn="l" indent="0" marL="0">
              <a:buNone/>
            </a:pPr>
            <a:r>
              <a:rPr lang="en-US" sz="1050" dirty="0">
                <a:solidFill>
                  <a:srgbClr val="BBD0C8"/>
                </a:solidFill>
                <a:latin typeface="Aptos" pitchFamily="34" charset="0"/>
                <a:ea typeface="Aptos" pitchFamily="34" charset="-122"/>
                <a:cs typeface="Aptos" pitchFamily="34" charset="-120"/>
              </a:rPr>
              <a:t>Capture approvals, overrides, and outcomes.</a:t>
            </a:r>
            <a:endParaRPr lang="en-US" sz="1050" dirty="0"/>
          </a:p>
        </p:txBody>
      </p:sp>
      <p:sp>
        <p:nvSpPr>
          <p:cNvPr id="13" name="Shape 11"/>
          <p:cNvSpPr/>
          <p:nvPr/>
        </p:nvSpPr>
        <p:spPr>
          <a:xfrm>
            <a:off x="6053328" y="2121408"/>
            <a:ext cx="2331720" cy="2029968"/>
          </a:xfrm>
          <a:prstGeom prst="roundRect">
            <a:avLst>
              <a:gd name="adj" fmla="val 10360"/>
            </a:avLst>
          </a:prstGeom>
          <a:solidFill>
            <a:srgbClr val="244E42"/>
          </a:solidFill>
          <a:ln w="12700">
            <a:solidFill>
              <a:srgbClr val="41655A"/>
            </a:solidFill>
            <a:prstDash val="solid"/>
          </a:ln>
        </p:spPr>
      </p:sp>
      <p:sp>
        <p:nvSpPr>
          <p:cNvPr id="14" name="Text 12"/>
          <p:cNvSpPr/>
          <p:nvPr/>
        </p:nvSpPr>
        <p:spPr>
          <a:xfrm>
            <a:off x="6254496" y="2340864"/>
            <a:ext cx="822960" cy="210312"/>
          </a:xfrm>
          <a:prstGeom prst="rect">
            <a:avLst/>
          </a:prstGeom>
          <a:noFill/>
          <a:ln/>
        </p:spPr>
        <p:txBody>
          <a:bodyPr wrap="square" lIns="0" tIns="0" rIns="0" bIns="0" rtlCol="0" anchor="ctr">
            <a:normAutofit/>
          </a:bodyPr>
          <a:lstStyle/>
          <a:p>
            <a:pPr algn="l" indent="0" marL="0">
              <a:buNone/>
            </a:pPr>
            <a:r>
              <a:rPr lang="en-US" sz="850" b="1" spc="120" kern="0" dirty="0">
                <a:solidFill>
                  <a:srgbClr val="BEF264"/>
                </a:solidFill>
                <a:latin typeface="Aptos" pitchFamily="34" charset="0"/>
                <a:ea typeface="Aptos" pitchFamily="34" charset="-122"/>
                <a:cs typeface="Aptos" pitchFamily="34" charset="-120"/>
              </a:rPr>
              <a:t>THEN</a:t>
            </a:r>
            <a:endParaRPr lang="en-US" sz="850" dirty="0"/>
          </a:p>
        </p:txBody>
      </p:sp>
      <p:sp>
        <p:nvSpPr>
          <p:cNvPr id="15" name="Text 13"/>
          <p:cNvSpPr/>
          <p:nvPr/>
        </p:nvSpPr>
        <p:spPr>
          <a:xfrm>
            <a:off x="6254496" y="2761488"/>
            <a:ext cx="1874520" cy="310896"/>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Aptos Display" pitchFamily="34" charset="0"/>
                <a:ea typeface="Aptos Display" pitchFamily="34" charset="-122"/>
                <a:cs typeface="Aptos Display" pitchFamily="34" charset="-120"/>
              </a:rPr>
              <a:t>Learn elasticity</a:t>
            </a:r>
            <a:endParaRPr lang="en-US" sz="1800" dirty="0"/>
          </a:p>
        </p:txBody>
      </p:sp>
      <p:sp>
        <p:nvSpPr>
          <p:cNvPr id="16" name="Text 14"/>
          <p:cNvSpPr/>
          <p:nvPr/>
        </p:nvSpPr>
        <p:spPr>
          <a:xfrm>
            <a:off x="6254496" y="3255264"/>
            <a:ext cx="1865376" cy="493776"/>
          </a:xfrm>
          <a:prstGeom prst="rect">
            <a:avLst/>
          </a:prstGeom>
          <a:noFill/>
          <a:ln/>
        </p:spPr>
        <p:txBody>
          <a:bodyPr wrap="square" lIns="0" tIns="0" rIns="0" bIns="0" rtlCol="0" anchor="t">
            <a:normAutofit/>
          </a:bodyPr>
          <a:lstStyle/>
          <a:p>
            <a:pPr algn="l" indent="0" marL="0">
              <a:buNone/>
            </a:pPr>
            <a:r>
              <a:rPr lang="en-US" sz="1050" dirty="0">
                <a:solidFill>
                  <a:srgbClr val="BBD0C8"/>
                </a:solidFill>
                <a:latin typeface="Aptos" pitchFamily="34" charset="0"/>
                <a:ea typeface="Aptos" pitchFamily="34" charset="-122"/>
                <a:cs typeface="Aptos" pitchFamily="34" charset="-120"/>
              </a:rPr>
              <a:t>Retrain from intervention response.</a:t>
            </a:r>
            <a:endParaRPr lang="en-US" sz="1050" dirty="0"/>
          </a:p>
        </p:txBody>
      </p:sp>
      <p:sp>
        <p:nvSpPr>
          <p:cNvPr id="17" name="Shape 15"/>
          <p:cNvSpPr/>
          <p:nvPr/>
        </p:nvSpPr>
        <p:spPr>
          <a:xfrm>
            <a:off x="8759952" y="2121408"/>
            <a:ext cx="2331720" cy="2029968"/>
          </a:xfrm>
          <a:prstGeom prst="roundRect">
            <a:avLst>
              <a:gd name="adj" fmla="val 10360"/>
            </a:avLst>
          </a:prstGeom>
          <a:solidFill>
            <a:srgbClr val="244E42"/>
          </a:solidFill>
          <a:ln w="12700">
            <a:solidFill>
              <a:srgbClr val="41655A"/>
            </a:solidFill>
            <a:prstDash val="solid"/>
          </a:ln>
        </p:spPr>
      </p:sp>
      <p:sp>
        <p:nvSpPr>
          <p:cNvPr id="18" name="Text 16"/>
          <p:cNvSpPr/>
          <p:nvPr/>
        </p:nvSpPr>
        <p:spPr>
          <a:xfrm>
            <a:off x="8961120" y="2340864"/>
            <a:ext cx="822960" cy="210312"/>
          </a:xfrm>
          <a:prstGeom prst="rect">
            <a:avLst/>
          </a:prstGeom>
          <a:noFill/>
          <a:ln/>
        </p:spPr>
        <p:txBody>
          <a:bodyPr wrap="square" lIns="0" tIns="0" rIns="0" bIns="0" rtlCol="0" anchor="ctr">
            <a:normAutofit/>
          </a:bodyPr>
          <a:lstStyle/>
          <a:p>
            <a:pPr algn="l" indent="0" marL="0">
              <a:buNone/>
            </a:pPr>
            <a:r>
              <a:rPr lang="en-US" sz="850" b="1" spc="120" kern="0" dirty="0">
                <a:solidFill>
                  <a:srgbClr val="BEF264"/>
                </a:solidFill>
                <a:latin typeface="Aptos" pitchFamily="34" charset="0"/>
                <a:ea typeface="Aptos" pitchFamily="34" charset="-122"/>
                <a:cs typeface="Aptos" pitchFamily="34" charset="-120"/>
              </a:rPr>
              <a:t>SCALE</a:t>
            </a:r>
            <a:endParaRPr lang="en-US" sz="850" dirty="0"/>
          </a:p>
        </p:txBody>
      </p:sp>
      <p:sp>
        <p:nvSpPr>
          <p:cNvPr id="19" name="Text 17"/>
          <p:cNvSpPr/>
          <p:nvPr/>
        </p:nvSpPr>
        <p:spPr>
          <a:xfrm>
            <a:off x="8961120" y="2761488"/>
            <a:ext cx="1874520" cy="310896"/>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Aptos Display" pitchFamily="34" charset="0"/>
                <a:ea typeface="Aptos Display" pitchFamily="34" charset="-122"/>
                <a:cs typeface="Aptos Display" pitchFamily="34" charset="-120"/>
              </a:rPr>
              <a:t>POS + shelf labels</a:t>
            </a:r>
            <a:endParaRPr lang="en-US" sz="1800" dirty="0"/>
          </a:p>
        </p:txBody>
      </p:sp>
      <p:sp>
        <p:nvSpPr>
          <p:cNvPr id="20" name="Text 18"/>
          <p:cNvSpPr/>
          <p:nvPr/>
        </p:nvSpPr>
        <p:spPr>
          <a:xfrm>
            <a:off x="8961120" y="3255264"/>
            <a:ext cx="1865376" cy="493776"/>
          </a:xfrm>
          <a:prstGeom prst="rect">
            <a:avLst/>
          </a:prstGeom>
          <a:noFill/>
          <a:ln/>
        </p:spPr>
        <p:txBody>
          <a:bodyPr wrap="square" lIns="0" tIns="0" rIns="0" bIns="0" rtlCol="0" anchor="t">
            <a:normAutofit/>
          </a:bodyPr>
          <a:lstStyle/>
          <a:p>
            <a:pPr algn="l" indent="0" marL="0">
              <a:buNone/>
            </a:pPr>
            <a:r>
              <a:rPr lang="en-US" sz="1050" dirty="0">
                <a:solidFill>
                  <a:srgbClr val="BBD0C8"/>
                </a:solidFill>
                <a:latin typeface="Aptos" pitchFamily="34" charset="0"/>
                <a:ea typeface="Aptos" pitchFamily="34" charset="-122"/>
                <a:cs typeface="Aptos" pitchFamily="34" charset="-120"/>
              </a:rPr>
              <a:t>Automate only within owner policy.</a:t>
            </a:r>
            <a:endParaRPr lang="en-US" sz="1050" dirty="0"/>
          </a:p>
        </p:txBody>
      </p:sp>
      <p:sp>
        <p:nvSpPr>
          <p:cNvPr id="21" name="Shape 19"/>
          <p:cNvSpPr/>
          <p:nvPr/>
        </p:nvSpPr>
        <p:spPr>
          <a:xfrm>
            <a:off x="640080" y="4526280"/>
            <a:ext cx="7498080" cy="987552"/>
          </a:xfrm>
          <a:prstGeom prst="roundRect">
            <a:avLst>
              <a:gd name="adj" fmla="val 18519"/>
            </a:avLst>
          </a:prstGeom>
          <a:solidFill>
            <a:srgbClr val="244E42"/>
          </a:solidFill>
          <a:ln w="12700">
            <a:solidFill>
              <a:srgbClr val="244E42">
                <a:alpha val="0"/>
              </a:srgbClr>
            </a:solidFill>
            <a:prstDash val="solid"/>
          </a:ln>
        </p:spPr>
      </p:sp>
      <p:sp>
        <p:nvSpPr>
          <p:cNvPr id="22" name="Text 20"/>
          <p:cNvSpPr/>
          <p:nvPr/>
        </p:nvSpPr>
        <p:spPr>
          <a:xfrm>
            <a:off x="896112" y="4736592"/>
            <a:ext cx="1600200" cy="182880"/>
          </a:xfrm>
          <a:prstGeom prst="rect">
            <a:avLst/>
          </a:prstGeom>
          <a:noFill/>
          <a:ln/>
        </p:spPr>
        <p:txBody>
          <a:bodyPr wrap="square" lIns="0" tIns="0" rIns="0" bIns="0" rtlCol="0" anchor="ctr">
            <a:normAutofit/>
          </a:bodyPr>
          <a:lstStyle/>
          <a:p>
            <a:pPr algn="l" indent="0" marL="0">
              <a:buNone/>
            </a:pPr>
            <a:r>
              <a:rPr lang="en-US" sz="850" b="1" spc="100" kern="0" dirty="0">
                <a:solidFill>
                  <a:srgbClr val="BEF264"/>
                </a:solidFill>
                <a:latin typeface="Aptos" pitchFamily="34" charset="0"/>
                <a:ea typeface="Aptos" pitchFamily="34" charset="-122"/>
                <a:cs typeface="Aptos" pitchFamily="34" charset="-120"/>
              </a:rPr>
              <a:t>PROPOSED BUSINESS MODEL</a:t>
            </a:r>
            <a:endParaRPr lang="en-US" sz="850" dirty="0"/>
          </a:p>
        </p:txBody>
      </p:sp>
      <p:sp>
        <p:nvSpPr>
          <p:cNvPr id="23" name="Text 21"/>
          <p:cNvSpPr/>
          <p:nvPr/>
        </p:nvSpPr>
        <p:spPr>
          <a:xfrm>
            <a:off x="896112" y="5047488"/>
            <a:ext cx="6720840" cy="256032"/>
          </a:xfrm>
          <a:prstGeom prst="rect">
            <a:avLst/>
          </a:prstGeom>
          <a:noFill/>
          <a:ln/>
        </p:spPr>
        <p:txBody>
          <a:bodyPr wrap="square" lIns="0" tIns="0" rIns="0" bIns="0" rtlCol="0" anchor="ctr">
            <a:normAutofit/>
          </a:bodyPr>
          <a:lstStyle/>
          <a:p>
            <a:pPr algn="l" indent="0" marL="0">
              <a:buNone/>
            </a:pPr>
            <a:r>
              <a:rPr lang="en-US" sz="1200" b="1" dirty="0">
                <a:solidFill>
                  <a:srgbClr val="FFFFFF"/>
                </a:solidFill>
                <a:latin typeface="Aptos" pitchFamily="34" charset="0"/>
                <a:ea typeface="Aptos" pitchFamily="34" charset="-122"/>
                <a:cs typeface="Aptos" pitchFamily="34" charset="-120"/>
              </a:rPr>
              <a:t>10% of attributable campaign sales  •  no setup fee  •  impact measured before ROI is claimed</a:t>
            </a:r>
            <a:endParaRPr lang="en-US" sz="1200" dirty="0"/>
          </a:p>
        </p:txBody>
      </p:sp>
      <p:sp>
        <p:nvSpPr>
          <p:cNvPr id="24" name="Shape 22"/>
          <p:cNvSpPr/>
          <p:nvPr/>
        </p:nvSpPr>
        <p:spPr>
          <a:xfrm>
            <a:off x="8430768" y="4462272"/>
            <a:ext cx="3090672" cy="1325880"/>
          </a:xfrm>
          <a:prstGeom prst="roundRect">
            <a:avLst>
              <a:gd name="adj" fmla="val 15172"/>
            </a:avLst>
          </a:prstGeom>
          <a:solidFill>
            <a:srgbClr val="FFFDF7"/>
          </a:solidFill>
          <a:ln w="12700">
            <a:solidFill>
              <a:srgbClr val="FFFDF7">
                <a:alpha val="0"/>
              </a:srgbClr>
            </a:solidFill>
            <a:prstDash val="solid"/>
          </a:ln>
        </p:spPr>
      </p:sp>
      <p:sp>
        <p:nvSpPr>
          <p:cNvPr id="25" name="Text 23"/>
          <p:cNvSpPr/>
          <p:nvPr/>
        </p:nvSpPr>
        <p:spPr>
          <a:xfrm>
            <a:off x="8705088" y="4681728"/>
            <a:ext cx="2514600" cy="292608"/>
          </a:xfrm>
          <a:prstGeom prst="rect">
            <a:avLst/>
          </a:prstGeom>
          <a:noFill/>
          <a:ln/>
        </p:spPr>
        <p:txBody>
          <a:bodyPr wrap="square" lIns="0" tIns="0" rIns="0" bIns="0" rtlCol="0" anchor="ctr">
            <a:normAutofit/>
          </a:bodyPr>
          <a:lstStyle/>
          <a:p>
            <a:pPr algn="ctr" indent="0" marL="0">
              <a:buNone/>
            </a:pPr>
            <a:r>
              <a:rPr lang="en-US" sz="2000" b="1" dirty="0">
                <a:solidFill>
                  <a:srgbClr val="173D31"/>
                </a:solidFill>
                <a:latin typeface="Aptos Display" pitchFamily="34" charset="0"/>
                <a:ea typeface="Aptos Display" pitchFamily="34" charset="-122"/>
                <a:cs typeface="Aptos Display" pitchFamily="34" charset="-120"/>
              </a:rPr>
              <a:t>Would you pilot this?</a:t>
            </a:r>
            <a:endParaRPr lang="en-US" sz="2000" dirty="0"/>
          </a:p>
        </p:txBody>
      </p:sp>
      <p:sp>
        <p:nvSpPr>
          <p:cNvPr id="26" name="Text 24"/>
          <p:cNvSpPr/>
          <p:nvPr/>
        </p:nvSpPr>
        <p:spPr>
          <a:xfrm>
            <a:off x="8796528" y="5074920"/>
            <a:ext cx="2331720" cy="182880"/>
          </a:xfrm>
          <a:prstGeom prst="rect">
            <a:avLst/>
          </a:prstGeom>
          <a:noFill/>
          <a:ln/>
        </p:spPr>
        <p:txBody>
          <a:bodyPr wrap="square" lIns="0" tIns="0" rIns="0" bIns="0" rtlCol="0" anchor="ctr">
            <a:normAutofit/>
          </a:bodyPr>
          <a:lstStyle/>
          <a:p>
            <a:pPr algn="ctr" indent="0" marL="0">
              <a:buNone/>
            </a:pPr>
            <a:r>
              <a:rPr lang="en-US" sz="950" dirty="0">
                <a:solidFill>
                  <a:srgbClr val="667D75"/>
                </a:solidFill>
                <a:latin typeface="Aptos" pitchFamily="34" charset="0"/>
                <a:ea typeface="Aptos" pitchFamily="34" charset="-122"/>
                <a:cs typeface="Aptos" pitchFamily="34" charset="-120"/>
              </a:rPr>
              <a:t>Scan for the live product</a:t>
            </a:r>
            <a:endParaRPr lang="en-US" sz="950" dirty="0"/>
          </a:p>
        </p:txBody>
      </p:sp>
      <p:sp>
        <p:nvSpPr>
          <p:cNvPr id="27" name="Text 25"/>
          <p:cNvSpPr/>
          <p:nvPr/>
        </p:nvSpPr>
        <p:spPr>
          <a:xfrm>
            <a:off x="8851392" y="5376672"/>
            <a:ext cx="2194560" cy="219456"/>
          </a:xfrm>
          <a:prstGeom prst="rect">
            <a:avLst/>
          </a:prstGeom>
          <a:noFill/>
          <a:ln/>
        </p:spPr>
        <p:txBody>
          <a:bodyPr wrap="square" lIns="0" tIns="0" rIns="0" bIns="0" rtlCol="0" anchor="ctr">
            <a:normAutofit/>
          </a:bodyPr>
          <a:lstStyle/>
          <a:p>
            <a:pPr algn="ctr" indent="0" marL="0">
              <a:buNone/>
            </a:pPr>
            <a:r>
              <a:rPr lang="en-US" sz="1000" b="1" u="sng" dirty="0">
                <a:solidFill>
                  <a:srgbClr val="10B981"/>
                </a:solidFill>
                <a:uFill>
                  <a:solidFill>
                    <a:srgbClr val="10B981"/>
                  </a:solidFill>
                </a:u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OPEN LIVE DEMO  →</a:t>
            </a:r>
            <a:endParaRPr lang="en-US" sz="1000" dirty="0"/>
          </a:p>
        </p:txBody>
      </p:sp>
      <p:sp>
        <p:nvSpPr>
          <p:cNvPr id="28" name="Text 26"/>
          <p:cNvSpPr/>
          <p:nvPr/>
        </p:nvSpPr>
        <p:spPr>
          <a:xfrm>
            <a:off x="1234440" y="5961888"/>
            <a:ext cx="7680960" cy="274320"/>
          </a:xfrm>
          <a:prstGeom prst="rect">
            <a:avLst/>
          </a:prstGeom>
          <a:noFill/>
          <a:ln/>
        </p:spPr>
        <p:txBody>
          <a:bodyPr wrap="square" lIns="0" tIns="0" rIns="0" bIns="0" rtlCol="0" anchor="ctr">
            <a:normAutofit/>
          </a:bodyPr>
          <a:lstStyle/>
          <a:p>
            <a:pPr algn="l" indent="0" marL="0">
              <a:buNone/>
            </a:pPr>
            <a:r>
              <a:rPr lang="en-US" sz="1800" b="1" dirty="0">
                <a:solidFill>
                  <a:srgbClr val="BEF264"/>
                </a:solidFill>
                <a:latin typeface="Aptos Display" pitchFamily="34" charset="0"/>
                <a:ea typeface="Aptos Display" pitchFamily="34" charset="-122"/>
                <a:cs typeface="Aptos Display" pitchFamily="34" charset="-120"/>
              </a:rPr>
              <a:t>Detect risk. Protect margin. Reach the right shopper.</a:t>
            </a:r>
            <a:endParaRPr lang="en-US" sz="1800" dirty="0"/>
          </a:p>
        </p:txBody>
      </p:sp>
      <p:sp>
        <p:nvSpPr>
          <p:cNvPr id="29" name="Shape 27"/>
          <p:cNvSpPr/>
          <p:nvPr/>
        </p:nvSpPr>
        <p:spPr>
          <a:xfrm>
            <a:off x="502920" y="6419088"/>
            <a:ext cx="10744200" cy="0"/>
          </a:xfrm>
          <a:prstGeom prst="line">
            <a:avLst/>
          </a:prstGeom>
          <a:noFill/>
          <a:ln w="10160">
            <a:solidFill>
              <a:srgbClr val="406459"/>
            </a:solidFill>
            <a:prstDash val="solid"/>
          </a:ln>
        </p:spPr>
      </p:sp>
      <p:sp>
        <p:nvSpPr>
          <p:cNvPr id="30" name="Text 28"/>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BEF264"/>
                </a:solidFill>
                <a:latin typeface="Aptos" pitchFamily="34" charset="0"/>
                <a:ea typeface="Aptos" pitchFamily="34" charset="-122"/>
                <a:cs typeface="Aptos" pitchFamily="34" charset="-120"/>
              </a:rPr>
              <a:t>FRESHSAVER</a:t>
            </a:r>
            <a:endParaRPr lang="en-US" sz="750" dirty="0"/>
          </a:p>
        </p:txBody>
      </p:sp>
      <p:sp>
        <p:nvSpPr>
          <p:cNvPr id="31" name="Text 29"/>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90A99F"/>
                </a:solidFill>
                <a:latin typeface="Aptos" pitchFamily="34" charset="0"/>
                <a:ea typeface="Aptos" pitchFamily="34" charset="-122"/>
                <a:cs typeface="Aptos" pitchFamily="34" charset="-120"/>
              </a:rPr>
              <a:t>FreshSaver AI · live product and source linked</a:t>
            </a:r>
            <a:endParaRPr lang="en-US" sz="750" dirty="0"/>
          </a:p>
        </p:txBody>
      </p:sp>
      <p:pic>
        <p:nvPicPr>
          <p:cNvPr id="33" name="Image 0" descr="preencoded.png">
            <a:hlinkClick r:id="rId3" tooltip=""/>
          </p:cNvPr>
          <p:cNvPicPr>
            <a:picLocks noChangeAspect="1"/>
          </p:cNvPicPr>
          <p:nvPr/>
        </p:nvPicPr>
        <p:blipFill>
          <a:blip r:embed="rId2"/>
          <a:stretch>
            <a:fillRect/>
          </a:stretch>
        </p:blipFill>
        <p:spPr>
          <a:xfrm>
            <a:off x="10808208" y="4617720"/>
            <a:ext cx="566928" cy="566928"/>
          </a:xfrm>
          <a:prstGeom prst="rect">
            <a:avLst/>
          </a:prstGeom>
        </p:spPr>
      </p:pic>
      <p:pic>
        <p:nvPicPr>
          <p:cNvPr id="34" name="Image 1" descr="preencoded.png">
            <a:hlinkClick r:id="rId5" tooltip=""/>
          </p:cNvPr>
          <p:cNvPicPr>
            <a:picLocks noChangeAspect="1"/>
          </p:cNvPicPr>
          <p:nvPr/>
        </p:nvPicPr>
        <p:blipFill>
          <a:blip r:embed="rId4"/>
          <a:stretch>
            <a:fillRect/>
          </a:stretch>
        </p:blipFill>
        <p:spPr>
          <a:xfrm>
            <a:off x="11018520" y="5779008"/>
            <a:ext cx="384048" cy="384048"/>
          </a:xfrm>
          <a:prstGeom prst="rect">
            <a:avLst/>
          </a:prstGeom>
        </p:spPr>
      </p:pic>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6ADA4"/>
                </a:solidFill>
                <a:latin typeface="Aptos"/>
                <a:ea typeface="Aptos"/>
                <a:cs typeface="Aptos"/>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AI Builders Hackathon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FreshSaver — Protect Margin Before Food Becomes Waste</dc:title>
  <dc:subject>Explainable AI markdown decisions for independent grocers</dc:subject>
  <dc:creator>FreshSaver AI</dc:creator>
  <cp:lastModifiedBy>FreshSaver AI</cp:lastModifiedBy>
  <cp:revision>1</cp:revision>
  <dcterms:created xsi:type="dcterms:W3CDTF">2026-09-15T23:48:32Z</dcterms:created>
  <dcterms:modified xsi:type="dcterms:W3CDTF">2026-09-15T23:48:32Z</dcterms:modified>
</cp:coreProperties>
</file>