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as a story: It is closing time. A neighborhood grocer has 18 cartons of milk and four days left. Discount too deeply and margin disappears; wait too long and the product may be lost. FreshSaver turns that recurring shelf decision into a reviewable intervention.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from global to local. UNEP reports 1.05 billion tonnes of food waste in 2022 across retail, food service and households; 12% occurred at retail. Food loss and waste cost roughly US$1 trillion and generate 8–10% of global greenhouse gas emissions. Separately, the European Commission estimates up to 10% of EU food waste is linked to date marking. Do not say all global food waste is caused by expiry dates. Bring the story back to the grocer choosing between holding, marking down, or losing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Emphasize that a prediction alone does not rescue food. The value is the closed loop from inventory to owner action to shopper pickup.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two personas. Owners get four focused pages; shoppers see only approved active deals and can reserve for pickup.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XGBoost as the live primary AI. Gemini is an evidence-grounded adapter with a safe template fallback; it never calculates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caveat before the numbers: these metrics validate the train/serve/evaluate pipeline on synthetic data. The next claim must come from merchant data and a controlled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duties: model predicts, policy constrains, owner decides. Candidate values on this slide are illustrative and should not be presented as measured store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store_id as the tenant key. Service-role access stays server-side; recommendation and approval evidence is persisted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honesty is intentional. Separate what the deployed product proves from outcomes that require a controlled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disciplined ambition: the product already connects the decision to action. Ask judges or merchants for a shadow pilot, not blind autonomy.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3E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D3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freshsaver-ai.vercel.app/demo" TargetMode="External"/><Relationship Id="rId2" Type="http://schemas.openxmlformats.org/officeDocument/2006/relationships/hyperlink" Target="https://github.com/Utpal-Kalita/FreshSaver-AI" TargetMode="External"/><Relationship Id="rId4" Type="http://schemas.openxmlformats.org/officeDocument/2006/relationships/hyperlink" Target="https://freshsaver-ai.vercel.app/demo" TargetMode="External"/><Relationship Id="rId3" Type="http://schemas.openxmlformats.org/officeDocument/2006/relationships/image" Target="../media/image-1-1.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unep.org/news-and-stories/press-release/world-squanders-over-1-billion-meals-day-un-report" TargetMode="External"/><Relationship Id="rId2" Type="http://schemas.openxmlformats.org/officeDocument/2006/relationships/hyperlink" Target="https://food.ec.europa.eu/food-safety/food-waste/eu-actions-against-food-waste/date-marking-and-food-waste-prevention_en" TargetMode="External"/><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freshsaver-ai.vercel.app" TargetMode="External"/><Relationship Id="rId2" Type="http://schemas.openxmlformats.org/officeDocument/2006/relationships/hyperlink" Target="https://freshsaver-demand-model.onrender.com" TargetMode="External"/><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freshsaver-ai.vercel.app/demo" TargetMode="External"/><Relationship Id="rId3" Type="http://schemas.openxmlformats.org/officeDocument/2006/relationships/hyperlink" Target="https://freshsaver-ai.vercel.app/demo" TargetMode="External"/><Relationship Id="rId5" Type="http://schemas.openxmlformats.org/officeDocument/2006/relationships/hyperlink" Target="https://github.com/Utpal-Kalita/FreshSaver-AI" TargetMode="External"/><Relationship Id="rId2" Type="http://schemas.openxmlformats.org/officeDocument/2006/relationships/image" Target="../media/image-10-1.png"/><Relationship Id="rId4" Type="http://schemas.openxmlformats.org/officeDocument/2006/relationships/image" Target="../media/image-10-2.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D31"/>
        </a:solidFill>
      </p:bgPr>
    </p:bg>
    <p:spTree>
      <p:nvGrpSpPr>
        <p:cNvPr id="1" name=""/>
        <p:cNvGrpSpPr/>
        <p:nvPr/>
      </p:nvGrpSpPr>
      <p:grpSpPr>
        <a:xfrm>
          <a:off x="0" y="0"/>
          <a:ext cx="0" cy="0"/>
          <a:chOff x="0" y="0"/>
          <a:chExt cx="0" cy="0"/>
        </a:xfrm>
      </p:grpSpPr>
      <p:sp>
        <p:nvSpPr>
          <p:cNvPr id="2" name="Shape 0"/>
          <p:cNvSpPr/>
          <p:nvPr/>
        </p:nvSpPr>
        <p:spPr>
          <a:xfrm>
            <a:off x="8686800" y="-2011680"/>
            <a:ext cx="5303520" cy="5303520"/>
          </a:xfrm>
          <a:prstGeom prst="ellipse">
            <a:avLst/>
          </a:prstGeom>
          <a:solidFill>
            <a:srgbClr val="BEF264">
              <a:alpha val="15000"/>
            </a:srgbClr>
          </a:solidFill>
          <a:ln w="12700">
            <a:solidFill>
              <a:srgbClr val="BEF264">
                <a:alpha val="0"/>
              </a:srgbClr>
            </a:solidFill>
            <a:prstDash val="solid"/>
          </a:ln>
        </p:spPr>
      </p:sp>
      <p:sp>
        <p:nvSpPr>
          <p:cNvPr id="3" name="Shape 1"/>
          <p:cNvSpPr/>
          <p:nvPr/>
        </p:nvSpPr>
        <p:spPr>
          <a:xfrm>
            <a:off x="-1463040" y="5166360"/>
            <a:ext cx="3840480" cy="3840480"/>
          </a:xfrm>
          <a:prstGeom prst="ellipse">
            <a:avLst/>
          </a:prstGeom>
          <a:solidFill>
            <a:srgbClr val="10B981">
              <a:alpha val="15000"/>
            </a:srgbClr>
          </a:solidFill>
          <a:ln w="12700">
            <a:solidFill>
              <a:srgbClr val="10B981">
                <a:alpha val="0"/>
              </a:srgbClr>
            </a:solidFill>
            <a:prstDash val="solid"/>
          </a:ln>
        </p:spPr>
      </p:sp>
      <p:sp>
        <p:nvSpPr>
          <p:cNvPr id="4" name="Shape 2"/>
          <p:cNvSpPr/>
          <p:nvPr/>
        </p:nvSpPr>
        <p:spPr>
          <a:xfrm>
            <a:off x="594360" y="457200"/>
            <a:ext cx="438912" cy="438912"/>
          </a:xfrm>
          <a:prstGeom prst="ellipse">
            <a:avLst/>
          </a:prstGeom>
          <a:solidFill>
            <a:srgbClr val="BEF264"/>
          </a:solidFill>
          <a:ln w="12700">
            <a:solidFill>
              <a:srgbClr val="BEF264"/>
            </a:solidFill>
            <a:prstDash val="solid"/>
          </a:ln>
        </p:spPr>
      </p:sp>
      <p:sp>
        <p:nvSpPr>
          <p:cNvPr id="5" name="Text 3"/>
          <p:cNvSpPr/>
          <p:nvPr/>
        </p:nvSpPr>
        <p:spPr>
          <a:xfrm>
            <a:off x="594360" y="457200"/>
            <a:ext cx="438912" cy="438912"/>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F</a:t>
            </a:r>
            <a:endParaRPr lang="en-US" sz="1600" dirty="0"/>
          </a:p>
        </p:txBody>
      </p:sp>
      <p:sp>
        <p:nvSpPr>
          <p:cNvPr id="6" name="Text 4"/>
          <p:cNvSpPr/>
          <p:nvPr/>
        </p:nvSpPr>
        <p:spPr>
          <a:xfrm>
            <a:off x="1143000" y="475488"/>
            <a:ext cx="2011680" cy="365760"/>
          </a:xfrm>
          <a:prstGeom prst="rect">
            <a:avLst/>
          </a:prstGeom>
          <a:noFill/>
          <a:ln/>
        </p:spPr>
        <p:txBody>
          <a:bodyPr wrap="square" lIns="0" tIns="0" rIns="0" bIns="0" rtlCol="0" anchor="ctr">
            <a:normAutofit/>
          </a:bodyPr>
          <a:lstStyle/>
          <a:p>
            <a:pPr algn="l" indent="0" marL="0">
              <a:buNone/>
            </a:pPr>
            <a:r>
              <a:rPr lang="en-US" sz="1300" b="1" spc="120" kern="0" dirty="0">
                <a:solidFill>
                  <a:srgbClr val="FFFFFF"/>
                </a:solidFill>
                <a:latin typeface="Aptos" pitchFamily="34" charset="0"/>
                <a:ea typeface="Aptos" pitchFamily="34" charset="-122"/>
                <a:cs typeface="Aptos" pitchFamily="34" charset="-120"/>
              </a:rPr>
              <a:t>FRESHSAVER AI</a:t>
            </a:r>
            <a:endParaRPr lang="en-US" sz="1300" dirty="0"/>
          </a:p>
        </p:txBody>
      </p:sp>
      <p:sp>
        <p:nvSpPr>
          <p:cNvPr id="7" name="Shape 5"/>
          <p:cNvSpPr/>
          <p:nvPr/>
        </p:nvSpPr>
        <p:spPr>
          <a:xfrm>
            <a:off x="594360" y="1234440"/>
            <a:ext cx="2331720" cy="292608"/>
          </a:xfrm>
          <a:prstGeom prst="roundRect">
            <a:avLst>
              <a:gd name="adj" fmla="val 50000"/>
            </a:avLst>
          </a:prstGeom>
          <a:solidFill>
            <a:srgbClr val="244F42"/>
          </a:solidFill>
          <a:ln w="12700">
            <a:solidFill>
              <a:srgbClr val="244F42">
                <a:alpha val="0"/>
              </a:srgbClr>
            </a:solidFill>
            <a:prstDash val="solid"/>
          </a:ln>
        </p:spPr>
      </p:sp>
      <p:sp>
        <p:nvSpPr>
          <p:cNvPr id="8" name="Text 6"/>
          <p:cNvSpPr/>
          <p:nvPr/>
        </p:nvSpPr>
        <p:spPr>
          <a:xfrm>
            <a:off x="667512" y="1234440"/>
            <a:ext cx="218541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AI BUILDERS HACKATHON 2026</a:t>
            </a:r>
            <a:endParaRPr lang="en-US" sz="900" dirty="0"/>
          </a:p>
        </p:txBody>
      </p:sp>
      <p:sp>
        <p:nvSpPr>
          <p:cNvPr id="9" name="Text 7"/>
          <p:cNvSpPr/>
          <p:nvPr/>
        </p:nvSpPr>
        <p:spPr>
          <a:xfrm>
            <a:off x="594360" y="1755648"/>
            <a:ext cx="5623560" cy="2395728"/>
          </a:xfrm>
          <a:prstGeom prst="rect">
            <a:avLst/>
          </a:prstGeom>
          <a:noFill/>
          <a:ln/>
        </p:spPr>
        <p:txBody>
          <a:bodyPr wrap="square" lIns="0" tIns="0" rIns="0" bIns="0" rtlCol="0" anchor="t">
            <a:normAutofit/>
          </a:bodyPr>
          <a:lstStyle/>
          <a:p>
            <a:pPr algn="l" indent="0" marL="0">
              <a:buNone/>
            </a:pPr>
            <a:r>
              <a:rPr lang="en-US" sz="3700" b="1" dirty="0">
                <a:solidFill>
                  <a:srgbClr val="FFFFFF"/>
                </a:solidFill>
                <a:latin typeface="Aptos Display" pitchFamily="34" charset="0"/>
                <a:ea typeface="Aptos Display" pitchFamily="34" charset="-122"/>
                <a:cs typeface="Aptos Display" pitchFamily="34" charset="-120"/>
              </a:rPr>
              <a:t>At closing time,</a:t>
            </a:r>
            <a:endParaRPr lang="en-US" sz="3700" dirty="0"/>
          </a:p>
          <a:p>
            <a:pPr algn="l" indent="0" marL="0">
              <a:buNone/>
            </a:pPr>
            <a:r>
              <a:rPr lang="en-US" sz="3700" b="1" dirty="0">
                <a:solidFill>
                  <a:srgbClr val="FFFFFF"/>
                </a:solidFill>
                <a:latin typeface="Aptos Display" pitchFamily="34" charset="0"/>
                <a:ea typeface="Aptos Display" pitchFamily="34" charset="-122"/>
                <a:cs typeface="Aptos Display" pitchFamily="34" charset="-120"/>
              </a:rPr>
              <a:t>18 cartons still</a:t>
            </a:r>
            <a:endParaRPr lang="en-US" sz="3700" dirty="0"/>
          </a:p>
          <a:p>
            <a:pPr algn="l" indent="0" marL="0">
              <a:buNone/>
            </a:pPr>
            <a:r>
              <a:rPr lang="en-US" sz="3700" b="1" dirty="0">
                <a:solidFill>
                  <a:srgbClr val="FFFFFF"/>
                </a:solidFill>
                <a:latin typeface="Aptos Display" pitchFamily="34" charset="0"/>
                <a:ea typeface="Aptos Display" pitchFamily="34" charset="-122"/>
                <a:cs typeface="Aptos Display" pitchFamily="34" charset="-120"/>
              </a:rPr>
              <a:t>have value.</a:t>
            </a:r>
            <a:endParaRPr lang="en-US" sz="3700" dirty="0"/>
          </a:p>
        </p:txBody>
      </p:sp>
      <p:sp>
        <p:nvSpPr>
          <p:cNvPr id="10" name="Text 8"/>
          <p:cNvSpPr/>
          <p:nvPr/>
        </p:nvSpPr>
        <p:spPr>
          <a:xfrm>
            <a:off x="658368" y="4407408"/>
            <a:ext cx="5074920" cy="713232"/>
          </a:xfrm>
          <a:prstGeom prst="rect">
            <a:avLst/>
          </a:prstGeom>
          <a:noFill/>
          <a:ln/>
        </p:spPr>
        <p:txBody>
          <a:bodyPr wrap="square" lIns="0" tIns="0" rIns="0" bIns="0" rtlCol="0" anchor="t">
            <a:normAutofit/>
          </a:bodyPr>
          <a:lstStyle/>
          <a:p>
            <a:pPr algn="l" indent="0" marL="0">
              <a:buNone/>
            </a:pPr>
            <a:r>
              <a:rPr lang="en-US" sz="1500" dirty="0">
                <a:solidFill>
                  <a:srgbClr val="C6D7D0"/>
                </a:solidFill>
                <a:latin typeface="Aptos" pitchFamily="34" charset="0"/>
                <a:ea typeface="Aptos" pitchFamily="34" charset="-122"/>
                <a:cs typeface="Aptos" pitchFamily="34" charset="-120"/>
              </a:rPr>
              <a:t>FreshSaver helps a grocer choose the right intervention before good food becomes waste.</a:t>
            </a:r>
            <a:endParaRPr lang="en-US" sz="1500" dirty="0"/>
          </a:p>
        </p:txBody>
      </p:sp>
      <p:sp>
        <p:nvSpPr>
          <p:cNvPr id="11" name="Shape 9"/>
          <p:cNvSpPr/>
          <p:nvPr/>
        </p:nvSpPr>
        <p:spPr>
          <a:xfrm>
            <a:off x="6629400" y="1143000"/>
            <a:ext cx="4800600" cy="4434840"/>
          </a:xfrm>
          <a:prstGeom prst="roundRect">
            <a:avLst>
              <a:gd name="adj" fmla="val 5773"/>
            </a:avLst>
          </a:prstGeom>
          <a:solidFill>
            <a:srgbClr val="FFFDF7"/>
          </a:solidFill>
          <a:ln w="12700">
            <a:solidFill>
              <a:srgbClr val="FFFDF7">
                <a:alpha val="0"/>
              </a:srgbClr>
            </a:solidFill>
            <a:prstDash val="solid"/>
          </a:ln>
          <a:effectLst>
            <a:outerShdw sx="100000" sy="100000" kx="0" ky="0" algn="bl" rotWithShape="0" blurRad="25400" dist="50800" dir="2700000">
              <a:srgbClr val="0A241C">
                <a:alpha val="13000"/>
              </a:srgbClr>
            </a:outerShdw>
          </a:effectLst>
        </p:spPr>
      </p:sp>
      <p:sp>
        <p:nvSpPr>
          <p:cNvPr id="12" name="Text 10"/>
          <p:cNvSpPr/>
          <p:nvPr/>
        </p:nvSpPr>
        <p:spPr>
          <a:xfrm>
            <a:off x="6995160" y="1444752"/>
            <a:ext cx="2514600" cy="228600"/>
          </a:xfrm>
          <a:prstGeom prst="rect">
            <a:avLst/>
          </a:prstGeom>
          <a:noFill/>
          <a:ln/>
        </p:spPr>
        <p:txBody>
          <a:bodyPr wrap="square" lIns="0" tIns="0" rIns="0" bIns="0" rtlCol="0" anchor="ctr">
            <a:normAutofit/>
          </a:bodyPr>
          <a:lstStyle/>
          <a:p>
            <a:pPr algn="l" indent="0" marL="0">
              <a:buNone/>
            </a:pPr>
            <a:r>
              <a:rPr lang="en-US" sz="900" b="1" spc="120" kern="0" dirty="0">
                <a:solidFill>
                  <a:srgbClr val="10B981"/>
                </a:solidFill>
                <a:latin typeface="Aptos" pitchFamily="34" charset="0"/>
                <a:ea typeface="Aptos" pitchFamily="34" charset="-122"/>
                <a:cs typeface="Aptos" pitchFamily="34" charset="-120"/>
              </a:rPr>
              <a:t>ILLUSTRATIVE STORE DECISION</a:t>
            </a:r>
            <a:endParaRPr lang="en-US" sz="900" dirty="0"/>
          </a:p>
        </p:txBody>
      </p:sp>
      <p:sp>
        <p:nvSpPr>
          <p:cNvPr id="13" name="Text 11"/>
          <p:cNvSpPr/>
          <p:nvPr/>
        </p:nvSpPr>
        <p:spPr>
          <a:xfrm>
            <a:off x="6995160" y="1810512"/>
            <a:ext cx="3017520" cy="411480"/>
          </a:xfrm>
          <a:prstGeom prst="rect">
            <a:avLst/>
          </a:prstGeom>
          <a:noFill/>
          <a:ln/>
        </p:spPr>
        <p:txBody>
          <a:bodyPr wrap="square" lIns="0" tIns="0" rIns="0" bIns="0" rtlCol="0" anchor="ctr">
            <a:normAutofit/>
          </a:bodyPr>
          <a:lstStyle/>
          <a:p>
            <a:pPr algn="l" indent="0" marL="0">
              <a:buNone/>
            </a:pPr>
            <a:r>
              <a:rPr lang="en-US" sz="2200" b="1" dirty="0">
                <a:solidFill>
                  <a:srgbClr val="15352C"/>
                </a:solidFill>
                <a:latin typeface="Aptos Display" pitchFamily="34" charset="0"/>
                <a:ea typeface="Aptos Display" pitchFamily="34" charset="-122"/>
                <a:cs typeface="Aptos Display" pitchFamily="34" charset="-120"/>
              </a:rPr>
              <a:t>Organic whole milk</a:t>
            </a:r>
            <a:endParaRPr lang="en-US" sz="2200" dirty="0"/>
          </a:p>
        </p:txBody>
      </p:sp>
      <p:sp>
        <p:nvSpPr>
          <p:cNvPr id="14" name="Shape 12"/>
          <p:cNvSpPr/>
          <p:nvPr/>
        </p:nvSpPr>
        <p:spPr>
          <a:xfrm>
            <a:off x="10104120" y="1783080"/>
            <a:ext cx="841248" cy="292608"/>
          </a:xfrm>
          <a:prstGeom prst="roundRect">
            <a:avLst>
              <a:gd name="adj" fmla="val 50000"/>
            </a:avLst>
          </a:prstGeom>
          <a:solidFill>
            <a:srgbClr val="FFF0E7"/>
          </a:solidFill>
          <a:ln w="12700">
            <a:solidFill>
              <a:srgbClr val="FFF0E7">
                <a:alpha val="0"/>
              </a:srgbClr>
            </a:solidFill>
            <a:prstDash val="solid"/>
          </a:ln>
        </p:spPr>
      </p:sp>
      <p:sp>
        <p:nvSpPr>
          <p:cNvPr id="15" name="Text 13"/>
          <p:cNvSpPr/>
          <p:nvPr/>
        </p:nvSpPr>
        <p:spPr>
          <a:xfrm>
            <a:off x="10177272" y="1783080"/>
            <a:ext cx="694944" cy="292608"/>
          </a:xfrm>
          <a:prstGeom prst="rect">
            <a:avLst/>
          </a:prstGeom>
          <a:noFill/>
          <a:ln/>
        </p:spPr>
        <p:txBody>
          <a:bodyPr wrap="square" lIns="0" tIns="0" rIns="0" bIns="0" rtlCol="0" anchor="ctr">
            <a:normAutofit/>
          </a:bodyPr>
          <a:lstStyle/>
          <a:p>
            <a:pPr algn="ctr" indent="0" marL="0">
              <a:buNone/>
            </a:pPr>
            <a:r>
              <a:rPr lang="en-US" sz="900" b="1" dirty="0">
                <a:solidFill>
                  <a:srgbClr val="F97316"/>
                </a:solidFill>
                <a:latin typeface="Aptos" pitchFamily="34" charset="0"/>
                <a:ea typeface="Aptos" pitchFamily="34" charset="-122"/>
                <a:cs typeface="Aptos" pitchFamily="34" charset="-120"/>
              </a:rPr>
              <a:t>REVIEW</a:t>
            </a:r>
            <a:endParaRPr lang="en-US" sz="900" dirty="0"/>
          </a:p>
        </p:txBody>
      </p:sp>
      <p:sp>
        <p:nvSpPr>
          <p:cNvPr id="16" name="Text 14"/>
          <p:cNvSpPr/>
          <p:nvPr/>
        </p:nvSpPr>
        <p:spPr>
          <a:xfrm>
            <a:off x="6995160" y="2240280"/>
            <a:ext cx="2834640" cy="256032"/>
          </a:xfrm>
          <a:prstGeom prst="rect">
            <a:avLst/>
          </a:prstGeom>
          <a:noFill/>
          <a:ln/>
        </p:spPr>
        <p:txBody>
          <a:bodyPr wrap="square" lIns="0" tIns="0" rIns="0" bIns="0" rtlCol="0" anchor="ctr">
            <a:normAutofit/>
          </a:bodyPr>
          <a:lstStyle/>
          <a:p>
            <a:pPr algn="l" indent="0" marL="0">
              <a:buNone/>
            </a:pPr>
            <a:r>
              <a:rPr lang="en-US" sz="1000" dirty="0">
                <a:solidFill>
                  <a:srgbClr val="667D75"/>
                </a:solidFill>
                <a:latin typeface="Aptos" pitchFamily="34" charset="0"/>
                <a:ea typeface="Aptos" pitchFamily="34" charset="-122"/>
                <a:cs typeface="Aptos" pitchFamily="34" charset="-120"/>
              </a:rPr>
              <a:t>18 units  •  4 days remaining</a:t>
            </a:r>
            <a:endParaRPr lang="en-US" sz="1000" dirty="0"/>
          </a:p>
        </p:txBody>
      </p:sp>
      <p:sp>
        <p:nvSpPr>
          <p:cNvPr id="17" name="Shape 15"/>
          <p:cNvSpPr/>
          <p:nvPr/>
        </p:nvSpPr>
        <p:spPr>
          <a:xfrm>
            <a:off x="6995160" y="2697480"/>
            <a:ext cx="1188720" cy="960120"/>
          </a:xfrm>
          <a:prstGeom prst="roundRect">
            <a:avLst>
              <a:gd name="adj" fmla="val 17143"/>
            </a:avLst>
          </a:prstGeom>
          <a:solidFill>
            <a:srgbClr val="DDF7E8"/>
          </a:solidFill>
          <a:ln w="12700">
            <a:solidFill>
              <a:srgbClr val="DDF7E8">
                <a:alpha val="0"/>
              </a:srgbClr>
            </a:solidFill>
            <a:prstDash val="solid"/>
          </a:ln>
        </p:spPr>
      </p:sp>
      <p:sp>
        <p:nvSpPr>
          <p:cNvPr id="18" name="Text 16"/>
          <p:cNvSpPr/>
          <p:nvPr/>
        </p:nvSpPr>
        <p:spPr>
          <a:xfrm>
            <a:off x="7159752" y="2825496"/>
            <a:ext cx="859536" cy="384048"/>
          </a:xfrm>
          <a:prstGeom prst="rect">
            <a:avLst/>
          </a:prstGeom>
          <a:noFill/>
          <a:ln/>
        </p:spPr>
        <p:txBody>
          <a:bodyPr wrap="square" lIns="0" tIns="0" rIns="0" bIns="0" rtlCol="0" anchor="ctr">
            <a:normAutofit/>
          </a:bodyPr>
          <a:lstStyle/>
          <a:p>
            <a:pPr algn="l" indent="0" marL="0">
              <a:buNone/>
            </a:pPr>
            <a:r>
              <a:rPr lang="en-US" sz="2300" b="1" dirty="0">
                <a:solidFill>
                  <a:srgbClr val="173D31"/>
                </a:solidFill>
                <a:latin typeface="Aptos Display" pitchFamily="34" charset="0"/>
                <a:ea typeface="Aptos Display" pitchFamily="34" charset="-122"/>
                <a:cs typeface="Aptos Display" pitchFamily="34" charset="-120"/>
              </a:rPr>
              <a:t>6</a:t>
            </a:r>
            <a:endParaRPr lang="en-US" sz="2300" dirty="0"/>
          </a:p>
        </p:txBody>
      </p:sp>
      <p:sp>
        <p:nvSpPr>
          <p:cNvPr id="19" name="Text 17"/>
          <p:cNvSpPr/>
          <p:nvPr/>
        </p:nvSpPr>
        <p:spPr>
          <a:xfrm>
            <a:off x="7159752" y="3264408"/>
            <a:ext cx="859536" cy="219456"/>
          </a:xfrm>
          <a:prstGeom prst="rect">
            <a:avLst/>
          </a:prstGeom>
          <a:noFill/>
          <a:ln/>
        </p:spPr>
        <p:txBody>
          <a:bodyPr wrap="square" lIns="0" tIns="0" rIns="0" bIns="0" rtlCol="0" anchor="ctr">
            <a:normAutofit/>
          </a:bodyPr>
          <a:lstStyle/>
          <a:p>
            <a:pPr algn="l" indent="0" marL="0">
              <a:buNone/>
            </a:pPr>
            <a:r>
              <a:rPr lang="en-US" sz="900" b="1" dirty="0">
                <a:solidFill>
                  <a:srgbClr val="173D31">
                    <a:alpha val="75000"/>
                  </a:srgbClr>
                </a:solidFill>
                <a:latin typeface="Aptos" pitchFamily="34" charset="0"/>
                <a:ea typeface="Aptos" pitchFamily="34" charset="-122"/>
                <a:cs typeface="Aptos" pitchFamily="34" charset="-120"/>
              </a:rPr>
              <a:t>CURRENT PACE</a:t>
            </a:r>
            <a:endParaRPr lang="en-US" sz="900" dirty="0"/>
          </a:p>
        </p:txBody>
      </p:sp>
      <p:sp>
        <p:nvSpPr>
          <p:cNvPr id="20" name="Shape 18"/>
          <p:cNvSpPr/>
          <p:nvPr/>
        </p:nvSpPr>
        <p:spPr>
          <a:xfrm>
            <a:off x="8302752" y="2697480"/>
            <a:ext cx="1188720" cy="960120"/>
          </a:xfrm>
          <a:prstGeom prst="roundRect">
            <a:avLst>
              <a:gd name="adj" fmla="val 17143"/>
            </a:avLst>
          </a:prstGeom>
          <a:solidFill>
            <a:srgbClr val="FFF0E7"/>
          </a:solidFill>
          <a:ln w="12700">
            <a:solidFill>
              <a:srgbClr val="FFF0E7">
                <a:alpha val="0"/>
              </a:srgbClr>
            </a:solidFill>
            <a:prstDash val="solid"/>
          </a:ln>
        </p:spPr>
      </p:sp>
      <p:sp>
        <p:nvSpPr>
          <p:cNvPr id="21" name="Text 19"/>
          <p:cNvSpPr/>
          <p:nvPr/>
        </p:nvSpPr>
        <p:spPr>
          <a:xfrm>
            <a:off x="8467344" y="2825496"/>
            <a:ext cx="859536" cy="384048"/>
          </a:xfrm>
          <a:prstGeom prst="rect">
            <a:avLst/>
          </a:prstGeom>
          <a:noFill/>
          <a:ln/>
        </p:spPr>
        <p:txBody>
          <a:bodyPr wrap="square" lIns="0" tIns="0" rIns="0" bIns="0" rtlCol="0" anchor="ctr">
            <a:normAutofit/>
          </a:bodyPr>
          <a:lstStyle/>
          <a:p>
            <a:pPr algn="l" indent="0" marL="0">
              <a:buNone/>
            </a:pPr>
            <a:r>
              <a:rPr lang="en-US" sz="2300" b="1" dirty="0">
                <a:solidFill>
                  <a:srgbClr val="F97316"/>
                </a:solidFill>
                <a:latin typeface="Aptos Display" pitchFamily="34" charset="0"/>
                <a:ea typeface="Aptos Display" pitchFamily="34" charset="-122"/>
                <a:cs typeface="Aptos Display" pitchFamily="34" charset="-120"/>
              </a:rPr>
              <a:t>12</a:t>
            </a:r>
            <a:endParaRPr lang="en-US" sz="2300" dirty="0"/>
          </a:p>
        </p:txBody>
      </p:sp>
      <p:sp>
        <p:nvSpPr>
          <p:cNvPr id="22" name="Text 20"/>
          <p:cNvSpPr/>
          <p:nvPr/>
        </p:nvSpPr>
        <p:spPr>
          <a:xfrm>
            <a:off x="8467344" y="3264408"/>
            <a:ext cx="859536" cy="219456"/>
          </a:xfrm>
          <a:prstGeom prst="rect">
            <a:avLst/>
          </a:prstGeom>
          <a:noFill/>
          <a:ln/>
        </p:spPr>
        <p:txBody>
          <a:bodyPr wrap="square" lIns="0" tIns="0" rIns="0" bIns="0" rtlCol="0" anchor="ctr">
            <a:normAutofit/>
          </a:bodyPr>
          <a:lstStyle/>
          <a:p>
            <a:pPr algn="l" indent="0" marL="0">
              <a:buNone/>
            </a:pPr>
            <a:r>
              <a:rPr lang="en-US" sz="900" b="1" dirty="0">
                <a:solidFill>
                  <a:srgbClr val="F97316">
                    <a:alpha val="75000"/>
                  </a:srgbClr>
                </a:solidFill>
                <a:latin typeface="Aptos" pitchFamily="34" charset="0"/>
                <a:ea typeface="Aptos" pitchFamily="34" charset="-122"/>
                <a:cs typeface="Aptos" pitchFamily="34" charset="-120"/>
              </a:rPr>
              <a:t>LIKELY LEFT</a:t>
            </a:r>
            <a:endParaRPr lang="en-US" sz="900" dirty="0"/>
          </a:p>
        </p:txBody>
      </p:sp>
      <p:sp>
        <p:nvSpPr>
          <p:cNvPr id="23" name="Shape 21"/>
          <p:cNvSpPr/>
          <p:nvPr/>
        </p:nvSpPr>
        <p:spPr>
          <a:xfrm>
            <a:off x="9610344" y="2697480"/>
            <a:ext cx="1417320" cy="960120"/>
          </a:xfrm>
          <a:prstGeom prst="roundRect">
            <a:avLst>
              <a:gd name="adj" fmla="val 17143"/>
            </a:avLst>
          </a:prstGeom>
          <a:solidFill>
            <a:srgbClr val="173D31"/>
          </a:solidFill>
          <a:ln w="12700">
            <a:solidFill>
              <a:srgbClr val="173D31">
                <a:alpha val="0"/>
              </a:srgbClr>
            </a:solidFill>
            <a:prstDash val="solid"/>
          </a:ln>
        </p:spPr>
      </p:sp>
      <p:sp>
        <p:nvSpPr>
          <p:cNvPr id="24" name="Text 22"/>
          <p:cNvSpPr/>
          <p:nvPr/>
        </p:nvSpPr>
        <p:spPr>
          <a:xfrm>
            <a:off x="9774936" y="2825496"/>
            <a:ext cx="1088136"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20%</a:t>
            </a:r>
            <a:endParaRPr lang="en-US" sz="2300" dirty="0"/>
          </a:p>
        </p:txBody>
      </p:sp>
      <p:sp>
        <p:nvSpPr>
          <p:cNvPr id="25" name="Text 23"/>
          <p:cNvSpPr/>
          <p:nvPr/>
        </p:nvSpPr>
        <p:spPr>
          <a:xfrm>
            <a:off x="9774936" y="3264408"/>
            <a:ext cx="1088136"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SUGGESTED</a:t>
            </a:r>
            <a:endParaRPr lang="en-US" sz="900" dirty="0"/>
          </a:p>
        </p:txBody>
      </p:sp>
      <p:sp>
        <p:nvSpPr>
          <p:cNvPr id="26" name="Shape 24"/>
          <p:cNvSpPr/>
          <p:nvPr/>
        </p:nvSpPr>
        <p:spPr>
          <a:xfrm>
            <a:off x="6995160" y="3886200"/>
            <a:ext cx="4032504" cy="777240"/>
          </a:xfrm>
          <a:prstGeom prst="roundRect">
            <a:avLst>
              <a:gd name="adj" fmla="val 16471"/>
            </a:avLst>
          </a:prstGeom>
          <a:solidFill>
            <a:srgbClr val="FFFFFF"/>
          </a:solidFill>
          <a:ln w="12700">
            <a:solidFill>
              <a:srgbClr val="D9E3DD"/>
            </a:solidFill>
            <a:prstDash val="solid"/>
          </a:ln>
        </p:spPr>
      </p:sp>
      <p:sp>
        <p:nvSpPr>
          <p:cNvPr id="27" name="Text 25"/>
          <p:cNvSpPr/>
          <p:nvPr/>
        </p:nvSpPr>
        <p:spPr>
          <a:xfrm>
            <a:off x="7205472" y="4041648"/>
            <a:ext cx="1508760" cy="182880"/>
          </a:xfrm>
          <a:prstGeom prst="rect">
            <a:avLst/>
          </a:prstGeom>
          <a:noFill/>
          <a:ln/>
        </p:spPr>
        <p:txBody>
          <a:bodyPr wrap="square" lIns="0" tIns="0" rIns="0" bIns="0" rtlCol="0" anchor="ctr">
            <a:normAutofit/>
          </a:bodyPr>
          <a:lstStyle/>
          <a:p>
            <a:pPr algn="l" indent="0" marL="0">
              <a:buNone/>
            </a:pPr>
            <a:r>
              <a:rPr lang="en-US" sz="900" dirty="0">
                <a:solidFill>
                  <a:srgbClr val="667D75"/>
                </a:solidFill>
                <a:latin typeface="Aptos" pitchFamily="34" charset="0"/>
                <a:ea typeface="Aptos" pitchFamily="34" charset="-122"/>
                <a:cs typeface="Aptos" pitchFamily="34" charset="-120"/>
              </a:rPr>
              <a:t>Recommended price</a:t>
            </a:r>
            <a:endParaRPr lang="en-US" sz="900" dirty="0"/>
          </a:p>
        </p:txBody>
      </p:sp>
      <p:sp>
        <p:nvSpPr>
          <p:cNvPr id="28" name="Text 26"/>
          <p:cNvSpPr/>
          <p:nvPr/>
        </p:nvSpPr>
        <p:spPr>
          <a:xfrm>
            <a:off x="7205472" y="4251960"/>
            <a:ext cx="1097280" cy="274320"/>
          </a:xfrm>
          <a:prstGeom prst="rect">
            <a:avLst/>
          </a:prstGeom>
          <a:noFill/>
          <a:ln/>
        </p:spPr>
        <p:txBody>
          <a:bodyPr wrap="square" lIns="0" tIns="0" rIns="0" bIns="0" rtlCol="0" anchor="ctr">
            <a:normAutofit/>
          </a:bodyPr>
          <a:lstStyle/>
          <a:p>
            <a:pPr algn="l" indent="0" marL="0">
              <a:buNone/>
            </a:pPr>
            <a:r>
              <a:rPr lang="en-US" sz="2200" b="1" dirty="0">
                <a:solidFill>
                  <a:srgbClr val="173D31"/>
                </a:solidFill>
                <a:latin typeface="Aptos Display" pitchFamily="34" charset="0"/>
                <a:ea typeface="Aptos Display" pitchFamily="34" charset="-122"/>
                <a:cs typeface="Aptos Display" pitchFamily="34" charset="-120"/>
              </a:rPr>
              <a:t>₹67</a:t>
            </a:r>
            <a:endParaRPr lang="en-US" sz="2200" dirty="0"/>
          </a:p>
        </p:txBody>
      </p:sp>
      <p:sp>
        <p:nvSpPr>
          <p:cNvPr id="29" name="Text 27"/>
          <p:cNvSpPr/>
          <p:nvPr/>
        </p:nvSpPr>
        <p:spPr>
          <a:xfrm>
            <a:off x="8247888" y="4297680"/>
            <a:ext cx="658368" cy="182880"/>
          </a:xfrm>
          <a:prstGeom prst="rect">
            <a:avLst/>
          </a:prstGeom>
          <a:noFill/>
          <a:ln/>
        </p:spPr>
        <p:txBody>
          <a:bodyPr wrap="square" lIns="0" tIns="0" rIns="0" bIns="0" rtlCol="0" anchor="ctr">
            <a:normAutofit/>
          </a:bodyPr>
          <a:lstStyle/>
          <a:p>
            <a:pPr algn="l" indent="0" marL="0">
              <a:buNone/>
            </a:pPr>
            <a:r>
              <a:rPr lang="en-US" sz="1000" strike="sngStrike" dirty="0">
                <a:solidFill>
                  <a:srgbClr val="98A8A2"/>
                </a:solidFill>
                <a:latin typeface="Aptos" pitchFamily="34" charset="0"/>
                <a:ea typeface="Aptos" pitchFamily="34" charset="-122"/>
                <a:cs typeface="Aptos" pitchFamily="34" charset="-120"/>
              </a:rPr>
              <a:t>₹84</a:t>
            </a:r>
            <a:endParaRPr lang="en-US" sz="1000" dirty="0"/>
          </a:p>
        </p:txBody>
      </p:sp>
      <p:sp>
        <p:nvSpPr>
          <p:cNvPr id="30" name="Shape 28"/>
          <p:cNvSpPr/>
          <p:nvPr/>
        </p:nvSpPr>
        <p:spPr>
          <a:xfrm>
            <a:off x="6995160" y="4828032"/>
            <a:ext cx="4032504" cy="438912"/>
          </a:xfrm>
          <a:prstGeom prst="roundRect">
            <a:avLst>
              <a:gd name="adj" fmla="val 29167"/>
            </a:avLst>
          </a:prstGeom>
          <a:solidFill>
            <a:srgbClr val="10B981"/>
          </a:solidFill>
          <a:ln w="12700">
            <a:solidFill>
              <a:srgbClr val="10B981">
                <a:alpha val="0"/>
              </a:srgbClr>
            </a:solidFill>
            <a:prstDash val="solid"/>
          </a:ln>
        </p:spPr>
      </p:sp>
      <p:sp>
        <p:nvSpPr>
          <p:cNvPr id="31" name="Text 29"/>
          <p:cNvSpPr/>
          <p:nvPr/>
        </p:nvSpPr>
        <p:spPr>
          <a:xfrm>
            <a:off x="7196328" y="4828032"/>
            <a:ext cx="3611880" cy="438912"/>
          </a:xfrm>
          <a:prstGeom prst="rect">
            <a:avLst/>
          </a:prstGeom>
          <a:noFill/>
          <a:ln/>
        </p:spPr>
        <p:txBody>
          <a:bodyPr wrap="square" lIns="0" tIns="0" rIns="0" bIns="0" rtlCol="0" anchor="ctr">
            <a:normAutofit/>
          </a:bodyPr>
          <a:lstStyle/>
          <a:p>
            <a:pPr algn="ctr" indent="0" marL="0">
              <a:buNone/>
            </a:pPr>
            <a:r>
              <a:rPr lang="en-US" sz="1000" b="1" spc="80" kern="0" dirty="0">
                <a:solidFill>
                  <a:srgbClr val="FFFFFF"/>
                </a:solidFill>
                <a:latin typeface="Aptos" pitchFamily="34" charset="0"/>
                <a:ea typeface="Aptos" pitchFamily="34" charset="-122"/>
                <a:cs typeface="Aptos" pitchFamily="34" charset="-120"/>
              </a:rPr>
              <a:t>OWNER APPROVAL REQUIRED</a:t>
            </a:r>
            <a:endParaRPr lang="en-US" sz="1000" dirty="0"/>
          </a:p>
        </p:txBody>
      </p:sp>
      <p:sp>
        <p:nvSpPr>
          <p:cNvPr id="32" name="Text 30"/>
          <p:cNvSpPr/>
          <p:nvPr/>
        </p:nvSpPr>
        <p:spPr>
          <a:xfrm>
            <a:off x="658368" y="5715000"/>
            <a:ext cx="1417320" cy="274320"/>
          </a:xfrm>
          <a:prstGeom prst="rect">
            <a:avLst/>
          </a:prstGeom>
          <a:noFill/>
          <a:ln/>
        </p:spPr>
        <p:txBody>
          <a:bodyPr wrap="square" lIns="0" tIns="0" rIns="0" bIns="0" rtlCol="0" anchor="ctr">
            <a:normAutofit/>
          </a:bodyPr>
          <a:lstStyle/>
          <a:p>
            <a:pPr algn="l" indent="0" marL="0">
              <a:buNone/>
            </a:pPr>
            <a:r>
              <a:rPr lang="en-US" sz="1000" b="1" u="sng" dirty="0">
                <a:solidFill>
                  <a:srgbClr val="BEF264"/>
                </a:solidFill>
                <a:uFill>
                  <a:solidFill>
                    <a:srgbClr val="BEF264"/>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LIVE DEMO  →</a:t>
            </a:r>
            <a:endParaRPr lang="en-US" sz="1000" dirty="0"/>
          </a:p>
        </p:txBody>
      </p:sp>
      <p:sp>
        <p:nvSpPr>
          <p:cNvPr id="33" name="Text 31"/>
          <p:cNvSpPr/>
          <p:nvPr/>
        </p:nvSpPr>
        <p:spPr>
          <a:xfrm>
            <a:off x="2331720" y="5715000"/>
            <a:ext cx="1234440" cy="274320"/>
          </a:xfrm>
          <a:prstGeom prst="rect">
            <a:avLst/>
          </a:prstGeom>
          <a:noFill/>
          <a:ln/>
        </p:spPr>
        <p:txBody>
          <a:bodyPr wrap="square" lIns="0" tIns="0" rIns="0" bIns="0" rtlCol="0" anchor="ctr">
            <a:normAutofit/>
          </a:bodyPr>
          <a:lstStyle/>
          <a:p>
            <a:pPr algn="l" indent="0" marL="0">
              <a:buNone/>
            </a:pPr>
            <a:r>
              <a:rPr lang="en-US" sz="1000" b="1" u="sng" dirty="0">
                <a:solidFill>
                  <a:srgbClr val="BEF264"/>
                </a:solidFill>
                <a:uFill>
                  <a:solidFill>
                    <a:srgbClr val="BEF264"/>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SOURCE  →</a:t>
            </a:r>
            <a:endParaRPr lang="en-US" sz="1000" dirty="0"/>
          </a:p>
        </p:txBody>
      </p:sp>
      <p:sp>
        <p:nvSpPr>
          <p:cNvPr id="34" name="Shape 32"/>
          <p:cNvSpPr/>
          <p:nvPr/>
        </p:nvSpPr>
        <p:spPr>
          <a:xfrm>
            <a:off x="502920" y="6419088"/>
            <a:ext cx="10744200" cy="0"/>
          </a:xfrm>
          <a:prstGeom prst="line">
            <a:avLst/>
          </a:prstGeom>
          <a:noFill/>
          <a:ln w="10160">
            <a:solidFill>
              <a:srgbClr val="406459"/>
            </a:solidFill>
            <a:prstDash val="solid"/>
          </a:ln>
        </p:spPr>
      </p:sp>
      <p:sp>
        <p:nvSpPr>
          <p:cNvPr id="35" name="Text 33"/>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36" name="Text 34"/>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The global waste problem appears as a local pricing decision</a:t>
            </a:r>
            <a:endParaRPr lang="en-US" sz="750" dirty="0"/>
          </a:p>
        </p:txBody>
      </p:sp>
      <p:pic>
        <p:nvPicPr>
          <p:cNvPr id="38" name="Image 0" descr="preencoded.png">
            <a:hlinkClick r:id="rId4" tooltip=""/>
          </p:cNvPr>
          <p:cNvPicPr>
            <a:picLocks noChangeAspect="1"/>
          </p:cNvPicPr>
          <p:nvPr/>
        </p:nvPicPr>
        <p:blipFill>
          <a:blip r:embed="rId3"/>
          <a:stretch>
            <a:fillRect/>
          </a:stretch>
        </p:blipFill>
        <p:spPr>
          <a:xfrm>
            <a:off x="10716768" y="5577840"/>
            <a:ext cx="658368" cy="658368"/>
          </a:xfrm>
          <a:prstGeom prst="rect">
            <a:avLst/>
          </a:prstGeom>
        </p:spPr>
      </p:pic>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PROBLEM STATEMENT</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The waste is global. The decision is local.</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Every number below is sourced; not all global food waste is caused by expiry dates.</a:t>
            </a:r>
            <a:endParaRPr lang="en-US" sz="1250" dirty="0"/>
          </a:p>
        </p:txBody>
      </p:sp>
      <p:sp>
        <p:nvSpPr>
          <p:cNvPr id="5" name="Shape 3"/>
          <p:cNvSpPr/>
          <p:nvPr/>
        </p:nvSpPr>
        <p:spPr>
          <a:xfrm>
            <a:off x="621792" y="1975104"/>
            <a:ext cx="2971800" cy="1627632"/>
          </a:xfrm>
          <a:prstGeom prst="roundRect">
            <a:avLst>
              <a:gd name="adj" fmla="val 12921"/>
            </a:avLst>
          </a:prstGeom>
          <a:solidFill>
            <a:srgbClr val="173D31"/>
          </a:solidFill>
          <a:ln w="12700">
            <a:solidFill>
              <a:srgbClr val="173D31">
                <a:alpha val="0"/>
              </a:srgbClr>
            </a:solidFill>
            <a:prstDash val="solid"/>
          </a:ln>
          <a:effectLst>
            <a:outerShdw sx="100000" sy="100000" kx="0" ky="0" algn="bl" rotWithShape="0" blurRad="322580000" dist="645160000" dir="162000000000">
              <a:srgbClr val="0A241C">
                <a:alpha val="1300000000"/>
              </a:srgbClr>
            </a:outerShdw>
          </a:effectLst>
        </p:spPr>
      </p:sp>
      <p:sp>
        <p:nvSpPr>
          <p:cNvPr id="6" name="Text 4"/>
          <p:cNvSpPr/>
          <p:nvPr/>
        </p:nvSpPr>
        <p:spPr>
          <a:xfrm>
            <a:off x="841248"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BEF264"/>
                </a:solidFill>
                <a:latin typeface="Aptos Display" pitchFamily="34" charset="0"/>
                <a:ea typeface="Aptos Display" pitchFamily="34" charset="-122"/>
                <a:cs typeface="Aptos Display" pitchFamily="34" charset="-120"/>
              </a:rPr>
              <a:t>1.05B</a:t>
            </a:r>
            <a:endParaRPr lang="en-US" sz="3100" dirty="0"/>
          </a:p>
        </p:txBody>
      </p:sp>
      <p:sp>
        <p:nvSpPr>
          <p:cNvPr id="7" name="Text 5"/>
          <p:cNvSpPr/>
          <p:nvPr/>
        </p:nvSpPr>
        <p:spPr>
          <a:xfrm>
            <a:off x="2359152"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FFFFFF"/>
                </a:solidFill>
                <a:latin typeface="Aptos" pitchFamily="34" charset="0"/>
                <a:ea typeface="Aptos" pitchFamily="34" charset="-122"/>
                <a:cs typeface="Aptos" pitchFamily="34" charset="-120"/>
              </a:rPr>
              <a:t>tonnes</a:t>
            </a:r>
            <a:endParaRPr lang="en-US" sz="1000" dirty="0"/>
          </a:p>
        </p:txBody>
      </p:sp>
      <p:sp>
        <p:nvSpPr>
          <p:cNvPr id="8" name="Text 6"/>
          <p:cNvSpPr/>
          <p:nvPr/>
        </p:nvSpPr>
        <p:spPr>
          <a:xfrm>
            <a:off x="841248"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CAD9D3"/>
                </a:solidFill>
                <a:latin typeface="Aptos" pitchFamily="34" charset="0"/>
                <a:ea typeface="Aptos" pitchFamily="34" charset="-122"/>
                <a:cs typeface="Aptos" pitchFamily="34" charset="-120"/>
              </a:rPr>
              <a:t>food waste generated at retail, food service and household level in 2022</a:t>
            </a:r>
            <a:endParaRPr lang="en-US" sz="1050" dirty="0"/>
          </a:p>
        </p:txBody>
      </p:sp>
      <p:sp>
        <p:nvSpPr>
          <p:cNvPr id="9" name="Shape 7"/>
          <p:cNvSpPr/>
          <p:nvPr/>
        </p:nvSpPr>
        <p:spPr>
          <a:xfrm>
            <a:off x="3986784" y="1975104"/>
            <a:ext cx="2971800" cy="1627632"/>
          </a:xfrm>
          <a:prstGeom prst="roundRect">
            <a:avLst>
              <a:gd name="adj" fmla="val 12921"/>
            </a:avLst>
          </a:prstGeom>
          <a:solidFill>
            <a:srgbClr val="F2ECFF"/>
          </a:solidFill>
          <a:ln w="12700">
            <a:solidFill>
              <a:srgbClr val="D9E3DD"/>
            </a:solidFill>
            <a:prstDash val="solid"/>
          </a:ln>
          <a:effectLst>
            <a:outerShdw sx="100000" sy="100000" kx="0" ky="0" algn="bl" rotWithShape="0" blurRad="4096766000000" dist="8193532000000" dir="9720000000000000">
              <a:srgbClr val="0A241C">
                <a:alpha val="130000000000000"/>
              </a:srgbClr>
            </a:outerShdw>
          </a:effectLst>
        </p:spPr>
      </p:sp>
      <p:sp>
        <p:nvSpPr>
          <p:cNvPr id="10" name="Text 8"/>
          <p:cNvSpPr/>
          <p:nvPr/>
        </p:nvSpPr>
        <p:spPr>
          <a:xfrm>
            <a:off x="4206240"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7C3AED"/>
                </a:solidFill>
                <a:latin typeface="Aptos Display" pitchFamily="34" charset="0"/>
                <a:ea typeface="Aptos Display" pitchFamily="34" charset="-122"/>
                <a:cs typeface="Aptos Display" pitchFamily="34" charset="-120"/>
              </a:rPr>
              <a:t>~$1T</a:t>
            </a:r>
            <a:endParaRPr lang="en-US" sz="3100" dirty="0"/>
          </a:p>
        </p:txBody>
      </p:sp>
      <p:sp>
        <p:nvSpPr>
          <p:cNvPr id="11" name="Text 9"/>
          <p:cNvSpPr/>
          <p:nvPr/>
        </p:nvSpPr>
        <p:spPr>
          <a:xfrm>
            <a:off x="5724144"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7C3AED"/>
                </a:solidFill>
                <a:latin typeface="Aptos" pitchFamily="34" charset="0"/>
                <a:ea typeface="Aptos" pitchFamily="34" charset="-122"/>
                <a:cs typeface="Aptos" pitchFamily="34" charset="-120"/>
              </a:rPr>
              <a:t>each year</a:t>
            </a:r>
            <a:endParaRPr lang="en-US" sz="1000" dirty="0"/>
          </a:p>
        </p:txBody>
      </p:sp>
      <p:sp>
        <p:nvSpPr>
          <p:cNvPr id="12" name="Text 10"/>
          <p:cNvSpPr/>
          <p:nvPr/>
        </p:nvSpPr>
        <p:spPr>
          <a:xfrm>
            <a:off x="4206240"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estimated global economic toll of food loss and waste</a:t>
            </a:r>
            <a:endParaRPr lang="en-US" sz="1050" dirty="0"/>
          </a:p>
        </p:txBody>
      </p:sp>
      <p:sp>
        <p:nvSpPr>
          <p:cNvPr id="13" name="Shape 11"/>
          <p:cNvSpPr/>
          <p:nvPr/>
        </p:nvSpPr>
        <p:spPr>
          <a:xfrm>
            <a:off x="7351776" y="1975104"/>
            <a:ext cx="2971800" cy="1627632"/>
          </a:xfrm>
          <a:prstGeom prst="roundRect">
            <a:avLst>
              <a:gd name="adj" fmla="val 12921"/>
            </a:avLst>
          </a:prstGeom>
          <a:solidFill>
            <a:srgbClr val="FFF0E7"/>
          </a:solidFill>
          <a:ln w="12700">
            <a:solidFill>
              <a:srgbClr val="D9E3DD"/>
            </a:solidFill>
            <a:prstDash val="solid"/>
          </a:ln>
          <a:effectLst>
            <a:outerShdw sx="100000" sy="100000" kx="0" ky="0" algn="bl" rotWithShape="0" blurRad="52028928200000000" dist="104057856400000000" dir="583200000000000000000">
              <a:srgbClr val="0A241C">
                <a:alpha val="13000000000000000000"/>
              </a:srgbClr>
            </a:outerShdw>
          </a:effectLst>
        </p:spPr>
      </p:sp>
      <p:sp>
        <p:nvSpPr>
          <p:cNvPr id="14" name="Text 12"/>
          <p:cNvSpPr/>
          <p:nvPr/>
        </p:nvSpPr>
        <p:spPr>
          <a:xfrm>
            <a:off x="7571232"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F97316"/>
                </a:solidFill>
                <a:latin typeface="Aptos Display" pitchFamily="34" charset="0"/>
                <a:ea typeface="Aptos Display" pitchFamily="34" charset="-122"/>
                <a:cs typeface="Aptos Display" pitchFamily="34" charset="-120"/>
              </a:rPr>
              <a:t>8–10%</a:t>
            </a:r>
            <a:endParaRPr lang="en-US" sz="3100" dirty="0"/>
          </a:p>
        </p:txBody>
      </p:sp>
      <p:sp>
        <p:nvSpPr>
          <p:cNvPr id="15" name="Text 13"/>
          <p:cNvSpPr/>
          <p:nvPr/>
        </p:nvSpPr>
        <p:spPr>
          <a:xfrm>
            <a:off x="9089136"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F97316"/>
                </a:solidFill>
                <a:latin typeface="Aptos" pitchFamily="34" charset="0"/>
                <a:ea typeface="Aptos" pitchFamily="34" charset="-122"/>
                <a:cs typeface="Aptos" pitchFamily="34" charset="-120"/>
              </a:rPr>
              <a:t>of GHGs</a:t>
            </a:r>
            <a:endParaRPr lang="en-US" sz="1000" dirty="0"/>
          </a:p>
        </p:txBody>
      </p:sp>
      <p:sp>
        <p:nvSpPr>
          <p:cNvPr id="16" name="Text 14"/>
          <p:cNvSpPr/>
          <p:nvPr/>
        </p:nvSpPr>
        <p:spPr>
          <a:xfrm>
            <a:off x="7571232"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annual global emissions attributed to food loss and waste</a:t>
            </a:r>
            <a:endParaRPr lang="en-US" sz="1050" dirty="0"/>
          </a:p>
        </p:txBody>
      </p:sp>
      <p:sp>
        <p:nvSpPr>
          <p:cNvPr id="17" name="Shape 15"/>
          <p:cNvSpPr/>
          <p:nvPr/>
        </p:nvSpPr>
        <p:spPr>
          <a:xfrm>
            <a:off x="621792" y="3858768"/>
            <a:ext cx="5349240" cy="1444752"/>
          </a:xfrm>
          <a:prstGeom prst="roundRect">
            <a:avLst>
              <a:gd name="adj" fmla="val 14557"/>
            </a:avLst>
          </a:prstGeom>
          <a:solidFill>
            <a:srgbClr val="173D31"/>
          </a:solidFill>
          <a:ln w="12700">
            <a:solidFill>
              <a:srgbClr val="173D31">
                <a:alpha val="0"/>
              </a:srgbClr>
            </a:solidFill>
            <a:prstDash val="solid"/>
          </a:ln>
        </p:spPr>
      </p:sp>
      <p:sp>
        <p:nvSpPr>
          <p:cNvPr id="18" name="Text 16"/>
          <p:cNvSpPr/>
          <p:nvPr/>
        </p:nvSpPr>
        <p:spPr>
          <a:xfrm>
            <a:off x="914400" y="4114800"/>
            <a:ext cx="1207008" cy="502920"/>
          </a:xfrm>
          <a:prstGeom prst="rect">
            <a:avLst/>
          </a:prstGeom>
          <a:noFill/>
          <a:ln/>
        </p:spPr>
        <p:txBody>
          <a:bodyPr wrap="square" lIns="0" tIns="0" rIns="0" bIns="0" rtlCol="0" anchor="ctr">
            <a:normAutofit/>
          </a:bodyPr>
          <a:lstStyle/>
          <a:p>
            <a:pPr algn="l" indent="0" marL="0">
              <a:buNone/>
            </a:pPr>
            <a:r>
              <a:rPr lang="en-US" sz="3100" b="1" dirty="0">
                <a:solidFill>
                  <a:srgbClr val="BEF264"/>
                </a:solidFill>
                <a:latin typeface="Aptos Display" pitchFamily="34" charset="0"/>
                <a:ea typeface="Aptos Display" pitchFamily="34" charset="-122"/>
                <a:cs typeface="Aptos Display" pitchFamily="34" charset="-120"/>
              </a:rPr>
              <a:t>12%</a:t>
            </a:r>
            <a:endParaRPr lang="en-US" sz="3100" dirty="0"/>
          </a:p>
        </p:txBody>
      </p:sp>
      <p:sp>
        <p:nvSpPr>
          <p:cNvPr id="19" name="Text 17"/>
          <p:cNvSpPr/>
          <p:nvPr/>
        </p:nvSpPr>
        <p:spPr>
          <a:xfrm>
            <a:off x="2057400" y="4142232"/>
            <a:ext cx="3401568" cy="292608"/>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ptos" pitchFamily="34" charset="0"/>
                <a:ea typeface="Aptos" pitchFamily="34" charset="-122"/>
                <a:cs typeface="Aptos" pitchFamily="34" charset="-120"/>
              </a:rPr>
              <a:t>of 2022 food waste occurred at retail.</a:t>
            </a:r>
            <a:endParaRPr lang="en-US" sz="1400" dirty="0"/>
          </a:p>
        </p:txBody>
      </p:sp>
      <p:sp>
        <p:nvSpPr>
          <p:cNvPr id="20" name="Shape 18"/>
          <p:cNvSpPr/>
          <p:nvPr/>
        </p:nvSpPr>
        <p:spPr>
          <a:xfrm>
            <a:off x="914400" y="4718304"/>
            <a:ext cx="868680" cy="292608"/>
          </a:xfrm>
          <a:prstGeom prst="roundRect">
            <a:avLst>
              <a:gd name="adj" fmla="val 50000"/>
            </a:avLst>
          </a:prstGeom>
          <a:solidFill>
            <a:srgbClr val="2B5548"/>
          </a:solidFill>
          <a:ln w="12700">
            <a:solidFill>
              <a:srgbClr val="2B5548">
                <a:alpha val="0"/>
              </a:srgbClr>
            </a:solidFill>
            <a:prstDash val="solid"/>
          </a:ln>
        </p:spPr>
      </p:sp>
      <p:sp>
        <p:nvSpPr>
          <p:cNvPr id="21" name="Text 19"/>
          <p:cNvSpPr/>
          <p:nvPr/>
        </p:nvSpPr>
        <p:spPr>
          <a:xfrm>
            <a:off x="987552" y="4718304"/>
            <a:ext cx="72237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OUR WEDGE</a:t>
            </a:r>
            <a:endParaRPr lang="en-US" sz="900" dirty="0"/>
          </a:p>
        </p:txBody>
      </p:sp>
      <p:sp>
        <p:nvSpPr>
          <p:cNvPr id="22" name="Text 20"/>
          <p:cNvSpPr/>
          <p:nvPr/>
        </p:nvSpPr>
        <p:spPr>
          <a:xfrm>
            <a:off x="1965960" y="4690872"/>
            <a:ext cx="3456432" cy="310896"/>
          </a:xfrm>
          <a:prstGeom prst="rect">
            <a:avLst/>
          </a:prstGeom>
          <a:noFill/>
          <a:ln/>
        </p:spPr>
        <p:txBody>
          <a:bodyPr wrap="square" lIns="0" tIns="0" rIns="0" bIns="0" rtlCol="0" anchor="ctr">
            <a:normAutofit/>
          </a:bodyPr>
          <a:lstStyle/>
          <a:p>
            <a:pPr algn="l" indent="0" marL="0">
              <a:buNone/>
            </a:pPr>
            <a:r>
              <a:rPr lang="en-US" sz="1050" dirty="0">
                <a:solidFill>
                  <a:srgbClr val="C5D7D0"/>
                </a:solidFill>
                <a:latin typeface="Aptos" pitchFamily="34" charset="0"/>
                <a:ea typeface="Aptos" pitchFamily="34" charset="-122"/>
                <a:cs typeface="Aptos" pitchFamily="34" charset="-120"/>
              </a:rPr>
              <a:t>Independent grocers making product-level decisions every day.</a:t>
            </a:r>
            <a:endParaRPr lang="en-US" sz="1050" dirty="0"/>
          </a:p>
        </p:txBody>
      </p:sp>
      <p:sp>
        <p:nvSpPr>
          <p:cNvPr id="23" name="Shape 21"/>
          <p:cNvSpPr/>
          <p:nvPr/>
        </p:nvSpPr>
        <p:spPr>
          <a:xfrm>
            <a:off x="6199632" y="3858768"/>
            <a:ext cx="5330952" cy="1444752"/>
          </a:xfrm>
          <a:prstGeom prst="roundRect">
            <a:avLst>
              <a:gd name="adj" fmla="val 14557"/>
            </a:avLst>
          </a:prstGeom>
          <a:solidFill>
            <a:srgbClr val="FFFFFF"/>
          </a:solidFill>
          <a:ln w="12700">
            <a:solidFill>
              <a:srgbClr val="D9E3DD"/>
            </a:solidFill>
            <a:prstDash val="solid"/>
          </a:ln>
          <a:effectLst>
            <a:outerShdw sx="100000" sy="100000" kx="0" ky="0" algn="bl" rotWithShape="0" blurRad="660767388140000000000" dist="1.32153477628e+21" dir="3.4992e+25">
              <a:srgbClr val="0A241C">
                <a:alpha val="1.3e+24"/>
              </a:srgbClr>
            </a:outerShdw>
          </a:effectLst>
        </p:spPr>
      </p:sp>
      <p:sp>
        <p:nvSpPr>
          <p:cNvPr id="24" name="Text 22"/>
          <p:cNvSpPr/>
          <p:nvPr/>
        </p:nvSpPr>
        <p:spPr>
          <a:xfrm>
            <a:off x="6492240" y="4096512"/>
            <a:ext cx="1737360" cy="502920"/>
          </a:xfrm>
          <a:prstGeom prst="rect">
            <a:avLst/>
          </a:prstGeom>
          <a:noFill/>
          <a:ln/>
        </p:spPr>
        <p:txBody>
          <a:bodyPr wrap="square" lIns="0" tIns="0" rIns="0" bIns="0" rtlCol="0" anchor="ctr">
            <a:normAutofit/>
          </a:bodyPr>
          <a:lstStyle/>
          <a:p>
            <a:pPr algn="l" indent="0" marL="0">
              <a:buNone/>
            </a:pPr>
            <a:r>
              <a:rPr lang="en-US" sz="2800" b="1" dirty="0">
                <a:solidFill>
                  <a:srgbClr val="DC5B57"/>
                </a:solidFill>
                <a:latin typeface="Aptos Display" pitchFamily="34" charset="0"/>
                <a:ea typeface="Aptos Display" pitchFamily="34" charset="-122"/>
                <a:cs typeface="Aptos Display" pitchFamily="34" charset="-120"/>
              </a:rPr>
              <a:t>Up to 10%</a:t>
            </a:r>
            <a:endParaRPr lang="en-US" sz="2800" dirty="0"/>
          </a:p>
        </p:txBody>
      </p:sp>
      <p:sp>
        <p:nvSpPr>
          <p:cNvPr id="25" name="Text 23"/>
          <p:cNvSpPr/>
          <p:nvPr/>
        </p:nvSpPr>
        <p:spPr>
          <a:xfrm>
            <a:off x="8183880" y="4087368"/>
            <a:ext cx="2834640" cy="438912"/>
          </a:xfrm>
          <a:prstGeom prst="rect">
            <a:avLst/>
          </a:prstGeom>
          <a:noFill/>
          <a:ln/>
        </p:spPr>
        <p:txBody>
          <a:bodyPr wrap="square" lIns="0" tIns="0" rIns="0" bIns="0" rtlCol="0" anchor="ctr">
            <a:normAutofit/>
          </a:bodyPr>
          <a:lstStyle/>
          <a:p>
            <a:pPr algn="l" indent="0" marL="0">
              <a:buNone/>
            </a:pPr>
            <a:r>
              <a:rPr lang="en-US" sz="1350" b="1" dirty="0">
                <a:solidFill>
                  <a:srgbClr val="15352C"/>
                </a:solidFill>
                <a:latin typeface="Aptos" pitchFamily="34" charset="0"/>
                <a:ea typeface="Aptos" pitchFamily="34" charset="-122"/>
                <a:cs typeface="Aptos" pitchFamily="34" charset="-120"/>
              </a:rPr>
              <a:t>of annual EU food waste is linked to date marking.</a:t>
            </a:r>
            <a:endParaRPr lang="en-US" sz="1350" dirty="0"/>
          </a:p>
        </p:txBody>
      </p:sp>
      <p:sp>
        <p:nvSpPr>
          <p:cNvPr id="26" name="Text 24"/>
          <p:cNvSpPr/>
          <p:nvPr/>
        </p:nvSpPr>
        <p:spPr>
          <a:xfrm>
            <a:off x="6510528" y="4782312"/>
            <a:ext cx="4434840" cy="219456"/>
          </a:xfrm>
          <a:prstGeom prst="rect">
            <a:avLst/>
          </a:prstGeom>
          <a:noFill/>
          <a:ln/>
        </p:spPr>
        <p:txBody>
          <a:bodyPr wrap="square" lIns="0" tIns="0" rIns="0" bIns="0" rtlCol="0" anchor="ctr">
            <a:normAutofit/>
          </a:bodyPr>
          <a:lstStyle/>
          <a:p>
            <a:pPr algn="l" indent="0" marL="0">
              <a:buNone/>
            </a:pPr>
            <a:r>
              <a:rPr lang="en-US" sz="900" i="1" dirty="0">
                <a:solidFill>
                  <a:srgbClr val="667D75"/>
                </a:solidFill>
                <a:latin typeface="Aptos" pitchFamily="34" charset="0"/>
                <a:ea typeface="Aptos" pitchFamily="34" charset="-122"/>
                <a:cs typeface="Aptos" pitchFamily="34" charset="-120"/>
              </a:rPr>
              <a:t>European Commission estimate — not a global expiry-waste estimate.</a:t>
            </a:r>
            <a:endParaRPr lang="en-US" sz="900" dirty="0"/>
          </a:p>
        </p:txBody>
      </p:sp>
      <p:sp>
        <p:nvSpPr>
          <p:cNvPr id="27" name="Shape 25"/>
          <p:cNvSpPr/>
          <p:nvPr/>
        </p:nvSpPr>
        <p:spPr>
          <a:xfrm>
            <a:off x="1024128" y="5577840"/>
            <a:ext cx="10149840" cy="393192"/>
          </a:xfrm>
          <a:prstGeom prst="roundRect">
            <a:avLst>
              <a:gd name="adj" fmla="val 32558"/>
            </a:avLst>
          </a:prstGeom>
          <a:solidFill>
            <a:srgbClr val="BEF264"/>
          </a:solidFill>
          <a:ln w="12700">
            <a:solidFill>
              <a:srgbClr val="BEF264">
                <a:alpha val="0"/>
              </a:srgbClr>
            </a:solidFill>
            <a:prstDash val="solid"/>
          </a:ln>
        </p:spPr>
      </p:sp>
      <p:sp>
        <p:nvSpPr>
          <p:cNvPr id="28" name="Text 26"/>
          <p:cNvSpPr/>
          <p:nvPr/>
        </p:nvSpPr>
        <p:spPr>
          <a:xfrm>
            <a:off x="1261872" y="5577840"/>
            <a:ext cx="9674352" cy="393192"/>
          </a:xfrm>
          <a:prstGeom prst="rect">
            <a:avLst/>
          </a:prstGeom>
          <a:noFill/>
          <a:ln/>
        </p:spPr>
        <p:txBody>
          <a:bodyPr wrap="square" lIns="0" tIns="0" rIns="0" bIns="0" rtlCol="0" anchor="ctr">
            <a:normAutofit/>
          </a:bodyPr>
          <a:lstStyle/>
          <a:p>
            <a:pPr algn="ctr" indent="0" marL="0">
              <a:buNone/>
            </a:pPr>
            <a:r>
              <a:rPr lang="en-US" sz="1200" b="1" dirty="0">
                <a:solidFill>
                  <a:srgbClr val="173D31"/>
                </a:solidFill>
                <a:latin typeface="Aptos" pitchFamily="34" charset="0"/>
                <a:ea typeface="Aptos" pitchFamily="34" charset="-122"/>
                <a:cs typeface="Aptos" pitchFamily="34" charset="-120"/>
              </a:rPr>
              <a:t>For one grocer, this becomes a recurring question: hold, markdown, or lose the stock?</a:t>
            </a:r>
            <a:endParaRPr lang="en-US" sz="1200" dirty="0"/>
          </a:p>
        </p:txBody>
      </p:sp>
      <p:sp>
        <p:nvSpPr>
          <p:cNvPr id="29" name="Text 27"/>
          <p:cNvSpPr/>
          <p:nvPr/>
        </p:nvSpPr>
        <p:spPr>
          <a:xfrm>
            <a:off x="658368" y="6126480"/>
            <a:ext cx="5166360" cy="164592"/>
          </a:xfrm>
          <a:prstGeom prst="rect">
            <a:avLst/>
          </a:prstGeom>
          <a:noFill/>
          <a:ln/>
        </p:spPr>
        <p:txBody>
          <a:bodyPr wrap="square" lIns="0" tIns="0" rIns="0" bIns="0" rtlCol="0" anchor="ctr">
            <a:normAutofit/>
          </a:bodyPr>
          <a:lstStyle/>
          <a:p>
            <a:pPr algn="l" indent="0" marL="0">
              <a:buNone/>
            </a:pPr>
            <a:r>
              <a:rPr lang="en-US" sz="750" b="1" u="sng" dirty="0">
                <a:solidFill>
                  <a:srgbClr val="667D75"/>
                </a:solidFill>
                <a:uFill>
                  <a:solidFill>
                    <a:srgbClr val="667D75"/>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UNEP Food Waste Index Report 2024 (2022 data)</a:t>
            </a:r>
            <a:endParaRPr lang="en-US" sz="750" dirty="0"/>
          </a:p>
        </p:txBody>
      </p:sp>
      <p:sp>
        <p:nvSpPr>
          <p:cNvPr id="30" name="Text 28"/>
          <p:cNvSpPr/>
          <p:nvPr/>
        </p:nvSpPr>
        <p:spPr>
          <a:xfrm>
            <a:off x="6419088" y="6126480"/>
            <a:ext cx="4572000" cy="164592"/>
          </a:xfrm>
          <a:prstGeom prst="rect">
            <a:avLst/>
          </a:prstGeom>
          <a:noFill/>
          <a:ln/>
        </p:spPr>
        <p:txBody>
          <a:bodyPr wrap="square" lIns="0" tIns="0" rIns="0" bIns="0" rtlCol="0" anchor="ctr">
            <a:normAutofit/>
          </a:bodyPr>
          <a:lstStyle/>
          <a:p>
            <a:pPr algn="r" indent="0" marL="0">
              <a:buNone/>
            </a:pPr>
            <a:r>
              <a:rPr lang="en-US" sz="750" b="1" u="sng" dirty="0">
                <a:solidFill>
                  <a:srgbClr val="667D75"/>
                </a:solidFill>
                <a:uFill>
                  <a:solidFill>
                    <a:srgbClr val="667D75"/>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Source: European Commission date-marking study (2018)</a:t>
            </a:r>
            <a:endParaRPr lang="en-US" sz="750" dirty="0"/>
          </a:p>
        </p:txBody>
      </p:sp>
      <p:sp>
        <p:nvSpPr>
          <p:cNvPr id="31" name="Shape 29"/>
          <p:cNvSpPr/>
          <p:nvPr/>
        </p:nvSpPr>
        <p:spPr>
          <a:xfrm>
            <a:off x="502920" y="6419088"/>
            <a:ext cx="10744200" cy="0"/>
          </a:xfrm>
          <a:prstGeom prst="line">
            <a:avLst/>
          </a:prstGeom>
          <a:noFill/>
          <a:ln w="10160">
            <a:solidFill>
              <a:srgbClr val="D9E3DD"/>
            </a:solidFill>
            <a:prstDash val="solid"/>
          </a:ln>
        </p:spPr>
      </p:sp>
      <p:sp>
        <p:nvSpPr>
          <p:cNvPr id="32" name="Text 30"/>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33" name="Text 31"/>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Problem statement · sourced global scale and local wedge</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THE PRODUCT LOOP</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One decision loop. Two users. One outcome.</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FreshSaver does not stop at a forecast — it carries the decision to a shopper and records what happened.</a:t>
            </a:r>
            <a:endParaRPr lang="en-US" sz="1250" dirty="0"/>
          </a:p>
        </p:txBody>
      </p:sp>
      <p:sp>
        <p:nvSpPr>
          <p:cNvPr id="5" name="Shape 3"/>
          <p:cNvSpPr/>
          <p:nvPr/>
        </p:nvSpPr>
        <p:spPr>
          <a:xfrm>
            <a:off x="566928" y="2359152"/>
            <a:ext cx="1627632" cy="2194560"/>
          </a:xfrm>
          <a:prstGeom prst="roundRect">
            <a:avLst>
              <a:gd name="adj" fmla="val 12921"/>
            </a:avLst>
          </a:prstGeom>
          <a:solidFill>
            <a:srgbClr val="DDF7E8"/>
          </a:solidFill>
          <a:ln w="12700">
            <a:solidFill>
              <a:srgbClr val="DDF7E8">
                <a:alpha val="0"/>
              </a:srgbClr>
            </a:solidFill>
            <a:prstDash val="solid"/>
          </a:ln>
        </p:spPr>
      </p:sp>
      <p:sp>
        <p:nvSpPr>
          <p:cNvPr id="6" name="Text 4"/>
          <p:cNvSpPr/>
          <p:nvPr/>
        </p:nvSpPr>
        <p:spPr>
          <a:xfrm>
            <a:off x="71323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73D31"/>
                </a:solidFill>
                <a:latin typeface="Aptos" pitchFamily="34" charset="0"/>
                <a:ea typeface="Aptos" pitchFamily="34" charset="-122"/>
                <a:cs typeface="Aptos" pitchFamily="34" charset="-120"/>
              </a:rPr>
              <a:t>01</a:t>
            </a:r>
            <a:endParaRPr lang="en-US" sz="900" dirty="0"/>
          </a:p>
        </p:txBody>
      </p:sp>
      <p:sp>
        <p:nvSpPr>
          <p:cNvPr id="7" name="Shape 5"/>
          <p:cNvSpPr/>
          <p:nvPr/>
        </p:nvSpPr>
        <p:spPr>
          <a:xfrm>
            <a:off x="713232" y="2907792"/>
            <a:ext cx="475488" cy="475488"/>
          </a:xfrm>
          <a:prstGeom prst="ellipse">
            <a:avLst/>
          </a:prstGeom>
          <a:solidFill>
            <a:srgbClr val="173D31"/>
          </a:solidFill>
          <a:ln w="12700">
            <a:solidFill>
              <a:srgbClr val="173D31"/>
            </a:solidFill>
            <a:prstDash val="solid"/>
          </a:ln>
        </p:spPr>
      </p:sp>
      <p:sp>
        <p:nvSpPr>
          <p:cNvPr id="8" name="Text 6"/>
          <p:cNvSpPr/>
          <p:nvPr/>
        </p:nvSpPr>
        <p:spPr>
          <a:xfrm>
            <a:off x="71323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DDF7E8"/>
                </a:solidFill>
                <a:latin typeface="Aptos" pitchFamily="34" charset="0"/>
                <a:ea typeface="Aptos" pitchFamily="34" charset="-122"/>
                <a:cs typeface="Aptos" pitchFamily="34" charset="-120"/>
              </a:rPr>
              <a:t>I</a:t>
            </a:r>
            <a:endParaRPr lang="en-US" sz="1500" dirty="0"/>
          </a:p>
        </p:txBody>
      </p:sp>
      <p:sp>
        <p:nvSpPr>
          <p:cNvPr id="9" name="Text 7"/>
          <p:cNvSpPr/>
          <p:nvPr/>
        </p:nvSpPr>
        <p:spPr>
          <a:xfrm>
            <a:off x="71323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73D31"/>
                </a:solidFill>
                <a:latin typeface="Aptos" pitchFamily="34" charset="0"/>
                <a:ea typeface="Aptos" pitchFamily="34" charset="-122"/>
                <a:cs typeface="Aptos" pitchFamily="34" charset="-120"/>
              </a:rPr>
              <a:t>IMPORT</a:t>
            </a:r>
            <a:endParaRPr lang="en-US" sz="1100" dirty="0"/>
          </a:p>
        </p:txBody>
      </p:sp>
      <p:sp>
        <p:nvSpPr>
          <p:cNvPr id="10" name="Text 8"/>
          <p:cNvSpPr/>
          <p:nvPr/>
        </p:nvSpPr>
        <p:spPr>
          <a:xfrm>
            <a:off x="71323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73D31"/>
                </a:solidFill>
                <a:latin typeface="Aptos" pitchFamily="34" charset="0"/>
                <a:ea typeface="Aptos" pitchFamily="34" charset="-122"/>
                <a:cs typeface="Aptos" pitchFamily="34" charset="-120"/>
              </a:rPr>
              <a:t>CSV inventory</a:t>
            </a:r>
            <a:endParaRPr lang="en-US" sz="1050" dirty="0"/>
          </a:p>
        </p:txBody>
      </p:sp>
      <p:sp>
        <p:nvSpPr>
          <p:cNvPr id="11" name="Shape 9"/>
          <p:cNvSpPr/>
          <p:nvPr/>
        </p:nvSpPr>
        <p:spPr>
          <a:xfrm>
            <a:off x="2249424" y="3246120"/>
            <a:ext cx="310896" cy="310896"/>
          </a:xfrm>
          <a:prstGeom prst="chevron">
            <a:avLst/>
          </a:prstGeom>
          <a:solidFill>
            <a:srgbClr val="BEF264"/>
          </a:solidFill>
          <a:ln w="12700">
            <a:solidFill>
              <a:srgbClr val="BEF264"/>
            </a:solidFill>
            <a:prstDash val="solid"/>
          </a:ln>
        </p:spPr>
      </p:sp>
      <p:sp>
        <p:nvSpPr>
          <p:cNvPr id="12" name="Shape 10"/>
          <p:cNvSpPr/>
          <p:nvPr/>
        </p:nvSpPr>
        <p:spPr>
          <a:xfrm>
            <a:off x="2487168" y="2359152"/>
            <a:ext cx="1627632" cy="2194560"/>
          </a:xfrm>
          <a:prstGeom prst="roundRect">
            <a:avLst>
              <a:gd name="adj" fmla="val 12921"/>
            </a:avLst>
          </a:prstGeom>
          <a:solidFill>
            <a:srgbClr val="F2ECFF"/>
          </a:solidFill>
          <a:ln w="12700">
            <a:solidFill>
              <a:srgbClr val="F2ECFF">
                <a:alpha val="0"/>
              </a:srgbClr>
            </a:solidFill>
            <a:prstDash val="solid"/>
          </a:ln>
        </p:spPr>
      </p:sp>
      <p:sp>
        <p:nvSpPr>
          <p:cNvPr id="13" name="Text 11"/>
          <p:cNvSpPr/>
          <p:nvPr/>
        </p:nvSpPr>
        <p:spPr>
          <a:xfrm>
            <a:off x="263347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7C3AED"/>
                </a:solidFill>
                <a:latin typeface="Aptos" pitchFamily="34" charset="0"/>
                <a:ea typeface="Aptos" pitchFamily="34" charset="-122"/>
                <a:cs typeface="Aptos" pitchFamily="34" charset="-120"/>
              </a:rPr>
              <a:t>02</a:t>
            </a:r>
            <a:endParaRPr lang="en-US" sz="900" dirty="0"/>
          </a:p>
        </p:txBody>
      </p:sp>
      <p:sp>
        <p:nvSpPr>
          <p:cNvPr id="14" name="Shape 12"/>
          <p:cNvSpPr/>
          <p:nvPr/>
        </p:nvSpPr>
        <p:spPr>
          <a:xfrm>
            <a:off x="2633472" y="2907792"/>
            <a:ext cx="475488" cy="475488"/>
          </a:xfrm>
          <a:prstGeom prst="ellipse">
            <a:avLst/>
          </a:prstGeom>
          <a:solidFill>
            <a:srgbClr val="7C3AED"/>
          </a:solidFill>
          <a:ln w="12700">
            <a:solidFill>
              <a:srgbClr val="7C3AED"/>
            </a:solidFill>
            <a:prstDash val="solid"/>
          </a:ln>
        </p:spPr>
      </p:sp>
      <p:sp>
        <p:nvSpPr>
          <p:cNvPr id="15" name="Text 13"/>
          <p:cNvSpPr/>
          <p:nvPr/>
        </p:nvSpPr>
        <p:spPr>
          <a:xfrm>
            <a:off x="263347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F2ECFF"/>
                </a:solidFill>
                <a:latin typeface="Aptos" pitchFamily="34" charset="0"/>
                <a:ea typeface="Aptos" pitchFamily="34" charset="-122"/>
                <a:cs typeface="Aptos" pitchFamily="34" charset="-120"/>
              </a:rPr>
              <a:t>P</a:t>
            </a:r>
            <a:endParaRPr lang="en-US" sz="1500" dirty="0"/>
          </a:p>
        </p:txBody>
      </p:sp>
      <p:sp>
        <p:nvSpPr>
          <p:cNvPr id="16" name="Text 14"/>
          <p:cNvSpPr/>
          <p:nvPr/>
        </p:nvSpPr>
        <p:spPr>
          <a:xfrm>
            <a:off x="263347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7C3AED"/>
                </a:solidFill>
                <a:latin typeface="Aptos" pitchFamily="34" charset="0"/>
                <a:ea typeface="Aptos" pitchFamily="34" charset="-122"/>
                <a:cs typeface="Aptos" pitchFamily="34" charset="-120"/>
              </a:rPr>
              <a:t>PREDICT</a:t>
            </a:r>
            <a:endParaRPr lang="en-US" sz="1100" dirty="0"/>
          </a:p>
        </p:txBody>
      </p:sp>
      <p:sp>
        <p:nvSpPr>
          <p:cNvPr id="17" name="Text 15"/>
          <p:cNvSpPr/>
          <p:nvPr/>
        </p:nvSpPr>
        <p:spPr>
          <a:xfrm>
            <a:off x="263347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7C3AED"/>
                </a:solidFill>
                <a:latin typeface="Aptos" pitchFamily="34" charset="0"/>
                <a:ea typeface="Aptos" pitchFamily="34" charset="-122"/>
                <a:cs typeface="Aptos" pitchFamily="34" charset="-120"/>
              </a:rPr>
              <a:t>Sell-through by price</a:t>
            </a:r>
            <a:endParaRPr lang="en-US" sz="1050" dirty="0"/>
          </a:p>
        </p:txBody>
      </p:sp>
      <p:sp>
        <p:nvSpPr>
          <p:cNvPr id="18" name="Shape 16"/>
          <p:cNvSpPr/>
          <p:nvPr/>
        </p:nvSpPr>
        <p:spPr>
          <a:xfrm>
            <a:off x="4169664" y="3246120"/>
            <a:ext cx="310896" cy="310896"/>
          </a:xfrm>
          <a:prstGeom prst="chevron">
            <a:avLst/>
          </a:prstGeom>
          <a:solidFill>
            <a:srgbClr val="BEF264"/>
          </a:solidFill>
          <a:ln w="12700">
            <a:solidFill>
              <a:srgbClr val="BEF264"/>
            </a:solidFill>
            <a:prstDash val="solid"/>
          </a:ln>
        </p:spPr>
      </p:sp>
      <p:sp>
        <p:nvSpPr>
          <p:cNvPr id="19" name="Shape 17"/>
          <p:cNvSpPr/>
          <p:nvPr/>
        </p:nvSpPr>
        <p:spPr>
          <a:xfrm>
            <a:off x="4407408" y="2359152"/>
            <a:ext cx="1627632" cy="2194560"/>
          </a:xfrm>
          <a:prstGeom prst="roundRect">
            <a:avLst>
              <a:gd name="adj" fmla="val 12921"/>
            </a:avLst>
          </a:prstGeom>
          <a:solidFill>
            <a:srgbClr val="FFF0E7"/>
          </a:solidFill>
          <a:ln w="12700">
            <a:solidFill>
              <a:srgbClr val="FFF0E7">
                <a:alpha val="0"/>
              </a:srgbClr>
            </a:solidFill>
            <a:prstDash val="solid"/>
          </a:ln>
          <a:effectLst>
            <a:outerShdw sx="100000" sy="100000" kx="0" ky="0" algn="bl" rotWithShape="0" blurRad="8.391745829378e+24" dist="1.6783491658756e+25" dir="2.09952e+30">
              <a:srgbClr val="0A241C">
                <a:alpha val="1.3e+29"/>
              </a:srgbClr>
            </a:outerShdw>
          </a:effectLst>
        </p:spPr>
      </p:sp>
      <p:sp>
        <p:nvSpPr>
          <p:cNvPr id="20" name="Text 18"/>
          <p:cNvSpPr/>
          <p:nvPr/>
        </p:nvSpPr>
        <p:spPr>
          <a:xfrm>
            <a:off x="455371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F97316"/>
                </a:solidFill>
                <a:latin typeface="Aptos" pitchFamily="34" charset="0"/>
                <a:ea typeface="Aptos" pitchFamily="34" charset="-122"/>
                <a:cs typeface="Aptos" pitchFamily="34" charset="-120"/>
              </a:rPr>
              <a:t>03</a:t>
            </a:r>
            <a:endParaRPr lang="en-US" sz="900" dirty="0"/>
          </a:p>
        </p:txBody>
      </p:sp>
      <p:sp>
        <p:nvSpPr>
          <p:cNvPr id="21" name="Shape 19"/>
          <p:cNvSpPr/>
          <p:nvPr/>
        </p:nvSpPr>
        <p:spPr>
          <a:xfrm>
            <a:off x="4553712" y="2907792"/>
            <a:ext cx="475488" cy="475488"/>
          </a:xfrm>
          <a:prstGeom prst="ellipse">
            <a:avLst/>
          </a:prstGeom>
          <a:solidFill>
            <a:srgbClr val="F97316"/>
          </a:solidFill>
          <a:ln w="12700">
            <a:solidFill>
              <a:srgbClr val="F97316"/>
            </a:solidFill>
            <a:prstDash val="solid"/>
          </a:ln>
        </p:spPr>
      </p:sp>
      <p:sp>
        <p:nvSpPr>
          <p:cNvPr id="22" name="Text 20"/>
          <p:cNvSpPr/>
          <p:nvPr/>
        </p:nvSpPr>
        <p:spPr>
          <a:xfrm>
            <a:off x="455371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FFF0E7"/>
                </a:solidFill>
                <a:latin typeface="Aptos" pitchFamily="34" charset="0"/>
                <a:ea typeface="Aptos" pitchFamily="34" charset="-122"/>
                <a:cs typeface="Aptos" pitchFamily="34" charset="-120"/>
              </a:rPr>
              <a:t>O</a:t>
            </a:r>
            <a:endParaRPr lang="en-US" sz="1500" dirty="0"/>
          </a:p>
        </p:txBody>
      </p:sp>
      <p:sp>
        <p:nvSpPr>
          <p:cNvPr id="23" name="Text 21"/>
          <p:cNvSpPr/>
          <p:nvPr/>
        </p:nvSpPr>
        <p:spPr>
          <a:xfrm>
            <a:off x="455371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F97316"/>
                </a:solidFill>
                <a:latin typeface="Aptos" pitchFamily="34" charset="0"/>
                <a:ea typeface="Aptos" pitchFamily="34" charset="-122"/>
                <a:cs typeface="Aptos" pitchFamily="34" charset="-120"/>
              </a:rPr>
              <a:t>OPTIMIZE</a:t>
            </a:r>
            <a:endParaRPr lang="en-US" sz="1100" dirty="0"/>
          </a:p>
        </p:txBody>
      </p:sp>
      <p:sp>
        <p:nvSpPr>
          <p:cNvPr id="24" name="Text 22"/>
          <p:cNvSpPr/>
          <p:nvPr/>
        </p:nvSpPr>
        <p:spPr>
          <a:xfrm>
            <a:off x="455371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F97316"/>
                </a:solidFill>
                <a:latin typeface="Aptos" pitchFamily="34" charset="0"/>
                <a:ea typeface="Aptos" pitchFamily="34" charset="-122"/>
                <a:cs typeface="Aptos" pitchFamily="34" charset="-120"/>
              </a:rPr>
              <a:t>Margin-aware candidate</a:t>
            </a:r>
            <a:endParaRPr lang="en-US" sz="1050" dirty="0"/>
          </a:p>
        </p:txBody>
      </p:sp>
      <p:sp>
        <p:nvSpPr>
          <p:cNvPr id="25" name="Shape 23"/>
          <p:cNvSpPr/>
          <p:nvPr/>
        </p:nvSpPr>
        <p:spPr>
          <a:xfrm>
            <a:off x="6089904" y="3246120"/>
            <a:ext cx="310896" cy="310896"/>
          </a:xfrm>
          <a:prstGeom prst="chevron">
            <a:avLst/>
          </a:prstGeom>
          <a:solidFill>
            <a:srgbClr val="BEF264"/>
          </a:solidFill>
          <a:ln w="12700">
            <a:solidFill>
              <a:srgbClr val="BEF264"/>
            </a:solidFill>
            <a:prstDash val="solid"/>
          </a:ln>
        </p:spPr>
      </p:sp>
      <p:sp>
        <p:nvSpPr>
          <p:cNvPr id="26" name="Shape 24"/>
          <p:cNvSpPr/>
          <p:nvPr/>
        </p:nvSpPr>
        <p:spPr>
          <a:xfrm>
            <a:off x="6327648" y="2359152"/>
            <a:ext cx="1627632" cy="2194560"/>
          </a:xfrm>
          <a:prstGeom prst="roundRect">
            <a:avLst>
              <a:gd name="adj" fmla="val 12921"/>
            </a:avLst>
          </a:prstGeom>
          <a:solidFill>
            <a:srgbClr val="E4F7E9"/>
          </a:solidFill>
          <a:ln w="12700">
            <a:solidFill>
              <a:srgbClr val="E4F7E9">
                <a:alpha val="0"/>
              </a:srgbClr>
            </a:solidFill>
            <a:prstDash val="solid"/>
          </a:ln>
          <a:effectLst>
            <a:outerShdw sx="100000" sy="100000" kx="0" ky="0" algn="bl" rotWithShape="0" blurRad="1.0657517203310059e+29" dist="2.1315034406620118e+29" dir="1.259712e+35">
              <a:srgbClr val="0A241C">
                <a:alpha val="1.3e+34"/>
              </a:srgbClr>
            </a:outerShdw>
          </a:effectLst>
        </p:spPr>
      </p:sp>
      <p:sp>
        <p:nvSpPr>
          <p:cNvPr id="27" name="Text 25"/>
          <p:cNvSpPr/>
          <p:nvPr/>
        </p:nvSpPr>
        <p:spPr>
          <a:xfrm>
            <a:off x="647395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0B981"/>
                </a:solidFill>
                <a:latin typeface="Aptos" pitchFamily="34" charset="0"/>
                <a:ea typeface="Aptos" pitchFamily="34" charset="-122"/>
                <a:cs typeface="Aptos" pitchFamily="34" charset="-120"/>
              </a:rPr>
              <a:t>04</a:t>
            </a:r>
            <a:endParaRPr lang="en-US" sz="900" dirty="0"/>
          </a:p>
        </p:txBody>
      </p:sp>
      <p:sp>
        <p:nvSpPr>
          <p:cNvPr id="28" name="Shape 26"/>
          <p:cNvSpPr/>
          <p:nvPr/>
        </p:nvSpPr>
        <p:spPr>
          <a:xfrm>
            <a:off x="6473952" y="2907792"/>
            <a:ext cx="475488" cy="475488"/>
          </a:xfrm>
          <a:prstGeom prst="ellipse">
            <a:avLst/>
          </a:prstGeom>
          <a:solidFill>
            <a:srgbClr val="10B981"/>
          </a:solidFill>
          <a:ln w="12700">
            <a:solidFill>
              <a:srgbClr val="10B981"/>
            </a:solidFill>
            <a:prstDash val="solid"/>
          </a:ln>
        </p:spPr>
      </p:sp>
      <p:sp>
        <p:nvSpPr>
          <p:cNvPr id="29" name="Text 27"/>
          <p:cNvSpPr/>
          <p:nvPr/>
        </p:nvSpPr>
        <p:spPr>
          <a:xfrm>
            <a:off x="647395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E4F7E9"/>
                </a:solidFill>
                <a:latin typeface="Aptos" pitchFamily="34" charset="0"/>
                <a:ea typeface="Aptos" pitchFamily="34" charset="-122"/>
                <a:cs typeface="Aptos" pitchFamily="34" charset="-120"/>
              </a:rPr>
              <a:t>A</a:t>
            </a:r>
            <a:endParaRPr lang="en-US" sz="1500" dirty="0"/>
          </a:p>
        </p:txBody>
      </p:sp>
      <p:sp>
        <p:nvSpPr>
          <p:cNvPr id="30" name="Text 28"/>
          <p:cNvSpPr/>
          <p:nvPr/>
        </p:nvSpPr>
        <p:spPr>
          <a:xfrm>
            <a:off x="647395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0B981"/>
                </a:solidFill>
                <a:latin typeface="Aptos" pitchFamily="34" charset="0"/>
                <a:ea typeface="Aptos" pitchFamily="34" charset="-122"/>
                <a:cs typeface="Aptos" pitchFamily="34" charset="-120"/>
              </a:rPr>
              <a:t>APPROVE</a:t>
            </a:r>
            <a:endParaRPr lang="en-US" sz="1100" dirty="0"/>
          </a:p>
        </p:txBody>
      </p:sp>
      <p:sp>
        <p:nvSpPr>
          <p:cNvPr id="31" name="Text 29"/>
          <p:cNvSpPr/>
          <p:nvPr/>
        </p:nvSpPr>
        <p:spPr>
          <a:xfrm>
            <a:off x="647395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0B981"/>
                </a:solidFill>
                <a:latin typeface="Aptos" pitchFamily="34" charset="0"/>
                <a:ea typeface="Aptos" pitchFamily="34" charset="-122"/>
                <a:cs typeface="Aptos" pitchFamily="34" charset="-120"/>
              </a:rPr>
              <a:t>Owner stays in control</a:t>
            </a:r>
            <a:endParaRPr lang="en-US" sz="1050" dirty="0"/>
          </a:p>
        </p:txBody>
      </p:sp>
      <p:sp>
        <p:nvSpPr>
          <p:cNvPr id="32" name="Shape 30"/>
          <p:cNvSpPr/>
          <p:nvPr/>
        </p:nvSpPr>
        <p:spPr>
          <a:xfrm>
            <a:off x="8010144" y="3246120"/>
            <a:ext cx="310896" cy="310896"/>
          </a:xfrm>
          <a:prstGeom prst="chevron">
            <a:avLst/>
          </a:prstGeom>
          <a:solidFill>
            <a:srgbClr val="BEF264"/>
          </a:solidFill>
          <a:ln w="12700">
            <a:solidFill>
              <a:srgbClr val="BEF264"/>
            </a:solidFill>
            <a:prstDash val="solid"/>
          </a:ln>
        </p:spPr>
      </p:sp>
      <p:sp>
        <p:nvSpPr>
          <p:cNvPr id="33" name="Shape 31"/>
          <p:cNvSpPr/>
          <p:nvPr/>
        </p:nvSpPr>
        <p:spPr>
          <a:xfrm>
            <a:off x="8247888" y="2359152"/>
            <a:ext cx="1627632" cy="2194560"/>
          </a:xfrm>
          <a:prstGeom prst="roundRect">
            <a:avLst>
              <a:gd name="adj" fmla="val 12921"/>
            </a:avLst>
          </a:prstGeom>
          <a:solidFill>
            <a:srgbClr val="E9F2FF"/>
          </a:solidFill>
          <a:ln w="12700">
            <a:solidFill>
              <a:srgbClr val="E9F2FF">
                <a:alpha val="0"/>
              </a:srgbClr>
            </a:solidFill>
            <a:prstDash val="solid"/>
          </a:ln>
        </p:spPr>
      </p:sp>
      <p:sp>
        <p:nvSpPr>
          <p:cNvPr id="34" name="Text 32"/>
          <p:cNvSpPr/>
          <p:nvPr/>
        </p:nvSpPr>
        <p:spPr>
          <a:xfrm>
            <a:off x="839419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2F6CB3"/>
                </a:solidFill>
                <a:latin typeface="Aptos" pitchFamily="34" charset="0"/>
                <a:ea typeface="Aptos" pitchFamily="34" charset="-122"/>
                <a:cs typeface="Aptos" pitchFamily="34" charset="-120"/>
              </a:rPr>
              <a:t>05</a:t>
            </a:r>
            <a:endParaRPr lang="en-US" sz="900" dirty="0"/>
          </a:p>
        </p:txBody>
      </p:sp>
      <p:sp>
        <p:nvSpPr>
          <p:cNvPr id="35" name="Shape 33"/>
          <p:cNvSpPr/>
          <p:nvPr/>
        </p:nvSpPr>
        <p:spPr>
          <a:xfrm>
            <a:off x="8394192" y="2907792"/>
            <a:ext cx="475488" cy="475488"/>
          </a:xfrm>
          <a:prstGeom prst="ellipse">
            <a:avLst/>
          </a:prstGeom>
          <a:solidFill>
            <a:srgbClr val="2F6CB3"/>
          </a:solidFill>
          <a:ln w="12700">
            <a:solidFill>
              <a:srgbClr val="2F6CB3"/>
            </a:solidFill>
            <a:prstDash val="solid"/>
          </a:ln>
        </p:spPr>
      </p:sp>
      <p:sp>
        <p:nvSpPr>
          <p:cNvPr id="36" name="Text 34"/>
          <p:cNvSpPr/>
          <p:nvPr/>
        </p:nvSpPr>
        <p:spPr>
          <a:xfrm>
            <a:off x="839419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E9F2FF"/>
                </a:solidFill>
                <a:latin typeface="Aptos" pitchFamily="34" charset="0"/>
                <a:ea typeface="Aptos" pitchFamily="34" charset="-122"/>
                <a:cs typeface="Aptos" pitchFamily="34" charset="-120"/>
              </a:rPr>
              <a:t>A</a:t>
            </a:r>
            <a:endParaRPr lang="en-US" sz="1500" dirty="0"/>
          </a:p>
        </p:txBody>
      </p:sp>
      <p:sp>
        <p:nvSpPr>
          <p:cNvPr id="37" name="Text 35"/>
          <p:cNvSpPr/>
          <p:nvPr/>
        </p:nvSpPr>
        <p:spPr>
          <a:xfrm>
            <a:off x="839419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2F6CB3"/>
                </a:solidFill>
                <a:latin typeface="Aptos" pitchFamily="34" charset="0"/>
                <a:ea typeface="Aptos" pitchFamily="34" charset="-122"/>
                <a:cs typeface="Aptos" pitchFamily="34" charset="-120"/>
              </a:rPr>
              <a:t>ACTIVATE</a:t>
            </a:r>
            <a:endParaRPr lang="en-US" sz="1100" dirty="0"/>
          </a:p>
        </p:txBody>
      </p:sp>
      <p:sp>
        <p:nvSpPr>
          <p:cNvPr id="38" name="Text 36"/>
          <p:cNvSpPr/>
          <p:nvPr/>
        </p:nvSpPr>
        <p:spPr>
          <a:xfrm>
            <a:off x="839419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2F6CB3"/>
                </a:solidFill>
                <a:latin typeface="Aptos" pitchFamily="34" charset="0"/>
                <a:ea typeface="Aptos" pitchFamily="34" charset="-122"/>
                <a:cs typeface="Aptos" pitchFamily="34" charset="-120"/>
              </a:rPr>
              <a:t>Store opt-in matching</a:t>
            </a:r>
            <a:endParaRPr lang="en-US" sz="1050" dirty="0"/>
          </a:p>
        </p:txBody>
      </p:sp>
      <p:sp>
        <p:nvSpPr>
          <p:cNvPr id="39" name="Shape 37"/>
          <p:cNvSpPr/>
          <p:nvPr/>
        </p:nvSpPr>
        <p:spPr>
          <a:xfrm>
            <a:off x="9930384" y="3246120"/>
            <a:ext cx="310896" cy="310896"/>
          </a:xfrm>
          <a:prstGeom prst="chevron">
            <a:avLst/>
          </a:prstGeom>
          <a:solidFill>
            <a:srgbClr val="BEF264"/>
          </a:solidFill>
          <a:ln w="12700">
            <a:solidFill>
              <a:srgbClr val="BEF264"/>
            </a:solidFill>
            <a:prstDash val="solid"/>
          </a:ln>
        </p:spPr>
      </p:sp>
      <p:sp>
        <p:nvSpPr>
          <p:cNvPr id="40" name="Shape 38"/>
          <p:cNvSpPr/>
          <p:nvPr/>
        </p:nvSpPr>
        <p:spPr>
          <a:xfrm>
            <a:off x="10168128" y="2359152"/>
            <a:ext cx="1627632" cy="2194560"/>
          </a:xfrm>
          <a:prstGeom prst="roundRect">
            <a:avLst>
              <a:gd name="adj" fmla="val 12921"/>
            </a:avLst>
          </a:prstGeom>
          <a:solidFill>
            <a:srgbClr val="BEF264"/>
          </a:solidFill>
          <a:ln w="12700">
            <a:solidFill>
              <a:srgbClr val="BEF264">
                <a:alpha val="0"/>
              </a:srgbClr>
            </a:solidFill>
            <a:prstDash val="solid"/>
          </a:ln>
        </p:spPr>
      </p:sp>
      <p:sp>
        <p:nvSpPr>
          <p:cNvPr id="41" name="Text 39"/>
          <p:cNvSpPr/>
          <p:nvPr/>
        </p:nvSpPr>
        <p:spPr>
          <a:xfrm>
            <a:off x="1031443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73D31"/>
                </a:solidFill>
                <a:latin typeface="Aptos" pitchFamily="34" charset="0"/>
                <a:ea typeface="Aptos" pitchFamily="34" charset="-122"/>
                <a:cs typeface="Aptos" pitchFamily="34" charset="-120"/>
              </a:rPr>
              <a:t>06</a:t>
            </a:r>
            <a:endParaRPr lang="en-US" sz="900" dirty="0"/>
          </a:p>
        </p:txBody>
      </p:sp>
      <p:sp>
        <p:nvSpPr>
          <p:cNvPr id="42" name="Shape 40"/>
          <p:cNvSpPr/>
          <p:nvPr/>
        </p:nvSpPr>
        <p:spPr>
          <a:xfrm>
            <a:off x="10314432" y="2907792"/>
            <a:ext cx="475488" cy="475488"/>
          </a:xfrm>
          <a:prstGeom prst="ellipse">
            <a:avLst/>
          </a:prstGeom>
          <a:solidFill>
            <a:srgbClr val="173D31"/>
          </a:solidFill>
          <a:ln w="12700">
            <a:solidFill>
              <a:srgbClr val="173D31"/>
            </a:solidFill>
            <a:prstDash val="solid"/>
          </a:ln>
        </p:spPr>
      </p:sp>
      <p:sp>
        <p:nvSpPr>
          <p:cNvPr id="43" name="Text 41"/>
          <p:cNvSpPr/>
          <p:nvPr/>
        </p:nvSpPr>
        <p:spPr>
          <a:xfrm>
            <a:off x="1031443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BEF264"/>
                </a:solidFill>
                <a:latin typeface="Aptos" pitchFamily="34" charset="0"/>
                <a:ea typeface="Aptos" pitchFamily="34" charset="-122"/>
                <a:cs typeface="Aptos" pitchFamily="34" charset="-120"/>
              </a:rPr>
              <a:t>M</a:t>
            </a:r>
            <a:endParaRPr lang="en-US" sz="1500" dirty="0"/>
          </a:p>
        </p:txBody>
      </p:sp>
      <p:sp>
        <p:nvSpPr>
          <p:cNvPr id="44" name="Text 42"/>
          <p:cNvSpPr/>
          <p:nvPr/>
        </p:nvSpPr>
        <p:spPr>
          <a:xfrm>
            <a:off x="1031443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73D31"/>
                </a:solidFill>
                <a:latin typeface="Aptos" pitchFamily="34" charset="0"/>
                <a:ea typeface="Aptos" pitchFamily="34" charset="-122"/>
                <a:cs typeface="Aptos" pitchFamily="34" charset="-120"/>
              </a:rPr>
              <a:t>MEASURE</a:t>
            </a:r>
            <a:endParaRPr lang="en-US" sz="1100" dirty="0"/>
          </a:p>
        </p:txBody>
      </p:sp>
      <p:sp>
        <p:nvSpPr>
          <p:cNvPr id="45" name="Text 43"/>
          <p:cNvSpPr/>
          <p:nvPr/>
        </p:nvSpPr>
        <p:spPr>
          <a:xfrm>
            <a:off x="1031443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73D31"/>
                </a:solidFill>
                <a:latin typeface="Aptos" pitchFamily="34" charset="0"/>
                <a:ea typeface="Aptos" pitchFamily="34" charset="-122"/>
                <a:cs typeface="Aptos" pitchFamily="34" charset="-120"/>
              </a:rPr>
              <a:t>Order + outcome ledger</a:t>
            </a:r>
            <a:endParaRPr lang="en-US" sz="1050" dirty="0"/>
          </a:p>
        </p:txBody>
      </p:sp>
      <p:sp>
        <p:nvSpPr>
          <p:cNvPr id="46" name="Shape 44"/>
          <p:cNvSpPr/>
          <p:nvPr/>
        </p:nvSpPr>
        <p:spPr>
          <a:xfrm>
            <a:off x="1051560" y="5074920"/>
            <a:ext cx="10058400" cy="658368"/>
          </a:xfrm>
          <a:prstGeom prst="roundRect">
            <a:avLst>
              <a:gd name="adj" fmla="val 25000"/>
            </a:avLst>
          </a:prstGeom>
          <a:solidFill>
            <a:srgbClr val="244E42"/>
          </a:solidFill>
          <a:ln w="12700">
            <a:solidFill>
              <a:srgbClr val="244E42">
                <a:alpha val="0"/>
              </a:srgbClr>
            </a:solidFill>
            <a:prstDash val="solid"/>
          </a:ln>
        </p:spPr>
      </p:sp>
      <p:sp>
        <p:nvSpPr>
          <p:cNvPr id="47" name="Text 45"/>
          <p:cNvSpPr/>
          <p:nvPr/>
        </p:nvSpPr>
        <p:spPr>
          <a:xfrm>
            <a:off x="1325880" y="5276088"/>
            <a:ext cx="960120" cy="201168"/>
          </a:xfrm>
          <a:prstGeom prst="rect">
            <a:avLst/>
          </a:prstGeom>
          <a:noFill/>
          <a:ln/>
        </p:spPr>
        <p:txBody>
          <a:bodyPr wrap="square" lIns="0" tIns="0" rIns="0" bIns="0" rtlCol="0" anchor="ctr">
            <a:normAutofit/>
          </a:bodyPr>
          <a:lstStyle/>
          <a:p>
            <a:pPr algn="l" indent="0" marL="0">
              <a:buNone/>
            </a:pPr>
            <a:r>
              <a:rPr lang="en-US" sz="900" b="1" spc="120" kern="0" dirty="0">
                <a:solidFill>
                  <a:srgbClr val="BEF264"/>
                </a:solidFill>
                <a:latin typeface="Aptos" pitchFamily="34" charset="0"/>
                <a:ea typeface="Aptos" pitchFamily="34" charset="-122"/>
                <a:cs typeface="Aptos" pitchFamily="34" charset="-120"/>
              </a:rPr>
              <a:t>MERCHANT</a:t>
            </a:r>
            <a:endParaRPr lang="en-US" sz="900" dirty="0"/>
          </a:p>
        </p:txBody>
      </p:sp>
      <p:sp>
        <p:nvSpPr>
          <p:cNvPr id="48" name="Text 46"/>
          <p:cNvSpPr/>
          <p:nvPr/>
        </p:nvSpPr>
        <p:spPr>
          <a:xfrm>
            <a:off x="2240280" y="5230368"/>
            <a:ext cx="2514600" cy="274320"/>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Detect risk  →  approve action</a:t>
            </a:r>
            <a:endParaRPr lang="en-US" sz="1200" dirty="0"/>
          </a:p>
        </p:txBody>
      </p:sp>
      <p:sp>
        <p:nvSpPr>
          <p:cNvPr id="49" name="Shape 47"/>
          <p:cNvSpPr/>
          <p:nvPr/>
        </p:nvSpPr>
        <p:spPr>
          <a:xfrm>
            <a:off x="5742432" y="5212080"/>
            <a:ext cx="0" cy="347472"/>
          </a:xfrm>
          <a:prstGeom prst="line">
            <a:avLst/>
          </a:prstGeom>
          <a:noFill/>
          <a:ln w="12700">
            <a:solidFill>
              <a:srgbClr val="56786D"/>
            </a:solidFill>
            <a:prstDash val="solid"/>
          </a:ln>
        </p:spPr>
      </p:sp>
      <p:sp>
        <p:nvSpPr>
          <p:cNvPr id="50" name="Text 48"/>
          <p:cNvSpPr/>
          <p:nvPr/>
        </p:nvSpPr>
        <p:spPr>
          <a:xfrm>
            <a:off x="6053328" y="5276088"/>
            <a:ext cx="960120" cy="201168"/>
          </a:xfrm>
          <a:prstGeom prst="rect">
            <a:avLst/>
          </a:prstGeom>
          <a:noFill/>
          <a:ln/>
        </p:spPr>
        <p:txBody>
          <a:bodyPr wrap="square" lIns="0" tIns="0" rIns="0" bIns="0" rtlCol="0" anchor="ctr">
            <a:normAutofit/>
          </a:bodyPr>
          <a:lstStyle/>
          <a:p>
            <a:pPr algn="l" indent="0" marL="0">
              <a:buNone/>
            </a:pPr>
            <a:r>
              <a:rPr lang="en-US" sz="900" b="1" spc="120" kern="0" dirty="0">
                <a:solidFill>
                  <a:srgbClr val="BEF264"/>
                </a:solidFill>
                <a:latin typeface="Aptos" pitchFamily="34" charset="0"/>
                <a:ea typeface="Aptos" pitchFamily="34" charset="-122"/>
                <a:cs typeface="Aptos" pitchFamily="34" charset="-120"/>
              </a:rPr>
              <a:t>SHOPPER</a:t>
            </a:r>
            <a:endParaRPr lang="en-US" sz="900" dirty="0"/>
          </a:p>
        </p:txBody>
      </p:sp>
      <p:sp>
        <p:nvSpPr>
          <p:cNvPr id="51" name="Text 49"/>
          <p:cNvSpPr/>
          <p:nvPr/>
        </p:nvSpPr>
        <p:spPr>
          <a:xfrm>
            <a:off x="6995160" y="5230368"/>
            <a:ext cx="2880360" cy="274320"/>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Discover deal  →  reserve pickup</a:t>
            </a:r>
            <a:endParaRPr lang="en-US" sz="1200" dirty="0"/>
          </a:p>
        </p:txBody>
      </p:sp>
      <p:sp>
        <p:nvSpPr>
          <p:cNvPr id="52" name="Shape 50"/>
          <p:cNvSpPr/>
          <p:nvPr/>
        </p:nvSpPr>
        <p:spPr>
          <a:xfrm>
            <a:off x="502920" y="6419088"/>
            <a:ext cx="10744200" cy="0"/>
          </a:xfrm>
          <a:prstGeom prst="line">
            <a:avLst/>
          </a:prstGeom>
          <a:noFill/>
          <a:ln w="10160">
            <a:solidFill>
              <a:srgbClr val="406459"/>
            </a:solidFill>
            <a:prstDash val="solid"/>
          </a:ln>
        </p:spPr>
      </p:sp>
      <p:sp>
        <p:nvSpPr>
          <p:cNvPr id="53" name="Text 51"/>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54" name="Text 52"/>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End-to-end workflow</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PRODUCT EXPERIENCE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Built for the aisle and the customer’s pocket.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A focused owner workspace feeds a simple customer marketplace.</a:t>
            </a:r>
            <a:endParaRPr lang="en-US" sz="1250" dirty="0"/>
          </a:p>
        </p:txBody>
      </p:sp>
      <p:sp>
        <p:nvSpPr>
          <p:cNvPr id="5" name="Shape 3"/>
          <p:cNvSpPr/>
          <p:nvPr/>
        </p:nvSpPr>
        <p:spPr>
          <a:xfrm>
            <a:off x="566928" y="1975104"/>
            <a:ext cx="6473952" cy="3913632"/>
          </a:xfrm>
          <a:prstGeom prst="roundRect">
            <a:avLst>
              <a:gd name="adj" fmla="val 6075"/>
            </a:avLst>
          </a:prstGeom>
          <a:solidFill>
            <a:srgbClr val="FFFFFF"/>
          </a:solidFill>
          <a:ln w="12700">
            <a:solidFill>
              <a:srgbClr val="D9E3DD"/>
            </a:solidFill>
            <a:prstDash val="solid"/>
          </a:ln>
          <a:effectLst>
            <a:outerShdw sx="100000" sy="100000" kx="0" ky="0" algn="bl" rotWithShape="0" blurRad="1.3535046848203775e+33" dist="2.707009369640755e+33" dir="7.558272e+39">
              <a:srgbClr val="0A241C">
                <a:alpha val="1.3e+39"/>
              </a:srgbClr>
            </a:outerShdw>
          </a:effectLst>
        </p:spPr>
      </p:sp>
      <p:sp>
        <p:nvSpPr>
          <p:cNvPr id="6" name="Shape 4"/>
          <p:cNvSpPr/>
          <p:nvPr/>
        </p:nvSpPr>
        <p:spPr>
          <a:xfrm>
            <a:off x="566928" y="1975104"/>
            <a:ext cx="1261872" cy="3913632"/>
          </a:xfrm>
          <a:prstGeom prst="roundRect">
            <a:avLst>
              <a:gd name="adj" fmla="val 18841"/>
            </a:avLst>
          </a:prstGeom>
          <a:solidFill>
            <a:srgbClr val="173D31"/>
          </a:solidFill>
          <a:ln w="12700">
            <a:solidFill>
              <a:srgbClr val="173D31">
                <a:alpha val="0"/>
              </a:srgbClr>
            </a:solidFill>
            <a:prstDash val="solid"/>
          </a:ln>
        </p:spPr>
      </p:sp>
      <p:sp>
        <p:nvSpPr>
          <p:cNvPr id="7" name="Shape 5"/>
          <p:cNvSpPr/>
          <p:nvPr/>
        </p:nvSpPr>
        <p:spPr>
          <a:xfrm>
            <a:off x="850392" y="2267712"/>
            <a:ext cx="384048" cy="384048"/>
          </a:xfrm>
          <a:prstGeom prst="ellipse">
            <a:avLst/>
          </a:prstGeom>
          <a:solidFill>
            <a:srgbClr val="BEF264"/>
          </a:solidFill>
          <a:ln w="12700">
            <a:solidFill>
              <a:srgbClr val="BEF264"/>
            </a:solidFill>
            <a:prstDash val="solid"/>
          </a:ln>
        </p:spPr>
      </p:sp>
      <p:sp>
        <p:nvSpPr>
          <p:cNvPr id="8" name="Text 6"/>
          <p:cNvSpPr/>
          <p:nvPr/>
        </p:nvSpPr>
        <p:spPr>
          <a:xfrm>
            <a:off x="850392" y="22677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173D31"/>
                </a:solidFill>
                <a:latin typeface="Aptos" pitchFamily="34" charset="0"/>
                <a:ea typeface="Aptos" pitchFamily="34" charset="-122"/>
                <a:cs typeface="Aptos" pitchFamily="34" charset="-120"/>
              </a:rPr>
              <a:t>F</a:t>
            </a:r>
            <a:endParaRPr lang="en-US" sz="1300" dirty="0"/>
          </a:p>
        </p:txBody>
      </p:sp>
      <p:sp>
        <p:nvSpPr>
          <p:cNvPr id="9" name="Text 7"/>
          <p:cNvSpPr/>
          <p:nvPr/>
        </p:nvSpPr>
        <p:spPr>
          <a:xfrm>
            <a:off x="1271016" y="2304288"/>
            <a:ext cx="438912" cy="182880"/>
          </a:xfrm>
          <a:prstGeom prst="rect">
            <a:avLst/>
          </a:prstGeom>
          <a:noFill/>
          <a:ln/>
        </p:spPr>
        <p:txBody>
          <a:bodyPr wrap="square" lIns="0" tIns="0" rIns="0" bIns="0" rtlCol="0" anchor="ctr">
            <a:normAutofit/>
          </a:bodyPr>
          <a:lstStyle/>
          <a:p>
            <a:pPr algn="l" indent="0" marL="0">
              <a:buNone/>
            </a:pPr>
            <a:r>
              <a:rPr lang="en-US" sz="800" b="1" spc="100" kern="0" dirty="0">
                <a:solidFill>
                  <a:srgbClr val="FFFFFF"/>
                </a:solidFill>
                <a:latin typeface="Aptos" pitchFamily="34" charset="0"/>
                <a:ea typeface="Aptos" pitchFamily="34" charset="-122"/>
                <a:cs typeface="Aptos" pitchFamily="34" charset="-120"/>
              </a:rPr>
              <a:t>OWNER</a:t>
            </a:r>
            <a:endParaRPr lang="en-US" sz="800" dirty="0"/>
          </a:p>
        </p:txBody>
      </p:sp>
      <p:sp>
        <p:nvSpPr>
          <p:cNvPr id="10" name="Shape 8"/>
          <p:cNvSpPr/>
          <p:nvPr/>
        </p:nvSpPr>
        <p:spPr>
          <a:xfrm>
            <a:off x="731520" y="2852928"/>
            <a:ext cx="932688" cy="310896"/>
          </a:xfrm>
          <a:prstGeom prst="roundRect">
            <a:avLst>
              <a:gd name="adj" fmla="val 26471"/>
            </a:avLst>
          </a:prstGeom>
          <a:solidFill>
            <a:srgbClr val="285043"/>
          </a:solidFill>
          <a:ln w="12700">
            <a:solidFill>
              <a:srgbClr val="285043">
                <a:alpha val="0"/>
              </a:srgbClr>
            </a:solidFill>
            <a:prstDash val="solid"/>
          </a:ln>
        </p:spPr>
      </p:sp>
      <p:sp>
        <p:nvSpPr>
          <p:cNvPr id="11" name="Text 9"/>
          <p:cNvSpPr/>
          <p:nvPr/>
        </p:nvSpPr>
        <p:spPr>
          <a:xfrm>
            <a:off x="786384" y="28529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Dashboard</a:t>
            </a:r>
            <a:endParaRPr lang="en-US" sz="800" dirty="0"/>
          </a:p>
        </p:txBody>
      </p:sp>
      <p:sp>
        <p:nvSpPr>
          <p:cNvPr id="12" name="Shape 10"/>
          <p:cNvSpPr/>
          <p:nvPr/>
        </p:nvSpPr>
        <p:spPr>
          <a:xfrm>
            <a:off x="731520" y="3310128"/>
            <a:ext cx="932688" cy="310896"/>
          </a:xfrm>
          <a:prstGeom prst="roundRect">
            <a:avLst>
              <a:gd name="adj" fmla="val 26471"/>
            </a:avLst>
          </a:prstGeom>
          <a:solidFill>
            <a:srgbClr val="285043"/>
          </a:solidFill>
          <a:ln w="12700">
            <a:solidFill>
              <a:srgbClr val="285043">
                <a:alpha val="0"/>
              </a:srgbClr>
            </a:solidFill>
            <a:prstDash val="solid"/>
          </a:ln>
        </p:spPr>
      </p:sp>
      <p:sp>
        <p:nvSpPr>
          <p:cNvPr id="13" name="Text 11"/>
          <p:cNvSpPr/>
          <p:nvPr/>
        </p:nvSpPr>
        <p:spPr>
          <a:xfrm>
            <a:off x="786384" y="33101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Products</a:t>
            </a:r>
            <a:endParaRPr lang="en-US" sz="800" dirty="0"/>
          </a:p>
        </p:txBody>
      </p:sp>
      <p:sp>
        <p:nvSpPr>
          <p:cNvPr id="14" name="Shape 12"/>
          <p:cNvSpPr/>
          <p:nvPr/>
        </p:nvSpPr>
        <p:spPr>
          <a:xfrm>
            <a:off x="731520" y="3767328"/>
            <a:ext cx="932688" cy="310896"/>
          </a:xfrm>
          <a:prstGeom prst="roundRect">
            <a:avLst>
              <a:gd name="adj" fmla="val 26471"/>
            </a:avLst>
          </a:prstGeom>
          <a:solidFill>
            <a:srgbClr val="285043"/>
          </a:solidFill>
          <a:ln w="12700">
            <a:solidFill>
              <a:srgbClr val="285043">
                <a:alpha val="0"/>
              </a:srgbClr>
            </a:solidFill>
            <a:prstDash val="solid"/>
          </a:ln>
        </p:spPr>
      </p:sp>
      <p:sp>
        <p:nvSpPr>
          <p:cNvPr id="15" name="Text 13"/>
          <p:cNvSpPr/>
          <p:nvPr/>
        </p:nvSpPr>
        <p:spPr>
          <a:xfrm>
            <a:off x="786384" y="37673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Customers</a:t>
            </a:r>
            <a:endParaRPr lang="en-US" sz="800" dirty="0"/>
          </a:p>
        </p:txBody>
      </p:sp>
      <p:sp>
        <p:nvSpPr>
          <p:cNvPr id="16" name="Shape 14"/>
          <p:cNvSpPr/>
          <p:nvPr/>
        </p:nvSpPr>
        <p:spPr>
          <a:xfrm>
            <a:off x="731520" y="4224528"/>
            <a:ext cx="932688" cy="310896"/>
          </a:xfrm>
          <a:prstGeom prst="roundRect">
            <a:avLst>
              <a:gd name="adj" fmla="val 26471"/>
            </a:avLst>
          </a:prstGeom>
          <a:solidFill>
            <a:srgbClr val="BEF264"/>
          </a:solidFill>
          <a:ln w="12700">
            <a:solidFill>
              <a:srgbClr val="BEF264">
                <a:alpha val="0"/>
              </a:srgbClr>
            </a:solidFill>
            <a:prstDash val="solid"/>
          </a:ln>
        </p:spPr>
      </p:sp>
      <p:sp>
        <p:nvSpPr>
          <p:cNvPr id="17" name="Text 15"/>
          <p:cNvSpPr/>
          <p:nvPr/>
        </p:nvSpPr>
        <p:spPr>
          <a:xfrm>
            <a:off x="786384" y="4224528"/>
            <a:ext cx="822960" cy="310896"/>
          </a:xfrm>
          <a:prstGeom prst="rect">
            <a:avLst/>
          </a:prstGeom>
          <a:noFill/>
          <a:ln/>
        </p:spPr>
        <p:txBody>
          <a:bodyPr wrap="square" lIns="0" tIns="0" rIns="0" bIns="0" rtlCol="0" anchor="ctr">
            <a:normAutofit/>
          </a:bodyPr>
          <a:lstStyle/>
          <a:p>
            <a:pPr algn="l" indent="0" marL="0">
              <a:buNone/>
            </a:pPr>
            <a:r>
              <a:rPr lang="en-US" sz="800" b="1" dirty="0">
                <a:solidFill>
                  <a:srgbClr val="173D31"/>
                </a:solidFill>
                <a:latin typeface="Aptos" pitchFamily="34" charset="0"/>
                <a:ea typeface="Aptos" pitchFamily="34" charset="-122"/>
                <a:cs typeface="Aptos" pitchFamily="34" charset="-120"/>
              </a:rPr>
              <a:t>Pricing log</a:t>
            </a:r>
            <a:endParaRPr lang="en-US" sz="800" dirty="0"/>
          </a:p>
        </p:txBody>
      </p:sp>
      <p:sp>
        <p:nvSpPr>
          <p:cNvPr id="18" name="Text 16"/>
          <p:cNvSpPr/>
          <p:nvPr/>
        </p:nvSpPr>
        <p:spPr>
          <a:xfrm>
            <a:off x="2148840" y="2304288"/>
            <a:ext cx="2880360" cy="320040"/>
          </a:xfrm>
          <a:prstGeom prst="rect">
            <a:avLst/>
          </a:prstGeom>
          <a:noFill/>
          <a:ln/>
        </p:spPr>
        <p:txBody>
          <a:bodyPr wrap="square" lIns="0" tIns="0" rIns="0" bIns="0" rtlCol="0" anchor="ctr">
            <a:normAutofit/>
          </a:bodyPr>
          <a:lstStyle/>
          <a:p>
            <a:pPr algn="l" indent="0" marL="0">
              <a:buNone/>
            </a:pPr>
            <a:r>
              <a:rPr lang="en-US" sz="2000" b="1" dirty="0">
                <a:solidFill>
                  <a:srgbClr val="15352C"/>
                </a:solidFill>
                <a:latin typeface="Aptos Display" pitchFamily="34" charset="0"/>
                <a:ea typeface="Aptos Display" pitchFamily="34" charset="-122"/>
                <a:cs typeface="Aptos Display" pitchFamily="34" charset="-120"/>
              </a:rPr>
              <a:t>Pending AI recommendations</a:t>
            </a:r>
            <a:endParaRPr lang="en-US" sz="2000" dirty="0"/>
          </a:p>
        </p:txBody>
      </p:sp>
      <p:sp>
        <p:nvSpPr>
          <p:cNvPr id="19" name="Shape 17"/>
          <p:cNvSpPr/>
          <p:nvPr/>
        </p:nvSpPr>
        <p:spPr>
          <a:xfrm>
            <a:off x="5193792" y="2304288"/>
            <a:ext cx="1389888" cy="292608"/>
          </a:xfrm>
          <a:prstGeom prst="roundRect">
            <a:avLst>
              <a:gd name="adj" fmla="val 50000"/>
            </a:avLst>
          </a:prstGeom>
          <a:solidFill>
            <a:srgbClr val="F2ECFF"/>
          </a:solidFill>
          <a:ln w="12700">
            <a:solidFill>
              <a:srgbClr val="F2ECFF">
                <a:alpha val="0"/>
              </a:srgbClr>
            </a:solidFill>
            <a:prstDash val="solid"/>
          </a:ln>
        </p:spPr>
      </p:sp>
      <p:sp>
        <p:nvSpPr>
          <p:cNvPr id="20" name="Text 18"/>
          <p:cNvSpPr/>
          <p:nvPr/>
        </p:nvSpPr>
        <p:spPr>
          <a:xfrm>
            <a:off x="5266944" y="2304288"/>
            <a:ext cx="1243584" cy="292608"/>
          </a:xfrm>
          <a:prstGeom prst="rect">
            <a:avLst/>
          </a:prstGeom>
          <a:noFill/>
          <a:ln/>
        </p:spPr>
        <p:txBody>
          <a:bodyPr wrap="square" lIns="0" tIns="0" rIns="0" bIns="0" rtlCol="0" anchor="ctr">
            <a:normAutofit/>
          </a:bodyPr>
          <a:lstStyle/>
          <a:p>
            <a:pPr algn="ctr" indent="0" marL="0">
              <a:buNone/>
            </a:pPr>
            <a:r>
              <a:rPr lang="en-US" sz="900" b="1" dirty="0">
                <a:solidFill>
                  <a:srgbClr val="7C3AED"/>
                </a:solidFill>
                <a:latin typeface="Aptos" pitchFamily="34" charset="0"/>
                <a:ea typeface="Aptos" pitchFamily="34" charset="-122"/>
                <a:cs typeface="Aptos" pitchFamily="34" charset="-120"/>
              </a:rPr>
              <a:t>3 AWAITING REVIEW</a:t>
            </a:r>
            <a:endParaRPr lang="en-US" sz="900" dirty="0"/>
          </a:p>
        </p:txBody>
      </p:sp>
      <p:sp>
        <p:nvSpPr>
          <p:cNvPr id="21" name="Shape 19"/>
          <p:cNvSpPr/>
          <p:nvPr/>
        </p:nvSpPr>
        <p:spPr>
          <a:xfrm>
            <a:off x="2121408" y="2907792"/>
            <a:ext cx="4498848" cy="2240280"/>
          </a:xfrm>
          <a:prstGeom prst="roundRect">
            <a:avLst>
              <a:gd name="adj" fmla="val 8163"/>
            </a:avLst>
          </a:prstGeom>
          <a:solidFill>
            <a:srgbClr val="173D31"/>
          </a:solidFill>
          <a:ln w="12700">
            <a:solidFill>
              <a:srgbClr val="173D31">
                <a:alpha val="0"/>
              </a:srgbClr>
            </a:solidFill>
            <a:prstDash val="solid"/>
          </a:ln>
        </p:spPr>
      </p:sp>
      <p:sp>
        <p:nvSpPr>
          <p:cNvPr id="22" name="Text 20"/>
          <p:cNvSpPr/>
          <p:nvPr/>
        </p:nvSpPr>
        <p:spPr>
          <a:xfrm>
            <a:off x="2395728" y="3182112"/>
            <a:ext cx="2286000" cy="210312"/>
          </a:xfrm>
          <a:prstGeom prst="rect">
            <a:avLst/>
          </a:prstGeom>
          <a:noFill/>
          <a:ln/>
        </p:spPr>
        <p:txBody>
          <a:bodyPr wrap="square" lIns="0" tIns="0" rIns="0" bIns="0" rtlCol="0" anchor="ctr">
            <a:normAutofit/>
          </a:bodyPr>
          <a:lstStyle/>
          <a:p>
            <a:pPr algn="l" indent="0" marL="0">
              <a:buNone/>
            </a:pPr>
            <a:r>
              <a:rPr lang="en-US" sz="900" b="1" spc="100" kern="0" dirty="0">
                <a:solidFill>
                  <a:srgbClr val="BEF264"/>
                </a:solidFill>
                <a:latin typeface="Aptos" pitchFamily="34" charset="0"/>
                <a:ea typeface="Aptos" pitchFamily="34" charset="-122"/>
                <a:cs typeface="Aptos" pitchFamily="34" charset="-120"/>
              </a:rPr>
              <a:t>ORGANIC WHOLE MILK</a:t>
            </a:r>
            <a:endParaRPr lang="en-US" sz="900" dirty="0"/>
          </a:p>
        </p:txBody>
      </p:sp>
      <p:sp>
        <p:nvSpPr>
          <p:cNvPr id="23" name="Text 21"/>
          <p:cNvSpPr/>
          <p:nvPr/>
        </p:nvSpPr>
        <p:spPr>
          <a:xfrm>
            <a:off x="5413248" y="3136392"/>
            <a:ext cx="868680" cy="292608"/>
          </a:xfrm>
          <a:prstGeom prst="rect">
            <a:avLst/>
          </a:prstGeom>
          <a:noFill/>
          <a:ln/>
        </p:spPr>
        <p:txBody>
          <a:bodyPr wrap="square" lIns="0" tIns="0" rIns="0" bIns="0" rtlCol="0" anchor="ctr">
            <a:normAutofit/>
          </a:bodyPr>
          <a:lstStyle/>
          <a:p>
            <a:pPr algn="r" indent="0" marL="0">
              <a:buNone/>
            </a:pPr>
            <a:r>
              <a:rPr lang="en-US" sz="1600" b="1" dirty="0">
                <a:solidFill>
                  <a:srgbClr val="BEF264"/>
                </a:solidFill>
                <a:latin typeface="Aptos" pitchFamily="34" charset="0"/>
                <a:ea typeface="Aptos" pitchFamily="34" charset="-122"/>
                <a:cs typeface="Aptos" pitchFamily="34" charset="-120"/>
              </a:rPr>
              <a:t>15% off</a:t>
            </a:r>
            <a:endParaRPr lang="en-US" sz="1600" dirty="0"/>
          </a:p>
        </p:txBody>
      </p:sp>
      <p:sp>
        <p:nvSpPr>
          <p:cNvPr id="24" name="Shape 22"/>
          <p:cNvSpPr/>
          <p:nvPr/>
        </p:nvSpPr>
        <p:spPr>
          <a:xfrm>
            <a:off x="2395728"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25" name="Text 23"/>
          <p:cNvSpPr/>
          <p:nvPr/>
        </p:nvSpPr>
        <p:spPr>
          <a:xfrm>
            <a:off x="2560320"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₹71</a:t>
            </a:r>
            <a:endParaRPr lang="en-US" sz="2300" dirty="0"/>
          </a:p>
        </p:txBody>
      </p:sp>
      <p:sp>
        <p:nvSpPr>
          <p:cNvPr id="26" name="Text 24"/>
          <p:cNvSpPr/>
          <p:nvPr/>
        </p:nvSpPr>
        <p:spPr>
          <a:xfrm>
            <a:off x="2560320"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NEW PRICE</a:t>
            </a:r>
            <a:endParaRPr lang="en-US" sz="900" dirty="0"/>
          </a:p>
        </p:txBody>
      </p:sp>
      <p:sp>
        <p:nvSpPr>
          <p:cNvPr id="27" name="Shape 25"/>
          <p:cNvSpPr/>
          <p:nvPr/>
        </p:nvSpPr>
        <p:spPr>
          <a:xfrm>
            <a:off x="3685032"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28" name="Text 26"/>
          <p:cNvSpPr/>
          <p:nvPr/>
        </p:nvSpPr>
        <p:spPr>
          <a:xfrm>
            <a:off x="3849624"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0–6</a:t>
            </a:r>
            <a:endParaRPr lang="en-US" sz="2300" dirty="0"/>
          </a:p>
        </p:txBody>
      </p:sp>
      <p:sp>
        <p:nvSpPr>
          <p:cNvPr id="29" name="Text 27"/>
          <p:cNvSpPr/>
          <p:nvPr/>
        </p:nvSpPr>
        <p:spPr>
          <a:xfrm>
            <a:off x="3849624"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PREDICTED</a:t>
            </a:r>
            <a:endParaRPr lang="en-US" sz="900" dirty="0"/>
          </a:p>
        </p:txBody>
      </p:sp>
      <p:sp>
        <p:nvSpPr>
          <p:cNvPr id="30" name="Shape 28"/>
          <p:cNvSpPr/>
          <p:nvPr/>
        </p:nvSpPr>
        <p:spPr>
          <a:xfrm>
            <a:off x="4974336"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31" name="Text 29"/>
          <p:cNvSpPr/>
          <p:nvPr/>
        </p:nvSpPr>
        <p:spPr>
          <a:xfrm>
            <a:off x="5138928"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₹37</a:t>
            </a:r>
            <a:endParaRPr lang="en-US" sz="2300" dirty="0"/>
          </a:p>
        </p:txBody>
      </p:sp>
      <p:sp>
        <p:nvSpPr>
          <p:cNvPr id="32" name="Text 30"/>
          <p:cNvSpPr/>
          <p:nvPr/>
        </p:nvSpPr>
        <p:spPr>
          <a:xfrm>
            <a:off x="5138928"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MARGIN</a:t>
            </a:r>
            <a:endParaRPr lang="en-US" sz="900" dirty="0"/>
          </a:p>
        </p:txBody>
      </p:sp>
      <p:sp>
        <p:nvSpPr>
          <p:cNvPr id="33" name="Shape 31"/>
          <p:cNvSpPr/>
          <p:nvPr/>
        </p:nvSpPr>
        <p:spPr>
          <a:xfrm>
            <a:off x="2395728" y="4773168"/>
            <a:ext cx="804672" cy="292608"/>
          </a:xfrm>
          <a:prstGeom prst="roundRect">
            <a:avLst>
              <a:gd name="adj" fmla="val 50000"/>
            </a:avLst>
          </a:prstGeom>
          <a:solidFill>
            <a:srgbClr val="7C3AED"/>
          </a:solidFill>
          <a:ln w="12700">
            <a:solidFill>
              <a:srgbClr val="7C3AED">
                <a:alpha val="0"/>
              </a:srgbClr>
            </a:solidFill>
            <a:prstDash val="solid"/>
          </a:ln>
        </p:spPr>
      </p:sp>
      <p:sp>
        <p:nvSpPr>
          <p:cNvPr id="34" name="Text 32"/>
          <p:cNvSpPr/>
          <p:nvPr/>
        </p:nvSpPr>
        <p:spPr>
          <a:xfrm>
            <a:off x="2468880" y="4773168"/>
            <a:ext cx="658368"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XGBOOST</a:t>
            </a:r>
            <a:endParaRPr lang="en-US" sz="900" dirty="0"/>
          </a:p>
        </p:txBody>
      </p:sp>
      <p:sp>
        <p:nvSpPr>
          <p:cNvPr id="35" name="Shape 33"/>
          <p:cNvSpPr/>
          <p:nvPr/>
        </p:nvSpPr>
        <p:spPr>
          <a:xfrm>
            <a:off x="4599432" y="4773168"/>
            <a:ext cx="1554480" cy="292608"/>
          </a:xfrm>
          <a:prstGeom prst="roundRect">
            <a:avLst>
              <a:gd name="adj" fmla="val 50000"/>
            </a:avLst>
          </a:prstGeom>
          <a:solidFill>
            <a:srgbClr val="BEF264"/>
          </a:solidFill>
          <a:ln w="12700">
            <a:solidFill>
              <a:srgbClr val="BEF264">
                <a:alpha val="0"/>
              </a:srgbClr>
            </a:solidFill>
            <a:prstDash val="solid"/>
          </a:ln>
        </p:spPr>
      </p:sp>
      <p:sp>
        <p:nvSpPr>
          <p:cNvPr id="36" name="Text 34"/>
          <p:cNvSpPr/>
          <p:nvPr/>
        </p:nvSpPr>
        <p:spPr>
          <a:xfrm>
            <a:off x="4672584" y="4773168"/>
            <a:ext cx="1408176" cy="292608"/>
          </a:xfrm>
          <a:prstGeom prst="rect">
            <a:avLst/>
          </a:prstGeom>
          <a:noFill/>
          <a:ln/>
        </p:spPr>
        <p:txBody>
          <a:bodyPr wrap="square" lIns="0" tIns="0" rIns="0" bIns="0" rtlCol="0" anchor="ctr">
            <a:normAutofit/>
          </a:bodyPr>
          <a:lstStyle/>
          <a:p>
            <a:pPr algn="ctr" indent="0" marL="0">
              <a:buNone/>
            </a:pPr>
            <a:r>
              <a:rPr lang="en-US" sz="900" b="1" dirty="0">
                <a:solidFill>
                  <a:srgbClr val="173D31"/>
                </a:solidFill>
                <a:latin typeface="Aptos" pitchFamily="34" charset="0"/>
                <a:ea typeface="Aptos" pitchFamily="34" charset="-122"/>
                <a:cs typeface="Aptos" pitchFamily="34" charset="-120"/>
              </a:rPr>
              <a:t>OWNER APPROVAL</a:t>
            </a:r>
            <a:endParaRPr lang="en-US" sz="900" dirty="0"/>
          </a:p>
        </p:txBody>
      </p:sp>
      <p:sp>
        <p:nvSpPr>
          <p:cNvPr id="37" name="Shape 35"/>
          <p:cNvSpPr/>
          <p:nvPr/>
        </p:nvSpPr>
        <p:spPr>
          <a:xfrm>
            <a:off x="7315200" y="1975104"/>
            <a:ext cx="4315968" cy="3913632"/>
          </a:xfrm>
          <a:prstGeom prst="roundRect">
            <a:avLst>
              <a:gd name="adj" fmla="val 6075"/>
            </a:avLst>
          </a:prstGeom>
          <a:solidFill>
            <a:srgbClr val="FFFFFF"/>
          </a:solidFill>
          <a:ln w="12700">
            <a:solidFill>
              <a:srgbClr val="D9E3DD"/>
            </a:solidFill>
            <a:prstDash val="solid"/>
          </a:ln>
          <a:effectLst>
            <a:outerShdw sx="100000" sy="100000" kx="0" ky="0" algn="bl" rotWithShape="0" blurRad="1.7189509497218795e+37" dist="3.437901899443759e+37" dir="4.5349632000000006e+44">
              <a:srgbClr val="0A241C">
                <a:alpha val="1.3e+44"/>
              </a:srgbClr>
            </a:outerShdw>
          </a:effectLst>
        </p:spPr>
      </p:sp>
      <p:sp>
        <p:nvSpPr>
          <p:cNvPr id="38" name="Text 36"/>
          <p:cNvSpPr/>
          <p:nvPr/>
        </p:nvSpPr>
        <p:spPr>
          <a:xfrm>
            <a:off x="7635240" y="2286000"/>
            <a:ext cx="2651760" cy="228600"/>
          </a:xfrm>
          <a:prstGeom prst="rect">
            <a:avLst/>
          </a:prstGeom>
          <a:noFill/>
          <a:ln/>
        </p:spPr>
        <p:txBody>
          <a:bodyPr wrap="square" lIns="0" tIns="0" rIns="0" bIns="0" rtlCol="0" anchor="ctr">
            <a:normAutofit/>
          </a:bodyPr>
          <a:lstStyle/>
          <a:p>
            <a:pPr algn="l" indent="0" marL="0">
              <a:buNone/>
            </a:pPr>
            <a:r>
              <a:rPr lang="en-US" sz="900" b="1" spc="130" kern="0" dirty="0">
                <a:solidFill>
                  <a:srgbClr val="10B981"/>
                </a:solidFill>
                <a:latin typeface="Aptos" pitchFamily="34" charset="0"/>
                <a:ea typeface="Aptos" pitchFamily="34" charset="-122"/>
                <a:cs typeface="Aptos" pitchFamily="34" charset="-120"/>
              </a:rPr>
              <a:t>CUSTOMER MARKETPLACE</a:t>
            </a:r>
            <a:endParaRPr lang="en-US" sz="900" dirty="0"/>
          </a:p>
        </p:txBody>
      </p:sp>
      <p:sp>
        <p:nvSpPr>
          <p:cNvPr id="39" name="Text 37"/>
          <p:cNvSpPr/>
          <p:nvPr/>
        </p:nvSpPr>
        <p:spPr>
          <a:xfrm>
            <a:off x="7635240" y="2651760"/>
            <a:ext cx="3337560" cy="365760"/>
          </a:xfrm>
          <a:prstGeom prst="rect">
            <a:avLst/>
          </a:prstGeom>
          <a:noFill/>
          <a:ln/>
        </p:spPr>
        <p:txBody>
          <a:bodyPr wrap="square" lIns="0" tIns="0" rIns="0" bIns="0" rtlCol="0" anchor="ctr">
            <a:normAutofit/>
          </a:bodyPr>
          <a:lstStyle/>
          <a:p>
            <a:pPr algn="l" indent="0" marL="0">
              <a:buNone/>
            </a:pPr>
            <a:r>
              <a:rPr lang="en-US" sz="2100" b="1" dirty="0">
                <a:solidFill>
                  <a:srgbClr val="15352C"/>
                </a:solidFill>
                <a:latin typeface="Aptos Display" pitchFamily="34" charset="0"/>
                <a:ea typeface="Aptos Display" pitchFamily="34" charset="-122"/>
                <a:cs typeface="Aptos Display" pitchFamily="34" charset="-120"/>
              </a:rPr>
              <a:t>Food worth saving today</a:t>
            </a:r>
            <a:endParaRPr lang="en-US" sz="2100" dirty="0"/>
          </a:p>
        </p:txBody>
      </p:sp>
      <p:sp>
        <p:nvSpPr>
          <p:cNvPr id="40" name="Shape 38"/>
          <p:cNvSpPr/>
          <p:nvPr/>
        </p:nvSpPr>
        <p:spPr>
          <a:xfrm>
            <a:off x="7635240" y="3273552"/>
            <a:ext cx="1536192" cy="1783080"/>
          </a:xfrm>
          <a:prstGeom prst="roundRect">
            <a:avLst>
              <a:gd name="adj" fmla="val 11905"/>
            </a:avLst>
          </a:prstGeom>
          <a:solidFill>
            <a:srgbClr val="DDF7E8"/>
          </a:solidFill>
          <a:ln w="12700">
            <a:solidFill>
              <a:srgbClr val="DDF7E8">
                <a:alpha val="0"/>
              </a:srgbClr>
            </a:solidFill>
            <a:prstDash val="solid"/>
          </a:ln>
        </p:spPr>
      </p:sp>
      <p:sp>
        <p:nvSpPr>
          <p:cNvPr id="41" name="Shape 39"/>
          <p:cNvSpPr/>
          <p:nvPr/>
        </p:nvSpPr>
        <p:spPr>
          <a:xfrm>
            <a:off x="8156448" y="3456432"/>
            <a:ext cx="493776" cy="493776"/>
          </a:xfrm>
          <a:prstGeom prst="ellipse">
            <a:avLst/>
          </a:prstGeom>
          <a:solidFill>
            <a:srgbClr val="FFFFFF"/>
          </a:solidFill>
          <a:ln w="12700">
            <a:solidFill>
              <a:srgbClr val="FFFFFF"/>
            </a:solidFill>
            <a:prstDash val="solid"/>
          </a:ln>
        </p:spPr>
      </p:sp>
      <p:sp>
        <p:nvSpPr>
          <p:cNvPr id="42" name="Text 40"/>
          <p:cNvSpPr/>
          <p:nvPr/>
        </p:nvSpPr>
        <p:spPr>
          <a:xfrm>
            <a:off x="8156448" y="3456432"/>
            <a:ext cx="493776" cy="493776"/>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M</a:t>
            </a:r>
            <a:endParaRPr lang="en-US" sz="1600" dirty="0"/>
          </a:p>
        </p:txBody>
      </p:sp>
      <p:sp>
        <p:nvSpPr>
          <p:cNvPr id="43" name="Text 41"/>
          <p:cNvSpPr/>
          <p:nvPr/>
        </p:nvSpPr>
        <p:spPr>
          <a:xfrm>
            <a:off x="7799832" y="4114800"/>
            <a:ext cx="1207008" cy="201168"/>
          </a:xfrm>
          <a:prstGeom prst="rect">
            <a:avLst/>
          </a:prstGeom>
          <a:noFill/>
          <a:ln/>
        </p:spPr>
        <p:txBody>
          <a:bodyPr wrap="square" lIns="0" tIns="0" rIns="0" bIns="0" rtlCol="0" anchor="ctr">
            <a:normAutofit/>
          </a:bodyPr>
          <a:lstStyle/>
          <a:p>
            <a:pPr algn="ctr" indent="0" marL="0">
              <a:buNone/>
            </a:pPr>
            <a:r>
              <a:rPr lang="en-US" sz="800" b="1" dirty="0">
                <a:solidFill>
                  <a:srgbClr val="10B981"/>
                </a:solidFill>
                <a:latin typeface="Aptos" pitchFamily="34" charset="0"/>
                <a:ea typeface="Aptos" pitchFamily="34" charset="-122"/>
                <a:cs typeface="Aptos" pitchFamily="34" charset="-120"/>
              </a:rPr>
              <a:t>15% OFF</a:t>
            </a:r>
            <a:endParaRPr lang="en-US" sz="800" dirty="0"/>
          </a:p>
        </p:txBody>
      </p:sp>
      <p:sp>
        <p:nvSpPr>
          <p:cNvPr id="44" name="Text 42"/>
          <p:cNvSpPr/>
          <p:nvPr/>
        </p:nvSpPr>
        <p:spPr>
          <a:xfrm>
            <a:off x="7799832" y="4416552"/>
            <a:ext cx="1207008" cy="201168"/>
          </a:xfrm>
          <a:prstGeom prst="rect">
            <a:avLst/>
          </a:prstGeom>
          <a:noFill/>
          <a:ln/>
        </p:spPr>
        <p:txBody>
          <a:bodyPr wrap="square" lIns="0" tIns="0" rIns="0" bIns="0" rtlCol="0" anchor="ctr">
            <a:normAutofit/>
          </a:bodyPr>
          <a:lstStyle/>
          <a:p>
            <a:pPr algn="ctr" indent="0" marL="0">
              <a:buNone/>
            </a:pPr>
            <a:r>
              <a:rPr lang="en-US" sz="1100" b="1" dirty="0">
                <a:solidFill>
                  <a:srgbClr val="15352C"/>
                </a:solidFill>
                <a:latin typeface="Aptos" pitchFamily="34" charset="0"/>
                <a:ea typeface="Aptos" pitchFamily="34" charset="-122"/>
                <a:cs typeface="Aptos" pitchFamily="34" charset="-120"/>
              </a:rPr>
              <a:t>Milk</a:t>
            </a:r>
            <a:endParaRPr lang="en-US" sz="1100" dirty="0"/>
          </a:p>
        </p:txBody>
      </p:sp>
      <p:sp>
        <p:nvSpPr>
          <p:cNvPr id="45" name="Text 43"/>
          <p:cNvSpPr/>
          <p:nvPr/>
        </p:nvSpPr>
        <p:spPr>
          <a:xfrm>
            <a:off x="7799832" y="4700016"/>
            <a:ext cx="1207008" cy="228600"/>
          </a:xfrm>
          <a:prstGeom prst="rect">
            <a:avLst/>
          </a:prstGeom>
          <a:noFill/>
          <a:ln/>
        </p:spPr>
        <p:txBody>
          <a:bodyPr wrap="square" lIns="0" tIns="0" rIns="0" bIns="0" rtlCol="0" anchor="ctr">
            <a:normAutofit/>
          </a:bodyPr>
          <a:lstStyle/>
          <a:p>
            <a:pPr algn="ctr" indent="0" marL="0">
              <a:buNone/>
            </a:pPr>
            <a:r>
              <a:rPr lang="en-US" sz="1500" b="1" dirty="0">
                <a:solidFill>
                  <a:srgbClr val="173D31"/>
                </a:solidFill>
                <a:latin typeface="Aptos" pitchFamily="34" charset="0"/>
                <a:ea typeface="Aptos" pitchFamily="34" charset="-122"/>
                <a:cs typeface="Aptos" pitchFamily="34" charset="-120"/>
              </a:rPr>
              <a:t>₹71</a:t>
            </a:r>
            <a:endParaRPr lang="en-US" sz="1500" dirty="0"/>
          </a:p>
        </p:txBody>
      </p:sp>
      <p:sp>
        <p:nvSpPr>
          <p:cNvPr id="46" name="Shape 44"/>
          <p:cNvSpPr/>
          <p:nvPr/>
        </p:nvSpPr>
        <p:spPr>
          <a:xfrm>
            <a:off x="9390888" y="3273552"/>
            <a:ext cx="1536192" cy="1783080"/>
          </a:xfrm>
          <a:prstGeom prst="roundRect">
            <a:avLst>
              <a:gd name="adj" fmla="val 11905"/>
            </a:avLst>
          </a:prstGeom>
          <a:solidFill>
            <a:srgbClr val="FFF0E7"/>
          </a:solidFill>
          <a:ln w="12700">
            <a:solidFill>
              <a:srgbClr val="FFF0E7">
                <a:alpha val="0"/>
              </a:srgbClr>
            </a:solidFill>
            <a:prstDash val="solid"/>
          </a:ln>
        </p:spPr>
      </p:sp>
      <p:sp>
        <p:nvSpPr>
          <p:cNvPr id="47" name="Shape 45"/>
          <p:cNvSpPr/>
          <p:nvPr/>
        </p:nvSpPr>
        <p:spPr>
          <a:xfrm>
            <a:off x="9912096" y="3456432"/>
            <a:ext cx="493776" cy="493776"/>
          </a:xfrm>
          <a:prstGeom prst="ellipse">
            <a:avLst/>
          </a:prstGeom>
          <a:solidFill>
            <a:srgbClr val="FFFFFF"/>
          </a:solidFill>
          <a:ln w="12700">
            <a:solidFill>
              <a:srgbClr val="FFFFFF"/>
            </a:solidFill>
            <a:prstDash val="solid"/>
          </a:ln>
        </p:spPr>
      </p:sp>
      <p:sp>
        <p:nvSpPr>
          <p:cNvPr id="48" name="Text 46"/>
          <p:cNvSpPr/>
          <p:nvPr/>
        </p:nvSpPr>
        <p:spPr>
          <a:xfrm>
            <a:off x="9912096" y="3456432"/>
            <a:ext cx="493776" cy="493776"/>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S</a:t>
            </a:r>
            <a:endParaRPr lang="en-US" sz="1600" dirty="0"/>
          </a:p>
        </p:txBody>
      </p:sp>
      <p:sp>
        <p:nvSpPr>
          <p:cNvPr id="49" name="Text 47"/>
          <p:cNvSpPr/>
          <p:nvPr/>
        </p:nvSpPr>
        <p:spPr>
          <a:xfrm>
            <a:off x="9555480" y="4114800"/>
            <a:ext cx="1207008" cy="201168"/>
          </a:xfrm>
          <a:prstGeom prst="rect">
            <a:avLst/>
          </a:prstGeom>
          <a:noFill/>
          <a:ln/>
        </p:spPr>
        <p:txBody>
          <a:bodyPr wrap="square" lIns="0" tIns="0" rIns="0" bIns="0" rtlCol="0" anchor="ctr">
            <a:normAutofit/>
          </a:bodyPr>
          <a:lstStyle/>
          <a:p>
            <a:pPr algn="ctr" indent="0" marL="0">
              <a:buNone/>
            </a:pPr>
            <a:r>
              <a:rPr lang="en-US" sz="800" b="1" dirty="0">
                <a:solidFill>
                  <a:srgbClr val="F97316"/>
                </a:solidFill>
                <a:latin typeface="Aptos" pitchFamily="34" charset="0"/>
                <a:ea typeface="Aptos" pitchFamily="34" charset="-122"/>
                <a:cs typeface="Aptos" pitchFamily="34" charset="-120"/>
              </a:rPr>
              <a:t>25% OFF</a:t>
            </a:r>
            <a:endParaRPr lang="en-US" sz="800" dirty="0"/>
          </a:p>
        </p:txBody>
      </p:sp>
      <p:sp>
        <p:nvSpPr>
          <p:cNvPr id="50" name="Text 48"/>
          <p:cNvSpPr/>
          <p:nvPr/>
        </p:nvSpPr>
        <p:spPr>
          <a:xfrm>
            <a:off x="9555480" y="4416552"/>
            <a:ext cx="1207008" cy="201168"/>
          </a:xfrm>
          <a:prstGeom prst="rect">
            <a:avLst/>
          </a:prstGeom>
          <a:noFill/>
          <a:ln/>
        </p:spPr>
        <p:txBody>
          <a:bodyPr wrap="square" lIns="0" tIns="0" rIns="0" bIns="0" rtlCol="0" anchor="ctr">
            <a:normAutofit/>
          </a:bodyPr>
          <a:lstStyle/>
          <a:p>
            <a:pPr algn="ctr" indent="0" marL="0">
              <a:buNone/>
            </a:pPr>
            <a:r>
              <a:rPr lang="en-US" sz="1100" b="1" dirty="0">
                <a:solidFill>
                  <a:srgbClr val="15352C"/>
                </a:solidFill>
                <a:latin typeface="Aptos" pitchFamily="34" charset="0"/>
                <a:ea typeface="Aptos" pitchFamily="34" charset="-122"/>
                <a:cs typeface="Aptos" pitchFamily="34" charset="-120"/>
              </a:rPr>
              <a:t>Spinach</a:t>
            </a:r>
            <a:endParaRPr lang="en-US" sz="1100" dirty="0"/>
          </a:p>
        </p:txBody>
      </p:sp>
      <p:sp>
        <p:nvSpPr>
          <p:cNvPr id="51" name="Text 49"/>
          <p:cNvSpPr/>
          <p:nvPr/>
        </p:nvSpPr>
        <p:spPr>
          <a:xfrm>
            <a:off x="9555480" y="4700016"/>
            <a:ext cx="1207008" cy="228600"/>
          </a:xfrm>
          <a:prstGeom prst="rect">
            <a:avLst/>
          </a:prstGeom>
          <a:noFill/>
          <a:ln/>
        </p:spPr>
        <p:txBody>
          <a:bodyPr wrap="square" lIns="0" tIns="0" rIns="0" bIns="0" rtlCol="0" anchor="ctr">
            <a:normAutofit/>
          </a:bodyPr>
          <a:lstStyle/>
          <a:p>
            <a:pPr algn="ctr" indent="0" marL="0">
              <a:buNone/>
            </a:pPr>
            <a:r>
              <a:rPr lang="en-US" sz="1500" b="1" dirty="0">
                <a:solidFill>
                  <a:srgbClr val="173D31"/>
                </a:solidFill>
                <a:latin typeface="Aptos" pitchFamily="34" charset="0"/>
                <a:ea typeface="Aptos" pitchFamily="34" charset="-122"/>
                <a:cs typeface="Aptos" pitchFamily="34" charset="-120"/>
              </a:rPr>
              <a:t>₹53</a:t>
            </a:r>
            <a:endParaRPr lang="en-US" sz="1500" dirty="0"/>
          </a:p>
        </p:txBody>
      </p:sp>
      <p:sp>
        <p:nvSpPr>
          <p:cNvPr id="52" name="Shape 50"/>
          <p:cNvSpPr/>
          <p:nvPr/>
        </p:nvSpPr>
        <p:spPr>
          <a:xfrm>
            <a:off x="7635240" y="5285232"/>
            <a:ext cx="3291840" cy="329184"/>
          </a:xfrm>
          <a:prstGeom prst="roundRect">
            <a:avLst>
              <a:gd name="adj" fmla="val 33333"/>
            </a:avLst>
          </a:prstGeom>
          <a:solidFill>
            <a:srgbClr val="10B981"/>
          </a:solidFill>
          <a:ln w="12700">
            <a:solidFill>
              <a:srgbClr val="10B981">
                <a:alpha val="0"/>
              </a:srgbClr>
            </a:solidFill>
            <a:prstDash val="solid"/>
          </a:ln>
        </p:spPr>
      </p:sp>
      <p:sp>
        <p:nvSpPr>
          <p:cNvPr id="53" name="Text 51"/>
          <p:cNvSpPr/>
          <p:nvPr/>
        </p:nvSpPr>
        <p:spPr>
          <a:xfrm>
            <a:off x="7790688" y="5285232"/>
            <a:ext cx="2971800" cy="329184"/>
          </a:xfrm>
          <a:prstGeom prst="rect">
            <a:avLst/>
          </a:prstGeom>
          <a:noFill/>
          <a:ln/>
        </p:spPr>
        <p:txBody>
          <a:bodyPr wrap="square" lIns="0" tIns="0" rIns="0" bIns="0" rtlCol="0" anchor="ctr">
            <a:normAutofit/>
          </a:bodyPr>
          <a:lstStyle/>
          <a:p>
            <a:pPr algn="ctr" indent="0" marL="0">
              <a:buNone/>
            </a:pPr>
            <a:r>
              <a:rPr lang="en-US" sz="900" b="1" spc="80" kern="0" dirty="0">
                <a:solidFill>
                  <a:srgbClr val="FFFFFF"/>
                </a:solidFill>
                <a:latin typeface="Aptos" pitchFamily="34" charset="0"/>
                <a:ea typeface="Aptos" pitchFamily="34" charset="-122"/>
                <a:cs typeface="Aptos" pitchFamily="34" charset="-120"/>
              </a:rPr>
              <a:t>RESERVE FOR LOCAL PICKUP</a:t>
            </a:r>
            <a:endParaRPr lang="en-US" sz="900" dirty="0"/>
          </a:p>
        </p:txBody>
      </p:sp>
      <p:sp>
        <p:nvSpPr>
          <p:cNvPr id="54" name="Shape 52"/>
          <p:cNvSpPr/>
          <p:nvPr/>
        </p:nvSpPr>
        <p:spPr>
          <a:xfrm>
            <a:off x="502920" y="6419088"/>
            <a:ext cx="10744200" cy="0"/>
          </a:xfrm>
          <a:prstGeom prst="line">
            <a:avLst/>
          </a:prstGeom>
          <a:noFill/>
          <a:ln w="10160">
            <a:solidFill>
              <a:srgbClr val="D9E3DD"/>
            </a:solidFill>
            <a:prstDash val="solid"/>
          </a:ln>
        </p:spPr>
      </p:sp>
      <p:sp>
        <p:nvSpPr>
          <p:cNvPr id="55" name="Text 53"/>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56" name="Text 54"/>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User experience &amp; design</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HYBRID AI ARCHITECTURE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Use AI for uncertainty. Use policy for control.</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Prediction, optimization, generation, and human review are intentionally separated.</a:t>
            </a:r>
            <a:endParaRPr lang="en-US" sz="1250" dirty="0"/>
          </a:p>
        </p:txBody>
      </p:sp>
      <p:sp>
        <p:nvSpPr>
          <p:cNvPr id="5" name="Shape 3"/>
          <p:cNvSpPr/>
          <p:nvPr/>
        </p:nvSpPr>
        <p:spPr>
          <a:xfrm>
            <a:off x="621792" y="2194560"/>
            <a:ext cx="2359152" cy="2606040"/>
          </a:xfrm>
          <a:prstGeom prst="roundRect">
            <a:avLst>
              <a:gd name="adj" fmla="val 9302"/>
            </a:avLst>
          </a:prstGeom>
          <a:solidFill>
            <a:srgbClr val="281E43"/>
          </a:solidFill>
          <a:ln w="12700">
            <a:solidFill>
              <a:srgbClr val="45685D"/>
            </a:solidFill>
            <a:prstDash val="solid"/>
          </a:ln>
        </p:spPr>
      </p:sp>
      <p:sp>
        <p:nvSpPr>
          <p:cNvPr id="6" name="Shape 4"/>
          <p:cNvSpPr/>
          <p:nvPr/>
        </p:nvSpPr>
        <p:spPr>
          <a:xfrm>
            <a:off x="841248" y="2468880"/>
            <a:ext cx="438912" cy="438912"/>
          </a:xfrm>
          <a:prstGeom prst="ellipse">
            <a:avLst/>
          </a:prstGeom>
          <a:solidFill>
            <a:srgbClr val="7C3AED"/>
          </a:solidFill>
          <a:ln w="12700">
            <a:solidFill>
              <a:srgbClr val="7C3AED"/>
            </a:solidFill>
            <a:prstDash val="solid"/>
          </a:ln>
        </p:spPr>
      </p:sp>
      <p:sp>
        <p:nvSpPr>
          <p:cNvPr id="7" name="Text 5"/>
          <p:cNvSpPr/>
          <p:nvPr/>
        </p:nvSpPr>
        <p:spPr>
          <a:xfrm>
            <a:off x="841248" y="2468880"/>
            <a:ext cx="438912" cy="43891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8" name="Text 6"/>
          <p:cNvSpPr/>
          <p:nvPr/>
        </p:nvSpPr>
        <p:spPr>
          <a:xfrm>
            <a:off x="1389888" y="2523744"/>
            <a:ext cx="1170432" cy="182880"/>
          </a:xfrm>
          <a:prstGeom prst="rect">
            <a:avLst/>
          </a:prstGeom>
          <a:noFill/>
          <a:ln/>
        </p:spPr>
        <p:txBody>
          <a:bodyPr wrap="square" lIns="0" tIns="0" rIns="0" bIns="0" rtlCol="0" anchor="ctr">
            <a:normAutofit/>
          </a:bodyPr>
          <a:lstStyle/>
          <a:p>
            <a:pPr algn="l" indent="0" marL="0">
              <a:buNone/>
            </a:pPr>
            <a:r>
              <a:rPr lang="en-US" sz="800" b="1" spc="120" kern="0" dirty="0">
                <a:solidFill>
                  <a:srgbClr val="7C3AED"/>
                </a:solidFill>
                <a:latin typeface="Aptos" pitchFamily="34" charset="0"/>
                <a:ea typeface="Aptos" pitchFamily="34" charset="-122"/>
                <a:cs typeface="Aptos" pitchFamily="34" charset="-120"/>
              </a:rPr>
              <a:t>MODEL</a:t>
            </a:r>
            <a:endParaRPr lang="en-US" sz="800" dirty="0"/>
          </a:p>
        </p:txBody>
      </p:sp>
      <p:sp>
        <p:nvSpPr>
          <p:cNvPr id="9" name="Text 7"/>
          <p:cNvSpPr/>
          <p:nvPr/>
        </p:nvSpPr>
        <p:spPr>
          <a:xfrm>
            <a:off x="841248" y="3127248"/>
            <a:ext cx="1901952" cy="365760"/>
          </a:xfrm>
          <a:prstGeom prst="rect">
            <a:avLst/>
          </a:prstGeom>
          <a:noFill/>
          <a:ln/>
        </p:spPr>
        <p:txBody>
          <a:bodyPr wrap="square" lIns="0" tIns="0" rIns="0" bIns="0" rtlCol="0" anchor="ctr">
            <a:normAutofit/>
          </a:bodyPr>
          <a:lstStyle/>
          <a:p>
            <a:pPr algn="l" indent="0" marL="0">
              <a:buNone/>
            </a:pPr>
            <a:r>
              <a:rPr lang="en-US" sz="2100" b="1" dirty="0">
                <a:solidFill>
                  <a:srgbClr val="FFFFFF"/>
                </a:solidFill>
                <a:latin typeface="Aptos Display" pitchFamily="34" charset="0"/>
                <a:ea typeface="Aptos Display" pitchFamily="34" charset="-122"/>
                <a:cs typeface="Aptos Display" pitchFamily="34" charset="-120"/>
              </a:rPr>
              <a:t>XGBoost</a:t>
            </a:r>
            <a:endParaRPr lang="en-US" sz="2100" dirty="0"/>
          </a:p>
        </p:txBody>
      </p:sp>
      <p:sp>
        <p:nvSpPr>
          <p:cNvPr id="10" name="Text 8"/>
          <p:cNvSpPr/>
          <p:nvPr/>
        </p:nvSpPr>
        <p:spPr>
          <a:xfrm>
            <a:off x="841248" y="3657600"/>
            <a:ext cx="1901952" cy="749808"/>
          </a:xfrm>
          <a:prstGeom prst="rect">
            <a:avLst/>
          </a:prstGeom>
          <a:noFill/>
          <a:ln/>
        </p:spPr>
        <p:txBody>
          <a:bodyPr wrap="square" lIns="0" tIns="0" rIns="0" bIns="0" rtlCol="0" anchor="t">
            <a:normAutofit/>
          </a:bodyPr>
          <a:lstStyle/>
          <a:p>
            <a:pPr algn="l" indent="0" marL="0">
              <a:buNone/>
            </a:pPr>
            <a:r>
              <a:rPr lang="en-US" sz="1150" dirty="0">
                <a:solidFill>
                  <a:srgbClr val="BBD0C8"/>
                </a:solidFill>
                <a:latin typeface="Aptos" pitchFamily="34" charset="0"/>
                <a:ea typeface="Aptos" pitchFamily="34" charset="-122"/>
                <a:cs typeface="Aptos" pitchFamily="34" charset="-120"/>
              </a:rPr>
              <a:t>Predicts low / expected / high sell-through for each candidate price.</a:t>
            </a:r>
            <a:endParaRPr lang="en-US" sz="1150" dirty="0"/>
          </a:p>
        </p:txBody>
      </p:sp>
      <p:sp>
        <p:nvSpPr>
          <p:cNvPr id="11" name="Shape 9"/>
          <p:cNvSpPr/>
          <p:nvPr/>
        </p:nvSpPr>
        <p:spPr>
          <a:xfrm>
            <a:off x="3090672" y="3319272"/>
            <a:ext cx="310896" cy="310896"/>
          </a:xfrm>
          <a:prstGeom prst="chevron">
            <a:avLst/>
          </a:prstGeom>
          <a:solidFill>
            <a:srgbClr val="BEF264"/>
          </a:solidFill>
          <a:ln w="12700">
            <a:solidFill>
              <a:srgbClr val="BEF264"/>
            </a:solidFill>
            <a:prstDash val="solid"/>
          </a:ln>
        </p:spPr>
      </p:sp>
      <p:sp>
        <p:nvSpPr>
          <p:cNvPr id="12" name="Shape 10"/>
          <p:cNvSpPr/>
          <p:nvPr/>
        </p:nvSpPr>
        <p:spPr>
          <a:xfrm>
            <a:off x="3456432" y="2194560"/>
            <a:ext cx="2359152" cy="2606040"/>
          </a:xfrm>
          <a:prstGeom prst="roundRect">
            <a:avLst>
              <a:gd name="adj" fmla="val 9302"/>
            </a:avLst>
          </a:prstGeom>
          <a:solidFill>
            <a:srgbClr val="4B2C1D"/>
          </a:solidFill>
          <a:ln w="12700">
            <a:solidFill>
              <a:srgbClr val="45685D"/>
            </a:solidFill>
            <a:prstDash val="solid"/>
          </a:ln>
        </p:spPr>
      </p:sp>
      <p:sp>
        <p:nvSpPr>
          <p:cNvPr id="13" name="Shape 11"/>
          <p:cNvSpPr/>
          <p:nvPr/>
        </p:nvSpPr>
        <p:spPr>
          <a:xfrm>
            <a:off x="3675888" y="2468880"/>
            <a:ext cx="438912" cy="438912"/>
          </a:xfrm>
          <a:prstGeom prst="ellipse">
            <a:avLst/>
          </a:prstGeom>
          <a:solidFill>
            <a:srgbClr val="F97316"/>
          </a:solidFill>
          <a:ln w="12700">
            <a:solidFill>
              <a:srgbClr val="F97316"/>
            </a:solidFill>
            <a:prstDash val="solid"/>
          </a:ln>
        </p:spPr>
      </p:sp>
      <p:sp>
        <p:nvSpPr>
          <p:cNvPr id="14" name="Text 12"/>
          <p:cNvSpPr/>
          <p:nvPr/>
        </p:nvSpPr>
        <p:spPr>
          <a:xfrm>
            <a:off x="3675888" y="2468880"/>
            <a:ext cx="438912" cy="43891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5" name="Text 13"/>
          <p:cNvSpPr/>
          <p:nvPr/>
        </p:nvSpPr>
        <p:spPr>
          <a:xfrm>
            <a:off x="4224528" y="2523744"/>
            <a:ext cx="1170432" cy="182880"/>
          </a:xfrm>
          <a:prstGeom prst="rect">
            <a:avLst/>
          </a:prstGeom>
          <a:noFill/>
          <a:ln/>
        </p:spPr>
        <p:txBody>
          <a:bodyPr wrap="square" lIns="0" tIns="0" rIns="0" bIns="0" rtlCol="0" anchor="ctr">
            <a:normAutofit/>
          </a:bodyPr>
          <a:lstStyle/>
          <a:p>
            <a:pPr algn="l" indent="0" marL="0">
              <a:buNone/>
            </a:pPr>
            <a:r>
              <a:rPr lang="en-US" sz="800" b="1" spc="120" kern="0" dirty="0">
                <a:solidFill>
                  <a:srgbClr val="F97316"/>
                </a:solidFill>
                <a:latin typeface="Aptos" pitchFamily="34" charset="0"/>
                <a:ea typeface="Aptos" pitchFamily="34" charset="-122"/>
                <a:cs typeface="Aptos" pitchFamily="34" charset="-120"/>
              </a:rPr>
              <a:t>POLICY</a:t>
            </a:r>
            <a:endParaRPr lang="en-US" sz="800" dirty="0"/>
          </a:p>
        </p:txBody>
      </p:sp>
      <p:sp>
        <p:nvSpPr>
          <p:cNvPr id="16" name="Text 14"/>
          <p:cNvSpPr/>
          <p:nvPr/>
        </p:nvSpPr>
        <p:spPr>
          <a:xfrm>
            <a:off x="3675888" y="3127248"/>
            <a:ext cx="1901952" cy="365760"/>
          </a:xfrm>
          <a:prstGeom prst="rect">
            <a:avLst/>
          </a:prstGeom>
          <a:noFill/>
          <a:ln/>
        </p:spPr>
        <p:txBody>
          <a:bodyPr wrap="square" lIns="0" tIns="0" rIns="0" bIns="0" rtlCol="0" anchor="ctr">
            <a:normAutofit/>
          </a:bodyPr>
          <a:lstStyle/>
          <a:p>
            <a:pPr algn="l" indent="0" marL="0">
              <a:buNone/>
            </a:pPr>
            <a:r>
              <a:rPr lang="en-US" sz="2100" b="1" dirty="0">
                <a:solidFill>
                  <a:srgbClr val="FFFFFF"/>
                </a:solidFill>
                <a:latin typeface="Aptos Display" pitchFamily="34" charset="0"/>
                <a:ea typeface="Aptos Display" pitchFamily="34" charset="-122"/>
                <a:cs typeface="Aptos Display" pitchFamily="34" charset="-120"/>
              </a:rPr>
              <a:t>Optimizer</a:t>
            </a:r>
            <a:endParaRPr lang="en-US" sz="2100" dirty="0"/>
          </a:p>
        </p:txBody>
      </p:sp>
      <p:sp>
        <p:nvSpPr>
          <p:cNvPr id="17" name="Text 15"/>
          <p:cNvSpPr/>
          <p:nvPr/>
        </p:nvSpPr>
        <p:spPr>
          <a:xfrm>
            <a:off x="3675888" y="3657600"/>
            <a:ext cx="1901952" cy="749808"/>
          </a:xfrm>
          <a:prstGeom prst="rect">
            <a:avLst/>
          </a:prstGeom>
          <a:noFill/>
          <a:ln/>
        </p:spPr>
        <p:txBody>
          <a:bodyPr wrap="square" lIns="0" tIns="0" rIns="0" bIns="0" rtlCol="0" anchor="t">
            <a:normAutofit/>
          </a:bodyPr>
          <a:lstStyle/>
          <a:p>
            <a:pPr algn="l" indent="0" marL="0">
              <a:buNone/>
            </a:pPr>
            <a:r>
              <a:rPr lang="en-US" sz="1150" dirty="0">
                <a:solidFill>
                  <a:srgbClr val="BBD0C8"/>
                </a:solidFill>
                <a:latin typeface="Aptos" pitchFamily="34" charset="0"/>
                <a:ea typeface="Aptos" pitchFamily="34" charset="-122"/>
                <a:cs typeface="Aptos" pitchFamily="34" charset="-120"/>
              </a:rPr>
              <a:t>Maximizes expected contribution under price floors and expiry rules.</a:t>
            </a:r>
            <a:endParaRPr lang="en-US" sz="1150" dirty="0"/>
          </a:p>
        </p:txBody>
      </p:sp>
      <p:sp>
        <p:nvSpPr>
          <p:cNvPr id="18" name="Shape 16"/>
          <p:cNvSpPr/>
          <p:nvPr/>
        </p:nvSpPr>
        <p:spPr>
          <a:xfrm>
            <a:off x="5925312" y="3319272"/>
            <a:ext cx="310896" cy="310896"/>
          </a:xfrm>
          <a:prstGeom prst="chevron">
            <a:avLst/>
          </a:prstGeom>
          <a:solidFill>
            <a:srgbClr val="BEF264"/>
          </a:solidFill>
          <a:ln w="12700">
            <a:solidFill>
              <a:srgbClr val="BEF264"/>
            </a:solidFill>
            <a:prstDash val="solid"/>
          </a:ln>
        </p:spPr>
      </p:sp>
      <p:sp>
        <p:nvSpPr>
          <p:cNvPr id="19" name="Shape 17"/>
          <p:cNvSpPr/>
          <p:nvPr/>
        </p:nvSpPr>
        <p:spPr>
          <a:xfrm>
            <a:off x="6291072" y="2194560"/>
            <a:ext cx="2359152" cy="2606040"/>
          </a:xfrm>
          <a:prstGeom prst="roundRect">
            <a:avLst>
              <a:gd name="adj" fmla="val 9302"/>
            </a:avLst>
          </a:prstGeom>
          <a:solidFill>
            <a:srgbClr val="193E33"/>
          </a:solidFill>
          <a:ln w="12700">
            <a:solidFill>
              <a:srgbClr val="45685D"/>
            </a:solidFill>
            <a:prstDash val="solid"/>
          </a:ln>
        </p:spPr>
      </p:sp>
      <p:sp>
        <p:nvSpPr>
          <p:cNvPr id="20" name="Shape 18"/>
          <p:cNvSpPr/>
          <p:nvPr/>
        </p:nvSpPr>
        <p:spPr>
          <a:xfrm>
            <a:off x="6510528" y="2468880"/>
            <a:ext cx="438912" cy="438912"/>
          </a:xfrm>
          <a:prstGeom prst="ellipse">
            <a:avLst/>
          </a:prstGeom>
          <a:solidFill>
            <a:srgbClr val="10B981"/>
          </a:solidFill>
          <a:ln w="12700">
            <a:solidFill>
              <a:srgbClr val="10B981"/>
            </a:solidFill>
            <a:prstDash val="solid"/>
          </a:ln>
        </p:spPr>
      </p:sp>
      <p:sp>
        <p:nvSpPr>
          <p:cNvPr id="21" name="Text 19"/>
          <p:cNvSpPr/>
          <p:nvPr/>
        </p:nvSpPr>
        <p:spPr>
          <a:xfrm>
            <a:off x="6510528" y="2468880"/>
            <a:ext cx="438912" cy="43891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2" name="Text 20"/>
          <p:cNvSpPr/>
          <p:nvPr/>
        </p:nvSpPr>
        <p:spPr>
          <a:xfrm>
            <a:off x="7059168" y="2523744"/>
            <a:ext cx="1170432" cy="182880"/>
          </a:xfrm>
          <a:prstGeom prst="rect">
            <a:avLst/>
          </a:prstGeom>
          <a:noFill/>
          <a:ln/>
        </p:spPr>
        <p:txBody>
          <a:bodyPr wrap="square" lIns="0" tIns="0" rIns="0" bIns="0" rtlCol="0" anchor="ctr">
            <a:normAutofit/>
          </a:bodyPr>
          <a:lstStyle/>
          <a:p>
            <a:pPr algn="l" indent="0" marL="0">
              <a:buNone/>
            </a:pPr>
            <a:r>
              <a:rPr lang="en-US" sz="800" b="1" spc="120" kern="0" dirty="0">
                <a:solidFill>
                  <a:srgbClr val="10B981"/>
                </a:solidFill>
                <a:latin typeface="Aptos" pitchFamily="34" charset="0"/>
                <a:ea typeface="Aptos" pitchFamily="34" charset="-122"/>
                <a:cs typeface="Aptos" pitchFamily="34" charset="-120"/>
              </a:rPr>
              <a:t>LANGUAGE</a:t>
            </a:r>
            <a:endParaRPr lang="en-US" sz="800" dirty="0"/>
          </a:p>
        </p:txBody>
      </p:sp>
      <p:sp>
        <p:nvSpPr>
          <p:cNvPr id="23" name="Text 21"/>
          <p:cNvSpPr/>
          <p:nvPr/>
        </p:nvSpPr>
        <p:spPr>
          <a:xfrm>
            <a:off x="6510528" y="3127248"/>
            <a:ext cx="1901952" cy="365760"/>
          </a:xfrm>
          <a:prstGeom prst="rect">
            <a:avLst/>
          </a:prstGeom>
          <a:noFill/>
          <a:ln/>
        </p:spPr>
        <p:txBody>
          <a:bodyPr wrap="square" lIns="0" tIns="0" rIns="0" bIns="0" rtlCol="0" anchor="ctr">
            <a:normAutofit/>
          </a:bodyPr>
          <a:lstStyle/>
          <a:p>
            <a:pPr algn="l" indent="0" marL="0">
              <a:buNone/>
            </a:pPr>
            <a:r>
              <a:rPr lang="en-US" sz="2100" b="1" dirty="0">
                <a:solidFill>
                  <a:srgbClr val="FFFFFF"/>
                </a:solidFill>
                <a:latin typeface="Aptos Display" pitchFamily="34" charset="0"/>
                <a:ea typeface="Aptos Display" pitchFamily="34" charset="-122"/>
                <a:cs typeface="Aptos Display" pitchFamily="34" charset="-120"/>
              </a:rPr>
              <a:t>Gemini adapter</a:t>
            </a:r>
            <a:endParaRPr lang="en-US" sz="2100" dirty="0"/>
          </a:p>
        </p:txBody>
      </p:sp>
      <p:sp>
        <p:nvSpPr>
          <p:cNvPr id="24" name="Text 22"/>
          <p:cNvSpPr/>
          <p:nvPr/>
        </p:nvSpPr>
        <p:spPr>
          <a:xfrm>
            <a:off x="6510528" y="3657600"/>
            <a:ext cx="1901952" cy="749808"/>
          </a:xfrm>
          <a:prstGeom prst="rect">
            <a:avLst/>
          </a:prstGeom>
          <a:noFill/>
          <a:ln/>
        </p:spPr>
        <p:txBody>
          <a:bodyPr wrap="square" lIns="0" tIns="0" rIns="0" bIns="0" rtlCol="0" anchor="t">
            <a:normAutofit/>
          </a:bodyPr>
          <a:lstStyle/>
          <a:p>
            <a:pPr algn="l" indent="0" marL="0">
              <a:buNone/>
            </a:pPr>
            <a:r>
              <a:rPr lang="en-US" sz="1150" dirty="0">
                <a:solidFill>
                  <a:srgbClr val="BBD0C8"/>
                </a:solidFill>
                <a:latin typeface="Aptos" pitchFamily="34" charset="0"/>
                <a:ea typeface="Aptos" pitchFamily="34" charset="-122"/>
                <a:cs typeface="Aptos" pitchFamily="34" charset="-120"/>
              </a:rPr>
              <a:t>Turns fixed evidence into manager rationale and campaign copy.</a:t>
            </a:r>
            <a:endParaRPr lang="en-US" sz="1150" dirty="0"/>
          </a:p>
        </p:txBody>
      </p:sp>
      <p:sp>
        <p:nvSpPr>
          <p:cNvPr id="25" name="Shape 23"/>
          <p:cNvSpPr/>
          <p:nvPr/>
        </p:nvSpPr>
        <p:spPr>
          <a:xfrm>
            <a:off x="8759952" y="3319272"/>
            <a:ext cx="310896" cy="310896"/>
          </a:xfrm>
          <a:prstGeom prst="chevron">
            <a:avLst/>
          </a:prstGeom>
          <a:solidFill>
            <a:srgbClr val="BEF264"/>
          </a:solidFill>
          <a:ln w="12700">
            <a:solidFill>
              <a:srgbClr val="BEF264"/>
            </a:solidFill>
            <a:prstDash val="solid"/>
          </a:ln>
        </p:spPr>
      </p:sp>
      <p:sp>
        <p:nvSpPr>
          <p:cNvPr id="26" name="Shape 24"/>
          <p:cNvSpPr/>
          <p:nvPr/>
        </p:nvSpPr>
        <p:spPr>
          <a:xfrm>
            <a:off x="9125712" y="2194560"/>
            <a:ext cx="2359152" cy="2606040"/>
          </a:xfrm>
          <a:prstGeom prst="roundRect">
            <a:avLst>
              <a:gd name="adj" fmla="val 9302"/>
            </a:avLst>
          </a:prstGeom>
          <a:solidFill>
            <a:srgbClr val="284A3F"/>
          </a:solidFill>
          <a:ln w="12700">
            <a:solidFill>
              <a:srgbClr val="45685D"/>
            </a:solidFill>
            <a:prstDash val="solid"/>
          </a:ln>
        </p:spPr>
      </p:sp>
      <p:sp>
        <p:nvSpPr>
          <p:cNvPr id="27" name="Shape 25"/>
          <p:cNvSpPr/>
          <p:nvPr/>
        </p:nvSpPr>
        <p:spPr>
          <a:xfrm>
            <a:off x="9345168" y="2468880"/>
            <a:ext cx="438912" cy="438912"/>
          </a:xfrm>
          <a:prstGeom prst="ellipse">
            <a:avLst/>
          </a:prstGeom>
          <a:solidFill>
            <a:srgbClr val="BEF264"/>
          </a:solidFill>
          <a:ln w="12700">
            <a:solidFill>
              <a:srgbClr val="BEF264"/>
            </a:solidFill>
            <a:prstDash val="solid"/>
          </a:ln>
        </p:spPr>
      </p:sp>
      <p:sp>
        <p:nvSpPr>
          <p:cNvPr id="28" name="Text 26"/>
          <p:cNvSpPr/>
          <p:nvPr/>
        </p:nvSpPr>
        <p:spPr>
          <a:xfrm>
            <a:off x="9345168" y="2468880"/>
            <a:ext cx="438912" cy="438912"/>
          </a:xfrm>
          <a:prstGeom prst="rect">
            <a:avLst/>
          </a:prstGeom>
          <a:noFill/>
          <a:ln/>
        </p:spPr>
        <p:txBody>
          <a:bodyPr wrap="square" lIns="0" tIns="0" rIns="0" bIns="0" rtlCol="0" anchor="ctr">
            <a:normAutofit/>
          </a:bodyPr>
          <a:lstStyle/>
          <a:p>
            <a:pPr algn="ctr" indent="0" marL="0">
              <a:buNone/>
            </a:pPr>
            <a:r>
              <a:rPr lang="en-US" sz="1300" b="1" dirty="0">
                <a:solidFill>
                  <a:srgbClr val="173D31"/>
                </a:solidFill>
                <a:latin typeface="Aptos" pitchFamily="34" charset="0"/>
                <a:ea typeface="Aptos" pitchFamily="34" charset="-122"/>
                <a:cs typeface="Aptos" pitchFamily="34" charset="-120"/>
              </a:rPr>
              <a:t>4</a:t>
            </a:r>
            <a:endParaRPr lang="en-US" sz="1300" dirty="0"/>
          </a:p>
        </p:txBody>
      </p:sp>
      <p:sp>
        <p:nvSpPr>
          <p:cNvPr id="29" name="Text 27"/>
          <p:cNvSpPr/>
          <p:nvPr/>
        </p:nvSpPr>
        <p:spPr>
          <a:xfrm>
            <a:off x="9893808" y="2523744"/>
            <a:ext cx="1170432" cy="182880"/>
          </a:xfrm>
          <a:prstGeom prst="rect">
            <a:avLst/>
          </a:prstGeom>
          <a:noFill/>
          <a:ln/>
        </p:spPr>
        <p:txBody>
          <a:bodyPr wrap="square" lIns="0" tIns="0" rIns="0" bIns="0" rtlCol="0" anchor="ctr">
            <a:normAutofit/>
          </a:bodyPr>
          <a:lstStyle/>
          <a:p>
            <a:pPr algn="l" indent="0" marL="0">
              <a:buNone/>
            </a:pPr>
            <a:r>
              <a:rPr lang="en-US" sz="800" b="1" spc="120" kern="0" dirty="0">
                <a:solidFill>
                  <a:srgbClr val="BEF264"/>
                </a:solidFill>
                <a:latin typeface="Aptos" pitchFamily="34" charset="0"/>
                <a:ea typeface="Aptos" pitchFamily="34" charset="-122"/>
                <a:cs typeface="Aptos" pitchFamily="34" charset="-120"/>
              </a:rPr>
              <a:t>CONTROL</a:t>
            </a:r>
            <a:endParaRPr lang="en-US" sz="800" dirty="0"/>
          </a:p>
        </p:txBody>
      </p:sp>
      <p:sp>
        <p:nvSpPr>
          <p:cNvPr id="30" name="Text 28"/>
          <p:cNvSpPr/>
          <p:nvPr/>
        </p:nvSpPr>
        <p:spPr>
          <a:xfrm>
            <a:off x="9345168" y="3127248"/>
            <a:ext cx="1901952" cy="365760"/>
          </a:xfrm>
          <a:prstGeom prst="rect">
            <a:avLst/>
          </a:prstGeom>
          <a:noFill/>
          <a:ln/>
        </p:spPr>
        <p:txBody>
          <a:bodyPr wrap="square" lIns="0" tIns="0" rIns="0" bIns="0" rtlCol="0" anchor="ctr">
            <a:normAutofit/>
          </a:bodyPr>
          <a:lstStyle/>
          <a:p>
            <a:pPr algn="l" indent="0" marL="0">
              <a:buNone/>
            </a:pPr>
            <a:r>
              <a:rPr lang="en-US" sz="2100" b="1" dirty="0">
                <a:solidFill>
                  <a:srgbClr val="FFFFFF"/>
                </a:solidFill>
                <a:latin typeface="Aptos Display" pitchFamily="34" charset="0"/>
                <a:ea typeface="Aptos Display" pitchFamily="34" charset="-122"/>
                <a:cs typeface="Aptos Display" pitchFamily="34" charset="-120"/>
              </a:rPr>
              <a:t>Owner approval</a:t>
            </a:r>
            <a:endParaRPr lang="en-US" sz="2100" dirty="0"/>
          </a:p>
        </p:txBody>
      </p:sp>
      <p:sp>
        <p:nvSpPr>
          <p:cNvPr id="31" name="Text 29"/>
          <p:cNvSpPr/>
          <p:nvPr/>
        </p:nvSpPr>
        <p:spPr>
          <a:xfrm>
            <a:off x="9345168" y="3657600"/>
            <a:ext cx="1901952" cy="749808"/>
          </a:xfrm>
          <a:prstGeom prst="rect">
            <a:avLst/>
          </a:prstGeom>
          <a:noFill/>
          <a:ln/>
        </p:spPr>
        <p:txBody>
          <a:bodyPr wrap="square" lIns="0" tIns="0" rIns="0" bIns="0" rtlCol="0" anchor="t">
            <a:normAutofit/>
          </a:bodyPr>
          <a:lstStyle/>
          <a:p>
            <a:pPr algn="l" indent="0" marL="0">
              <a:buNone/>
            </a:pPr>
            <a:r>
              <a:rPr lang="en-US" sz="1150" dirty="0">
                <a:solidFill>
                  <a:srgbClr val="BBD0C8"/>
                </a:solidFill>
                <a:latin typeface="Aptos" pitchFamily="34" charset="0"/>
                <a:ea typeface="Aptos" pitchFamily="34" charset="-122"/>
                <a:cs typeface="Aptos" pitchFamily="34" charset="-120"/>
              </a:rPr>
              <a:t>Publishes the price and activates opted-in shoppers.</a:t>
            </a:r>
            <a:endParaRPr lang="en-US" sz="1150" dirty="0"/>
          </a:p>
        </p:txBody>
      </p:sp>
      <p:sp>
        <p:nvSpPr>
          <p:cNvPr id="32" name="Shape 30"/>
          <p:cNvSpPr/>
          <p:nvPr/>
        </p:nvSpPr>
        <p:spPr>
          <a:xfrm>
            <a:off x="1097280" y="5257800"/>
            <a:ext cx="9985248" cy="530352"/>
          </a:xfrm>
          <a:prstGeom prst="roundRect">
            <a:avLst>
              <a:gd name="adj" fmla="val 27586"/>
            </a:avLst>
          </a:prstGeom>
          <a:solidFill>
            <a:srgbClr val="244E42"/>
          </a:solidFill>
          <a:ln w="12700">
            <a:solidFill>
              <a:srgbClr val="244E42">
                <a:alpha val="0"/>
              </a:srgbClr>
            </a:solidFill>
            <a:prstDash val="solid"/>
          </a:ln>
        </p:spPr>
      </p:sp>
      <p:sp>
        <p:nvSpPr>
          <p:cNvPr id="33" name="Text 31"/>
          <p:cNvSpPr/>
          <p:nvPr/>
        </p:nvSpPr>
        <p:spPr>
          <a:xfrm>
            <a:off x="1353312" y="5422392"/>
            <a:ext cx="1078992" cy="164592"/>
          </a:xfrm>
          <a:prstGeom prst="rect">
            <a:avLst/>
          </a:prstGeom>
          <a:noFill/>
          <a:ln/>
        </p:spPr>
        <p:txBody>
          <a:bodyPr wrap="square" lIns="0" tIns="0" rIns="0" bIns="0" rtlCol="0" anchor="ctr">
            <a:normAutofit/>
          </a:bodyPr>
          <a:lstStyle/>
          <a:p>
            <a:pPr algn="l" indent="0" marL="0">
              <a:buNone/>
            </a:pPr>
            <a:r>
              <a:rPr lang="en-US" sz="850" b="1" spc="100" kern="0" dirty="0">
                <a:solidFill>
                  <a:srgbClr val="BEF264"/>
                </a:solidFill>
                <a:latin typeface="Aptos" pitchFamily="34" charset="0"/>
                <a:ea typeface="Aptos" pitchFamily="34" charset="-122"/>
                <a:cs typeface="Aptos" pitchFamily="34" charset="-120"/>
              </a:rPr>
              <a:t>GEMINI CANNOT</a:t>
            </a:r>
            <a:endParaRPr lang="en-US" sz="850" dirty="0"/>
          </a:p>
        </p:txBody>
      </p:sp>
      <p:sp>
        <p:nvSpPr>
          <p:cNvPr id="34" name="Text 32"/>
          <p:cNvSpPr/>
          <p:nvPr/>
        </p:nvSpPr>
        <p:spPr>
          <a:xfrm>
            <a:off x="2514600" y="5367528"/>
            <a:ext cx="8092440" cy="274320"/>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change price  •  change expiry  •  override guardrails  •  consume customer identity</a:t>
            </a:r>
            <a:endParaRPr lang="en-US" sz="1100" dirty="0"/>
          </a:p>
        </p:txBody>
      </p:sp>
      <p:sp>
        <p:nvSpPr>
          <p:cNvPr id="35" name="Shape 33"/>
          <p:cNvSpPr/>
          <p:nvPr/>
        </p:nvSpPr>
        <p:spPr>
          <a:xfrm>
            <a:off x="640080" y="6035040"/>
            <a:ext cx="1143000" cy="292608"/>
          </a:xfrm>
          <a:prstGeom prst="roundRect">
            <a:avLst>
              <a:gd name="adj" fmla="val 50000"/>
            </a:avLst>
          </a:prstGeom>
          <a:solidFill>
            <a:srgbClr val="7C3AED"/>
          </a:solidFill>
          <a:ln w="12700">
            <a:solidFill>
              <a:srgbClr val="7C3AED">
                <a:alpha val="0"/>
              </a:srgbClr>
            </a:solidFill>
            <a:prstDash val="solid"/>
          </a:ln>
        </p:spPr>
      </p:sp>
      <p:sp>
        <p:nvSpPr>
          <p:cNvPr id="36" name="Text 34"/>
          <p:cNvSpPr/>
          <p:nvPr/>
        </p:nvSpPr>
        <p:spPr>
          <a:xfrm>
            <a:off x="713232" y="6035040"/>
            <a:ext cx="996696"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LIVE: XGBOOST</a:t>
            </a:r>
            <a:endParaRPr lang="en-US" sz="900" dirty="0"/>
          </a:p>
        </p:txBody>
      </p:sp>
      <p:sp>
        <p:nvSpPr>
          <p:cNvPr id="37" name="Shape 35"/>
          <p:cNvSpPr/>
          <p:nvPr/>
        </p:nvSpPr>
        <p:spPr>
          <a:xfrm>
            <a:off x="1938528" y="6035040"/>
            <a:ext cx="1965960" cy="292608"/>
          </a:xfrm>
          <a:prstGeom prst="roundRect">
            <a:avLst>
              <a:gd name="adj" fmla="val 50000"/>
            </a:avLst>
          </a:prstGeom>
          <a:solidFill>
            <a:srgbClr val="385E52"/>
          </a:solidFill>
          <a:ln w="12700">
            <a:solidFill>
              <a:srgbClr val="385E52">
                <a:alpha val="0"/>
              </a:srgbClr>
            </a:solidFill>
            <a:prstDash val="solid"/>
          </a:ln>
        </p:spPr>
      </p:sp>
      <p:sp>
        <p:nvSpPr>
          <p:cNvPr id="38" name="Text 36"/>
          <p:cNvSpPr/>
          <p:nvPr/>
        </p:nvSpPr>
        <p:spPr>
          <a:xfrm>
            <a:off x="2011680" y="6035040"/>
            <a:ext cx="1819656" cy="292608"/>
          </a:xfrm>
          <a:prstGeom prst="rect">
            <a:avLst/>
          </a:prstGeom>
          <a:noFill/>
          <a:ln/>
        </p:spPr>
        <p:txBody>
          <a:bodyPr wrap="square" lIns="0" tIns="0" rIns="0" bIns="0" rtlCol="0" anchor="ctr">
            <a:normAutofit/>
          </a:bodyPr>
          <a:lstStyle/>
          <a:p>
            <a:pPr algn="ctr" indent="0" marL="0">
              <a:buNone/>
            </a:pPr>
            <a:r>
              <a:rPr lang="en-US" sz="900" b="1" dirty="0">
                <a:solidFill>
                  <a:srgbClr val="D6E5DF"/>
                </a:solidFill>
                <a:latin typeface="Aptos" pitchFamily="34" charset="0"/>
                <a:ea typeface="Aptos" pitchFamily="34" charset="-122"/>
                <a:cs typeface="Aptos" pitchFamily="34" charset="-120"/>
              </a:rPr>
              <a:t>SAFE FALLBACK: TEMPLATE</a:t>
            </a:r>
            <a:endParaRPr lang="en-US" sz="900" dirty="0"/>
          </a:p>
        </p:txBody>
      </p:sp>
      <p:sp>
        <p:nvSpPr>
          <p:cNvPr id="39" name="Shape 37"/>
          <p:cNvSpPr/>
          <p:nvPr/>
        </p:nvSpPr>
        <p:spPr>
          <a:xfrm>
            <a:off x="502920" y="6419088"/>
            <a:ext cx="10744200" cy="0"/>
          </a:xfrm>
          <a:prstGeom prst="line">
            <a:avLst/>
          </a:prstGeom>
          <a:noFill/>
          <a:ln w="10160">
            <a:solidFill>
              <a:srgbClr val="406459"/>
            </a:solidFill>
            <a:prstDash val="solid"/>
          </a:ln>
        </p:spPr>
      </p:sp>
      <p:sp>
        <p:nvSpPr>
          <p:cNvPr id="40" name="Text 38"/>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41" name="Text 39"/>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Technical implementation</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MODEL EVIDENCE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The training path is real. The business claim is not yet.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Time-ordered validation on 4,000 explicitly synthetic rows proves the pipeline — not store impact.</a:t>
            </a:r>
            <a:endParaRPr lang="en-US" sz="1250" dirty="0"/>
          </a:p>
        </p:txBody>
      </p:sp>
      <p:sp>
        <p:nvSpPr>
          <p:cNvPr id="5" name="Shape 3"/>
          <p:cNvSpPr/>
          <p:nvPr/>
        </p:nvSpPr>
        <p:spPr>
          <a:xfrm>
            <a:off x="594360" y="2057400"/>
            <a:ext cx="5623560" cy="3611880"/>
          </a:xfrm>
          <a:prstGeom prst="roundRect">
            <a:avLst>
              <a:gd name="adj" fmla="val 6076"/>
            </a:avLst>
          </a:prstGeom>
          <a:solidFill>
            <a:srgbClr val="FFFFFF"/>
          </a:solidFill>
          <a:ln w="12700">
            <a:solidFill>
              <a:srgbClr val="D9E3DD"/>
            </a:solidFill>
            <a:prstDash val="solid"/>
          </a:ln>
          <a:effectLst>
            <a:outerShdw sx="100000" sy="100000" kx="0" ky="0" algn="bl" rotWithShape="0" blurRad="2.183067706146787e+41" dist="4.366135412293574e+41" dir="2.72097792e+49">
              <a:srgbClr val="0A241C">
                <a:alpha val="1.3e+49"/>
              </a:srgbClr>
            </a:outerShdw>
          </a:effectLst>
        </p:spPr>
      </p:sp>
      <p:sp>
        <p:nvSpPr>
          <p:cNvPr id="6" name="Text 4"/>
          <p:cNvSpPr/>
          <p:nvPr/>
        </p:nvSpPr>
        <p:spPr>
          <a:xfrm>
            <a:off x="896112" y="2359152"/>
            <a:ext cx="3383280" cy="228600"/>
          </a:xfrm>
          <a:prstGeom prst="rect">
            <a:avLst/>
          </a:prstGeom>
          <a:noFill/>
          <a:ln/>
        </p:spPr>
        <p:txBody>
          <a:bodyPr wrap="square" lIns="0" tIns="0" rIns="0" bIns="0" rtlCol="0" anchor="ctr">
            <a:normAutofit/>
          </a:bodyPr>
          <a:lstStyle/>
          <a:p>
            <a:pPr algn="l" indent="0" marL="0">
              <a:buNone/>
            </a:pPr>
            <a:r>
              <a:rPr lang="en-US" sz="900" b="1" spc="120" kern="0" dirty="0">
                <a:solidFill>
                  <a:srgbClr val="667D75"/>
                </a:solidFill>
                <a:latin typeface="Aptos" pitchFamily="34" charset="0"/>
                <a:ea typeface="Aptos" pitchFamily="34" charset="-122"/>
                <a:cs typeface="Aptos" pitchFamily="34" charset="-120"/>
              </a:rPr>
              <a:t>FORECAST ERROR — LOWER IS BETTER</a:t>
            </a:r>
            <a:endParaRPr lang="en-US" sz="900" dirty="0"/>
          </a:p>
        </p:txBody>
      </p:sp>
      <p:sp>
        <p:nvSpPr>
          <p:cNvPr id="7" name="Text 5"/>
          <p:cNvSpPr/>
          <p:nvPr/>
        </p:nvSpPr>
        <p:spPr>
          <a:xfrm>
            <a:off x="896112" y="2871216"/>
            <a:ext cx="594360" cy="228600"/>
          </a:xfrm>
          <a:prstGeom prst="rect">
            <a:avLst/>
          </a:prstGeom>
          <a:noFill/>
          <a:ln/>
        </p:spPr>
        <p:txBody>
          <a:bodyPr wrap="square" lIns="0" tIns="0" rIns="0" bIns="0" rtlCol="0" anchor="ctr">
            <a:normAutofit/>
          </a:bodyPr>
          <a:lstStyle/>
          <a:p>
            <a:pPr algn="l" indent="0" marL="0">
              <a:buNone/>
            </a:pPr>
            <a:r>
              <a:rPr lang="en-US" sz="1000" b="1" dirty="0">
                <a:solidFill>
                  <a:srgbClr val="15352C"/>
                </a:solidFill>
                <a:latin typeface="Aptos" pitchFamily="34" charset="0"/>
                <a:ea typeface="Aptos" pitchFamily="34" charset="-122"/>
                <a:cs typeface="Aptos" pitchFamily="34" charset="-120"/>
              </a:rPr>
              <a:t>MAE</a:t>
            </a:r>
            <a:endParaRPr lang="en-US" sz="1000" dirty="0"/>
          </a:p>
        </p:txBody>
      </p:sp>
      <p:sp>
        <p:nvSpPr>
          <p:cNvPr id="8" name="Text 6"/>
          <p:cNvSpPr/>
          <p:nvPr/>
        </p:nvSpPr>
        <p:spPr>
          <a:xfrm>
            <a:off x="1554480" y="2852928"/>
            <a:ext cx="1188720" cy="228600"/>
          </a:xfrm>
          <a:prstGeom prst="rect">
            <a:avLst/>
          </a:prstGeom>
          <a:noFill/>
          <a:ln/>
        </p:spPr>
        <p:txBody>
          <a:bodyPr wrap="square" lIns="0" tIns="0" rIns="0" bIns="0" rtlCol="0" anchor="ctr">
            <a:normAutofit/>
          </a:bodyPr>
          <a:lstStyle/>
          <a:p>
            <a:pPr algn="l" indent="0" marL="0">
              <a:buNone/>
            </a:pPr>
            <a:r>
              <a:rPr lang="en-US" sz="1000" dirty="0">
                <a:solidFill>
                  <a:srgbClr val="667D75"/>
                </a:solidFill>
                <a:latin typeface="Aptos" pitchFamily="34" charset="0"/>
                <a:ea typeface="Aptos" pitchFamily="34" charset="-122"/>
                <a:cs typeface="Aptos" pitchFamily="34" charset="-120"/>
              </a:rPr>
              <a:t>7-day velocity</a:t>
            </a:r>
            <a:endParaRPr lang="en-US" sz="1000" dirty="0"/>
          </a:p>
        </p:txBody>
      </p:sp>
      <p:sp>
        <p:nvSpPr>
          <p:cNvPr id="9" name="Shape 7"/>
          <p:cNvSpPr/>
          <p:nvPr/>
        </p:nvSpPr>
        <p:spPr>
          <a:xfrm>
            <a:off x="2788920" y="2862072"/>
            <a:ext cx="2514600" cy="246888"/>
          </a:xfrm>
          <a:prstGeom prst="roundRect">
            <a:avLst>
              <a:gd name="adj" fmla="val 37037"/>
            </a:avLst>
          </a:prstGeom>
          <a:solidFill>
            <a:srgbClr val="F97316"/>
          </a:solidFill>
          <a:ln w="12700">
            <a:solidFill>
              <a:srgbClr val="F97316">
                <a:alpha val="0"/>
              </a:srgbClr>
            </a:solidFill>
            <a:prstDash val="solid"/>
          </a:ln>
        </p:spPr>
      </p:sp>
      <p:sp>
        <p:nvSpPr>
          <p:cNvPr id="10" name="Text 8"/>
          <p:cNvSpPr/>
          <p:nvPr/>
        </p:nvSpPr>
        <p:spPr>
          <a:xfrm>
            <a:off x="5413248" y="2798064"/>
            <a:ext cx="530352" cy="347472"/>
          </a:xfrm>
          <a:prstGeom prst="rect">
            <a:avLst/>
          </a:prstGeom>
          <a:noFill/>
          <a:ln/>
        </p:spPr>
        <p:txBody>
          <a:bodyPr wrap="square" lIns="0" tIns="0" rIns="0" bIns="0" rtlCol="0" anchor="ctr">
            <a:normAutofit/>
          </a:bodyPr>
          <a:lstStyle/>
          <a:p>
            <a:pPr algn="r" indent="0" marL="0">
              <a:buNone/>
            </a:pPr>
            <a:r>
              <a:rPr lang="en-US" sz="1400" b="1" dirty="0">
                <a:solidFill>
                  <a:srgbClr val="F97316"/>
                </a:solidFill>
                <a:latin typeface="Aptos" pitchFamily="34" charset="0"/>
                <a:ea typeface="Aptos" pitchFamily="34" charset="-122"/>
                <a:cs typeface="Aptos" pitchFamily="34" charset="-120"/>
              </a:rPr>
              <a:t>6.332</a:t>
            </a:r>
            <a:endParaRPr lang="en-US" sz="1400" dirty="0"/>
          </a:p>
        </p:txBody>
      </p:sp>
      <p:sp>
        <p:nvSpPr>
          <p:cNvPr id="11" name="Text 9"/>
          <p:cNvSpPr/>
          <p:nvPr/>
        </p:nvSpPr>
        <p:spPr>
          <a:xfrm>
            <a:off x="1554480" y="3337560"/>
            <a:ext cx="1188720" cy="228600"/>
          </a:xfrm>
          <a:prstGeom prst="rect">
            <a:avLst/>
          </a:prstGeom>
          <a:noFill/>
          <a:ln/>
        </p:spPr>
        <p:txBody>
          <a:bodyPr wrap="square" lIns="0" tIns="0" rIns="0" bIns="0" rtlCol="0" anchor="ctr">
            <a:normAutofit/>
          </a:bodyPr>
          <a:lstStyle/>
          <a:p>
            <a:pPr algn="l" indent="0" marL="0">
              <a:buNone/>
            </a:pPr>
            <a:r>
              <a:rPr lang="en-US" sz="1000" b="1" dirty="0">
                <a:solidFill>
                  <a:srgbClr val="7C3AED"/>
                </a:solidFill>
                <a:latin typeface="Aptos" pitchFamily="34" charset="0"/>
                <a:ea typeface="Aptos" pitchFamily="34" charset="-122"/>
                <a:cs typeface="Aptos" pitchFamily="34" charset="-120"/>
              </a:rPr>
              <a:t>XGBoost</a:t>
            </a:r>
            <a:endParaRPr lang="en-US" sz="1000" dirty="0"/>
          </a:p>
        </p:txBody>
      </p:sp>
      <p:sp>
        <p:nvSpPr>
          <p:cNvPr id="12" name="Shape 10"/>
          <p:cNvSpPr/>
          <p:nvPr/>
        </p:nvSpPr>
        <p:spPr>
          <a:xfrm>
            <a:off x="2788920" y="3346704"/>
            <a:ext cx="832104" cy="246888"/>
          </a:xfrm>
          <a:prstGeom prst="roundRect">
            <a:avLst>
              <a:gd name="adj" fmla="val 37037"/>
            </a:avLst>
          </a:prstGeom>
          <a:solidFill>
            <a:srgbClr val="7C3AED"/>
          </a:solidFill>
          <a:ln w="12700">
            <a:solidFill>
              <a:srgbClr val="7C3AED">
                <a:alpha val="0"/>
              </a:srgbClr>
            </a:solidFill>
            <a:prstDash val="solid"/>
          </a:ln>
        </p:spPr>
      </p:sp>
      <p:sp>
        <p:nvSpPr>
          <p:cNvPr id="13" name="Text 11"/>
          <p:cNvSpPr/>
          <p:nvPr/>
        </p:nvSpPr>
        <p:spPr>
          <a:xfrm>
            <a:off x="5413248" y="3282696"/>
            <a:ext cx="530352" cy="347472"/>
          </a:xfrm>
          <a:prstGeom prst="rect">
            <a:avLst/>
          </a:prstGeom>
          <a:noFill/>
          <a:ln/>
        </p:spPr>
        <p:txBody>
          <a:bodyPr wrap="square" lIns="0" tIns="0" rIns="0" bIns="0" rtlCol="0" anchor="ctr">
            <a:normAutofit/>
          </a:bodyPr>
          <a:lstStyle/>
          <a:p>
            <a:pPr algn="r" indent="0" marL="0">
              <a:buNone/>
            </a:pPr>
            <a:r>
              <a:rPr lang="en-US" sz="1400" b="1" dirty="0">
                <a:solidFill>
                  <a:srgbClr val="7C3AED"/>
                </a:solidFill>
                <a:latin typeface="Aptos" pitchFamily="34" charset="0"/>
                <a:ea typeface="Aptos" pitchFamily="34" charset="-122"/>
                <a:cs typeface="Aptos" pitchFamily="34" charset="-120"/>
              </a:rPr>
              <a:t>2.097</a:t>
            </a:r>
            <a:endParaRPr lang="en-US" sz="1400" dirty="0"/>
          </a:p>
        </p:txBody>
      </p:sp>
      <p:sp>
        <p:nvSpPr>
          <p:cNvPr id="14" name="Shape 12"/>
          <p:cNvSpPr/>
          <p:nvPr/>
        </p:nvSpPr>
        <p:spPr>
          <a:xfrm>
            <a:off x="896112" y="3913632"/>
            <a:ext cx="5010912" cy="0"/>
          </a:xfrm>
          <a:prstGeom prst="line">
            <a:avLst/>
          </a:prstGeom>
          <a:noFill/>
          <a:ln w="15240">
            <a:solidFill>
              <a:srgbClr val="D9E3DD"/>
            </a:solidFill>
            <a:prstDash val="solid"/>
          </a:ln>
        </p:spPr>
      </p:sp>
      <p:sp>
        <p:nvSpPr>
          <p:cNvPr id="15" name="Text 13"/>
          <p:cNvSpPr/>
          <p:nvPr/>
        </p:nvSpPr>
        <p:spPr>
          <a:xfrm>
            <a:off x="896112" y="4224528"/>
            <a:ext cx="594360" cy="228600"/>
          </a:xfrm>
          <a:prstGeom prst="rect">
            <a:avLst/>
          </a:prstGeom>
          <a:noFill/>
          <a:ln/>
        </p:spPr>
        <p:txBody>
          <a:bodyPr wrap="square" lIns="0" tIns="0" rIns="0" bIns="0" rtlCol="0" anchor="ctr">
            <a:normAutofit/>
          </a:bodyPr>
          <a:lstStyle/>
          <a:p>
            <a:pPr algn="l" indent="0" marL="0">
              <a:buNone/>
            </a:pPr>
            <a:r>
              <a:rPr lang="en-US" sz="1000" b="1" dirty="0">
                <a:solidFill>
                  <a:srgbClr val="15352C"/>
                </a:solidFill>
                <a:latin typeface="Aptos" pitchFamily="34" charset="0"/>
                <a:ea typeface="Aptos" pitchFamily="34" charset="-122"/>
                <a:cs typeface="Aptos" pitchFamily="34" charset="-120"/>
              </a:rPr>
              <a:t>WAPE</a:t>
            </a:r>
            <a:endParaRPr lang="en-US" sz="1000" dirty="0"/>
          </a:p>
        </p:txBody>
      </p:sp>
      <p:sp>
        <p:nvSpPr>
          <p:cNvPr id="16" name="Text 14"/>
          <p:cNvSpPr/>
          <p:nvPr/>
        </p:nvSpPr>
        <p:spPr>
          <a:xfrm>
            <a:off x="1554480" y="4215384"/>
            <a:ext cx="1188720" cy="228600"/>
          </a:xfrm>
          <a:prstGeom prst="rect">
            <a:avLst/>
          </a:prstGeom>
          <a:noFill/>
          <a:ln/>
        </p:spPr>
        <p:txBody>
          <a:bodyPr wrap="square" lIns="0" tIns="0" rIns="0" bIns="0" rtlCol="0" anchor="ctr">
            <a:normAutofit/>
          </a:bodyPr>
          <a:lstStyle/>
          <a:p>
            <a:pPr algn="l" indent="0" marL="0">
              <a:buNone/>
            </a:pPr>
            <a:r>
              <a:rPr lang="en-US" sz="1000" dirty="0">
                <a:solidFill>
                  <a:srgbClr val="667D75"/>
                </a:solidFill>
                <a:latin typeface="Aptos" pitchFamily="34" charset="0"/>
                <a:ea typeface="Aptos" pitchFamily="34" charset="-122"/>
                <a:cs typeface="Aptos" pitchFamily="34" charset="-120"/>
              </a:rPr>
              <a:t>7-day velocity</a:t>
            </a:r>
            <a:endParaRPr lang="en-US" sz="1000" dirty="0"/>
          </a:p>
        </p:txBody>
      </p:sp>
      <p:sp>
        <p:nvSpPr>
          <p:cNvPr id="17" name="Shape 15"/>
          <p:cNvSpPr/>
          <p:nvPr/>
        </p:nvSpPr>
        <p:spPr>
          <a:xfrm>
            <a:off x="2788920" y="4224528"/>
            <a:ext cx="2514600" cy="246888"/>
          </a:xfrm>
          <a:prstGeom prst="roundRect">
            <a:avLst>
              <a:gd name="adj" fmla="val 37037"/>
            </a:avLst>
          </a:prstGeom>
          <a:solidFill>
            <a:srgbClr val="F97316"/>
          </a:solidFill>
          <a:ln w="12700">
            <a:solidFill>
              <a:srgbClr val="F97316">
                <a:alpha val="0"/>
              </a:srgbClr>
            </a:solidFill>
            <a:prstDash val="solid"/>
          </a:ln>
        </p:spPr>
      </p:sp>
      <p:sp>
        <p:nvSpPr>
          <p:cNvPr id="18" name="Text 16"/>
          <p:cNvSpPr/>
          <p:nvPr/>
        </p:nvSpPr>
        <p:spPr>
          <a:xfrm>
            <a:off x="5349240" y="4160520"/>
            <a:ext cx="594360" cy="347472"/>
          </a:xfrm>
          <a:prstGeom prst="rect">
            <a:avLst/>
          </a:prstGeom>
          <a:noFill/>
          <a:ln/>
        </p:spPr>
        <p:txBody>
          <a:bodyPr wrap="square" lIns="0" tIns="0" rIns="0" bIns="0" rtlCol="0" anchor="ctr">
            <a:normAutofit/>
          </a:bodyPr>
          <a:lstStyle/>
          <a:p>
            <a:pPr algn="r" indent="0" marL="0">
              <a:buNone/>
            </a:pPr>
            <a:r>
              <a:rPr lang="en-US" sz="1400" b="1" dirty="0">
                <a:solidFill>
                  <a:srgbClr val="F97316"/>
                </a:solidFill>
                <a:latin typeface="Aptos" pitchFamily="34" charset="0"/>
                <a:ea typeface="Aptos" pitchFamily="34" charset="-122"/>
                <a:cs typeface="Aptos" pitchFamily="34" charset="-120"/>
              </a:rPr>
              <a:t>27.9%</a:t>
            </a:r>
            <a:endParaRPr lang="en-US" sz="1400" dirty="0"/>
          </a:p>
        </p:txBody>
      </p:sp>
      <p:sp>
        <p:nvSpPr>
          <p:cNvPr id="19" name="Text 17"/>
          <p:cNvSpPr/>
          <p:nvPr/>
        </p:nvSpPr>
        <p:spPr>
          <a:xfrm>
            <a:off x="1554480" y="4709160"/>
            <a:ext cx="1188720" cy="228600"/>
          </a:xfrm>
          <a:prstGeom prst="rect">
            <a:avLst/>
          </a:prstGeom>
          <a:noFill/>
          <a:ln/>
        </p:spPr>
        <p:txBody>
          <a:bodyPr wrap="square" lIns="0" tIns="0" rIns="0" bIns="0" rtlCol="0" anchor="ctr">
            <a:normAutofit/>
          </a:bodyPr>
          <a:lstStyle/>
          <a:p>
            <a:pPr algn="l" indent="0" marL="0">
              <a:buNone/>
            </a:pPr>
            <a:r>
              <a:rPr lang="en-US" sz="1000" b="1" dirty="0">
                <a:solidFill>
                  <a:srgbClr val="7C3AED"/>
                </a:solidFill>
                <a:latin typeface="Aptos" pitchFamily="34" charset="0"/>
                <a:ea typeface="Aptos" pitchFamily="34" charset="-122"/>
                <a:cs typeface="Aptos" pitchFamily="34" charset="-120"/>
              </a:rPr>
              <a:t>XGBoost</a:t>
            </a:r>
            <a:endParaRPr lang="en-US" sz="1000" dirty="0"/>
          </a:p>
        </p:txBody>
      </p:sp>
      <p:sp>
        <p:nvSpPr>
          <p:cNvPr id="20" name="Shape 18"/>
          <p:cNvSpPr/>
          <p:nvPr/>
        </p:nvSpPr>
        <p:spPr>
          <a:xfrm>
            <a:off x="2788920" y="4718304"/>
            <a:ext cx="832104" cy="246888"/>
          </a:xfrm>
          <a:prstGeom prst="roundRect">
            <a:avLst>
              <a:gd name="adj" fmla="val 37037"/>
            </a:avLst>
          </a:prstGeom>
          <a:solidFill>
            <a:srgbClr val="7C3AED"/>
          </a:solidFill>
          <a:ln w="12700">
            <a:solidFill>
              <a:srgbClr val="7C3AED">
                <a:alpha val="0"/>
              </a:srgbClr>
            </a:solidFill>
            <a:prstDash val="solid"/>
          </a:ln>
        </p:spPr>
      </p:sp>
      <p:sp>
        <p:nvSpPr>
          <p:cNvPr id="21" name="Text 19"/>
          <p:cNvSpPr/>
          <p:nvPr/>
        </p:nvSpPr>
        <p:spPr>
          <a:xfrm>
            <a:off x="5349240" y="4654296"/>
            <a:ext cx="594360" cy="347472"/>
          </a:xfrm>
          <a:prstGeom prst="rect">
            <a:avLst/>
          </a:prstGeom>
          <a:noFill/>
          <a:ln/>
        </p:spPr>
        <p:txBody>
          <a:bodyPr wrap="square" lIns="0" tIns="0" rIns="0" bIns="0" rtlCol="0" anchor="ctr">
            <a:normAutofit/>
          </a:bodyPr>
          <a:lstStyle/>
          <a:p>
            <a:pPr algn="r" indent="0" marL="0">
              <a:buNone/>
            </a:pPr>
            <a:r>
              <a:rPr lang="en-US" sz="1400" b="1" dirty="0">
                <a:solidFill>
                  <a:srgbClr val="7C3AED"/>
                </a:solidFill>
                <a:latin typeface="Aptos" pitchFamily="34" charset="0"/>
                <a:ea typeface="Aptos" pitchFamily="34" charset="-122"/>
                <a:cs typeface="Aptos" pitchFamily="34" charset="-120"/>
              </a:rPr>
              <a:t>9.2%</a:t>
            </a:r>
            <a:endParaRPr lang="en-US" sz="1400" dirty="0"/>
          </a:p>
        </p:txBody>
      </p:sp>
      <p:sp>
        <p:nvSpPr>
          <p:cNvPr id="22" name="Shape 20"/>
          <p:cNvSpPr/>
          <p:nvPr/>
        </p:nvSpPr>
        <p:spPr>
          <a:xfrm>
            <a:off x="6446520" y="2057400"/>
            <a:ext cx="5120640" cy="3611880"/>
          </a:xfrm>
          <a:prstGeom prst="roundRect">
            <a:avLst>
              <a:gd name="adj" fmla="val 6076"/>
            </a:avLst>
          </a:prstGeom>
          <a:solidFill>
            <a:srgbClr val="173D31"/>
          </a:solidFill>
          <a:ln w="12700">
            <a:solidFill>
              <a:srgbClr val="173D31">
                <a:alpha val="0"/>
              </a:srgbClr>
            </a:solidFill>
            <a:prstDash val="solid"/>
          </a:ln>
          <a:effectLst>
            <a:outerShdw sx="100000" sy="100000" kx="0" ky="0" algn="bl" rotWithShape="0" blurRad="2.7724959868064195e+45" dist="5.544991973612839e+45" dir="1.6325867520000003e+54">
              <a:srgbClr val="0A241C">
                <a:alpha val="1.2999999999999999e+54"/>
              </a:srgbClr>
            </a:outerShdw>
          </a:effectLst>
        </p:spPr>
      </p:sp>
      <p:sp>
        <p:nvSpPr>
          <p:cNvPr id="23" name="Shape 21"/>
          <p:cNvSpPr/>
          <p:nvPr/>
        </p:nvSpPr>
        <p:spPr>
          <a:xfrm>
            <a:off x="6784848" y="2359152"/>
            <a:ext cx="1554480" cy="292608"/>
          </a:xfrm>
          <a:prstGeom prst="roundRect">
            <a:avLst>
              <a:gd name="adj" fmla="val 50000"/>
            </a:avLst>
          </a:prstGeom>
          <a:solidFill>
            <a:srgbClr val="2B5548"/>
          </a:solidFill>
          <a:ln w="12700">
            <a:solidFill>
              <a:srgbClr val="2B5548">
                <a:alpha val="0"/>
              </a:srgbClr>
            </a:solidFill>
            <a:prstDash val="solid"/>
          </a:ln>
        </p:spPr>
      </p:sp>
      <p:sp>
        <p:nvSpPr>
          <p:cNvPr id="24" name="Text 22"/>
          <p:cNvSpPr/>
          <p:nvPr/>
        </p:nvSpPr>
        <p:spPr>
          <a:xfrm>
            <a:off x="6858000" y="2359152"/>
            <a:ext cx="140817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EXPLAINABLE OUTPUT</a:t>
            </a:r>
            <a:endParaRPr lang="en-US" sz="900" dirty="0"/>
          </a:p>
        </p:txBody>
      </p:sp>
      <p:sp>
        <p:nvSpPr>
          <p:cNvPr id="25" name="Text 23"/>
          <p:cNvSpPr/>
          <p:nvPr/>
        </p:nvSpPr>
        <p:spPr>
          <a:xfrm>
            <a:off x="6784848" y="2852928"/>
            <a:ext cx="3246120" cy="347472"/>
          </a:xfrm>
          <a:prstGeom prst="rect">
            <a:avLst/>
          </a:prstGeom>
          <a:noFill/>
          <a:ln/>
        </p:spPr>
        <p:txBody>
          <a:bodyPr wrap="square" lIns="0" tIns="0" rIns="0" bIns="0" rtlCol="0" anchor="ctr">
            <a:normAutofit/>
          </a:bodyPr>
          <a:lstStyle/>
          <a:p>
            <a:pPr algn="l" indent="0" marL="0">
              <a:buNone/>
            </a:pPr>
            <a:r>
              <a:rPr lang="en-US" sz="2200" b="1" dirty="0">
                <a:solidFill>
                  <a:srgbClr val="FFFFFF"/>
                </a:solidFill>
                <a:latin typeface="Aptos Display" pitchFamily="34" charset="0"/>
                <a:ea typeface="Aptos Display" pitchFamily="34" charset="-122"/>
                <a:cs typeface="Aptos Display" pitchFamily="34" charset="-120"/>
              </a:rPr>
              <a:t>One candidate prediction</a:t>
            </a:r>
            <a:endParaRPr lang="en-US" sz="2200" dirty="0"/>
          </a:p>
        </p:txBody>
      </p:sp>
      <p:sp>
        <p:nvSpPr>
          <p:cNvPr id="26" name="Shape 24"/>
          <p:cNvSpPr/>
          <p:nvPr/>
        </p:nvSpPr>
        <p:spPr>
          <a:xfrm>
            <a:off x="6784848"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27" name="Text 25"/>
          <p:cNvSpPr/>
          <p:nvPr/>
        </p:nvSpPr>
        <p:spPr>
          <a:xfrm>
            <a:off x="6949440"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0</a:t>
            </a:r>
            <a:endParaRPr lang="en-US" sz="2300" dirty="0"/>
          </a:p>
        </p:txBody>
      </p:sp>
      <p:sp>
        <p:nvSpPr>
          <p:cNvPr id="28" name="Text 26"/>
          <p:cNvSpPr/>
          <p:nvPr/>
        </p:nvSpPr>
        <p:spPr>
          <a:xfrm>
            <a:off x="6949440"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LOW</a:t>
            </a:r>
            <a:endParaRPr lang="en-US" sz="900" dirty="0"/>
          </a:p>
        </p:txBody>
      </p:sp>
      <p:sp>
        <p:nvSpPr>
          <p:cNvPr id="29" name="Shape 27"/>
          <p:cNvSpPr/>
          <p:nvPr/>
        </p:nvSpPr>
        <p:spPr>
          <a:xfrm>
            <a:off x="8229600"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30" name="Text 28"/>
          <p:cNvSpPr/>
          <p:nvPr/>
        </p:nvSpPr>
        <p:spPr>
          <a:xfrm>
            <a:off x="8394192"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2.6</a:t>
            </a:r>
            <a:endParaRPr lang="en-US" sz="2300" dirty="0"/>
          </a:p>
        </p:txBody>
      </p:sp>
      <p:sp>
        <p:nvSpPr>
          <p:cNvPr id="31" name="Text 29"/>
          <p:cNvSpPr/>
          <p:nvPr/>
        </p:nvSpPr>
        <p:spPr>
          <a:xfrm>
            <a:off x="8394192"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EXPECTED</a:t>
            </a:r>
            <a:endParaRPr lang="en-US" sz="900" dirty="0"/>
          </a:p>
        </p:txBody>
      </p:sp>
      <p:sp>
        <p:nvSpPr>
          <p:cNvPr id="32" name="Shape 30"/>
          <p:cNvSpPr/>
          <p:nvPr/>
        </p:nvSpPr>
        <p:spPr>
          <a:xfrm>
            <a:off x="9674352"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33" name="Text 31"/>
          <p:cNvSpPr/>
          <p:nvPr/>
        </p:nvSpPr>
        <p:spPr>
          <a:xfrm>
            <a:off x="9838944"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5.8</a:t>
            </a:r>
            <a:endParaRPr lang="en-US" sz="2300" dirty="0"/>
          </a:p>
        </p:txBody>
      </p:sp>
      <p:sp>
        <p:nvSpPr>
          <p:cNvPr id="34" name="Text 32"/>
          <p:cNvSpPr/>
          <p:nvPr/>
        </p:nvSpPr>
        <p:spPr>
          <a:xfrm>
            <a:off x="9838944"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HIGH</a:t>
            </a:r>
            <a:endParaRPr lang="en-US" sz="900" dirty="0"/>
          </a:p>
        </p:txBody>
      </p:sp>
      <p:sp>
        <p:nvSpPr>
          <p:cNvPr id="35" name="Text 33"/>
          <p:cNvSpPr/>
          <p:nvPr/>
        </p:nvSpPr>
        <p:spPr>
          <a:xfrm>
            <a:off x="6784848" y="4645152"/>
            <a:ext cx="2103120" cy="219456"/>
          </a:xfrm>
          <a:prstGeom prst="rect">
            <a:avLst/>
          </a:prstGeom>
          <a:noFill/>
          <a:ln/>
        </p:spPr>
        <p:txBody>
          <a:bodyPr wrap="square" lIns="0" tIns="0" rIns="0" bIns="0" rtlCol="0" anchor="ctr">
            <a:normAutofit/>
          </a:bodyPr>
          <a:lstStyle/>
          <a:p>
            <a:pPr algn="l" indent="0" marL="0">
              <a:buNone/>
            </a:pPr>
            <a:r>
              <a:rPr lang="en-US" sz="900" b="1" spc="80" kern="0" dirty="0">
                <a:solidFill>
                  <a:srgbClr val="BEF264"/>
                </a:solidFill>
                <a:latin typeface="Aptos" pitchFamily="34" charset="0"/>
                <a:ea typeface="Aptos" pitchFamily="34" charset="-122"/>
                <a:cs typeface="Aptos" pitchFamily="34" charset="-120"/>
              </a:rPr>
              <a:t>Top contributing factors</a:t>
            </a:r>
            <a:endParaRPr lang="en-US" sz="900" dirty="0"/>
          </a:p>
        </p:txBody>
      </p:sp>
      <p:sp>
        <p:nvSpPr>
          <p:cNvPr id="36" name="Text 34"/>
          <p:cNvSpPr/>
          <p:nvPr/>
        </p:nvSpPr>
        <p:spPr>
          <a:xfrm>
            <a:off x="6784848" y="4919472"/>
            <a:ext cx="3429000" cy="594360"/>
          </a:xfrm>
          <a:prstGeom prst="rect">
            <a:avLst/>
          </a:prstGeom>
          <a:noFill/>
          <a:ln/>
        </p:spPr>
        <p:txBody>
          <a:bodyPr wrap="square" lIns="0" tIns="0" rIns="0" bIns="0" rtlCol="0" anchor="t">
            <a:normAutofit/>
          </a:bodyPr>
          <a:lstStyle/>
          <a:p>
            <a:pPr algn="l" indent="0" marL="0">
              <a:buNone/>
            </a:pPr>
            <a:r>
              <a:rPr lang="en-US" sz="1050" dirty="0">
                <a:solidFill>
                  <a:srgbClr val="CAD9D3"/>
                </a:solidFill>
                <a:latin typeface="Aptos" pitchFamily="34" charset="0"/>
                <a:ea typeface="Aptos" pitchFamily="34" charset="-122"/>
                <a:cs typeface="Aptos" pitchFamily="34" charset="-120"/>
              </a:rPr>
              <a:t>1  Days until expiry</a:t>
            </a:r>
            <a:endParaRPr lang="en-US" sz="1050" dirty="0"/>
          </a:p>
          <a:p>
            <a:pPr algn="l" indent="0" marL="0">
              <a:buNone/>
            </a:pPr>
            <a:r>
              <a:rPr lang="en-US" sz="1050" dirty="0">
                <a:solidFill>
                  <a:srgbClr val="CAD9D3"/>
                </a:solidFill>
                <a:latin typeface="Aptos" pitchFamily="34" charset="0"/>
                <a:ea typeface="Aptos" pitchFamily="34" charset="-122"/>
                <a:cs typeface="Aptos" pitchFamily="34" charset="-120"/>
              </a:rPr>
              <a:t>2  Recent 7-day velocity</a:t>
            </a:r>
            <a:endParaRPr lang="en-US" sz="1050" dirty="0"/>
          </a:p>
          <a:p>
            <a:pPr algn="l" indent="0" marL="0">
              <a:buNone/>
            </a:pPr>
            <a:r>
              <a:rPr lang="en-US" sz="1050" dirty="0">
                <a:solidFill>
                  <a:srgbClr val="CAD9D3"/>
                </a:solidFill>
                <a:latin typeface="Aptos" pitchFamily="34" charset="0"/>
                <a:ea typeface="Aptos" pitchFamily="34" charset="-122"/>
                <a:cs typeface="Aptos" pitchFamily="34" charset="-120"/>
              </a:rPr>
              <a:t>3  Previous 23-day velocity</a:t>
            </a:r>
            <a:endParaRPr lang="en-US" sz="1050" dirty="0"/>
          </a:p>
        </p:txBody>
      </p:sp>
      <p:sp>
        <p:nvSpPr>
          <p:cNvPr id="37" name="Shape 35"/>
          <p:cNvSpPr/>
          <p:nvPr/>
        </p:nvSpPr>
        <p:spPr>
          <a:xfrm>
            <a:off x="1508760" y="5943600"/>
            <a:ext cx="9189720" cy="292608"/>
          </a:xfrm>
          <a:prstGeom prst="roundRect">
            <a:avLst>
              <a:gd name="adj" fmla="val 50000"/>
            </a:avLst>
          </a:prstGeom>
          <a:solidFill>
            <a:srgbClr val="FFF0E7"/>
          </a:solidFill>
          <a:ln w="12700">
            <a:solidFill>
              <a:srgbClr val="FFD4BD"/>
            </a:solidFill>
            <a:prstDash val="solid"/>
          </a:ln>
        </p:spPr>
      </p:sp>
      <p:sp>
        <p:nvSpPr>
          <p:cNvPr id="38" name="Text 36"/>
          <p:cNvSpPr/>
          <p:nvPr/>
        </p:nvSpPr>
        <p:spPr>
          <a:xfrm>
            <a:off x="1581912" y="5943600"/>
            <a:ext cx="9043416" cy="292608"/>
          </a:xfrm>
          <a:prstGeom prst="rect">
            <a:avLst/>
          </a:prstGeom>
          <a:noFill/>
          <a:ln/>
        </p:spPr>
        <p:txBody>
          <a:bodyPr wrap="square" lIns="0" tIns="0" rIns="0" bIns="0" rtlCol="0" anchor="ctr">
            <a:normAutofit/>
          </a:bodyPr>
          <a:lstStyle/>
          <a:p>
            <a:pPr algn="ctr" indent="0" marL="0">
              <a:buNone/>
            </a:pPr>
            <a:r>
              <a:rPr lang="en-US" sz="900" b="1" dirty="0">
                <a:solidFill>
                  <a:srgbClr val="F97316"/>
                </a:solidFill>
                <a:latin typeface="Aptos" pitchFamily="34" charset="0"/>
                <a:ea typeface="Aptos" pitchFamily="34" charset="-122"/>
                <a:cs typeface="Aptos" pitchFamily="34" charset="-120"/>
              </a:rPr>
              <a:t>SYNTHETIC EVALUATION — NO CAUSAL IMPACT CLAIM</a:t>
            </a:r>
            <a:endParaRPr lang="en-US" sz="900" dirty="0"/>
          </a:p>
        </p:txBody>
      </p:sp>
      <p:sp>
        <p:nvSpPr>
          <p:cNvPr id="39" name="Shape 37"/>
          <p:cNvSpPr/>
          <p:nvPr/>
        </p:nvSpPr>
        <p:spPr>
          <a:xfrm>
            <a:off x="502920" y="6419088"/>
            <a:ext cx="10744200" cy="0"/>
          </a:xfrm>
          <a:prstGeom prst="line">
            <a:avLst/>
          </a:prstGeom>
          <a:noFill/>
          <a:ln w="10160">
            <a:solidFill>
              <a:srgbClr val="D9E3DD"/>
            </a:solidFill>
            <a:prstDash val="solid"/>
          </a:ln>
        </p:spPr>
      </p:sp>
      <p:sp>
        <p:nvSpPr>
          <p:cNvPr id="40" name="Text 38"/>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41" name="Text 39"/>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Innovation &amp; technical evidence</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TRUST BY DESIGN</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Every recommendation is inspectable — and reversible.</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No silent price change. No black-box confidence. No customer identity in pricing.</a:t>
            </a:r>
            <a:endParaRPr lang="en-US" sz="1250" dirty="0"/>
          </a:p>
        </p:txBody>
      </p:sp>
      <p:sp>
        <p:nvSpPr>
          <p:cNvPr id="5" name="Shape 3"/>
          <p:cNvSpPr/>
          <p:nvPr/>
        </p:nvSpPr>
        <p:spPr>
          <a:xfrm>
            <a:off x="594360" y="2011680"/>
            <a:ext cx="5989320" cy="3767328"/>
          </a:xfrm>
          <a:prstGeom prst="roundRect">
            <a:avLst>
              <a:gd name="adj" fmla="val 5825"/>
            </a:avLst>
          </a:prstGeom>
          <a:solidFill>
            <a:srgbClr val="FFFFFF"/>
          </a:solidFill>
          <a:ln w="12700">
            <a:solidFill>
              <a:srgbClr val="D9E3DD"/>
            </a:solidFill>
            <a:prstDash val="solid"/>
          </a:ln>
          <a:effectLst>
            <a:outerShdw sx="100000" sy="100000" kx="0" ky="0" algn="bl" rotWithShape="0" blurRad="3.5210699032441527e+49" dist="7.042139806488305e+49" dir="9.795520512000002e+58">
              <a:srgbClr val="0A241C">
                <a:alpha val="1.2999999999999998e+59"/>
              </a:srgbClr>
            </a:outerShdw>
          </a:effectLst>
        </p:spPr>
      </p:sp>
      <p:sp>
        <p:nvSpPr>
          <p:cNvPr id="6" name="Text 4"/>
          <p:cNvSpPr/>
          <p:nvPr/>
        </p:nvSpPr>
        <p:spPr>
          <a:xfrm>
            <a:off x="896112" y="2304288"/>
            <a:ext cx="2194560" cy="228600"/>
          </a:xfrm>
          <a:prstGeom prst="rect">
            <a:avLst/>
          </a:prstGeom>
          <a:noFill/>
          <a:ln/>
        </p:spPr>
        <p:txBody>
          <a:bodyPr wrap="square" lIns="0" tIns="0" rIns="0" bIns="0" rtlCol="0" anchor="ctr">
            <a:normAutofit/>
          </a:bodyPr>
          <a:lstStyle/>
          <a:p>
            <a:pPr algn="l" indent="0" marL="0">
              <a:buNone/>
            </a:pPr>
            <a:r>
              <a:rPr lang="en-US" sz="900" b="1" spc="120" kern="0" dirty="0">
                <a:solidFill>
                  <a:srgbClr val="10B981"/>
                </a:solidFill>
                <a:latin typeface="Aptos" pitchFamily="34" charset="0"/>
                <a:ea typeface="Aptos" pitchFamily="34" charset="-122"/>
                <a:cs typeface="Aptos" pitchFamily="34" charset="-120"/>
              </a:rPr>
              <a:t>CANDIDATES TESTED</a:t>
            </a:r>
            <a:endParaRPr lang="en-US" sz="900" dirty="0"/>
          </a:p>
        </p:txBody>
      </p:sp>
      <p:sp>
        <p:nvSpPr>
          <p:cNvPr id="7" name="Text 5"/>
          <p:cNvSpPr/>
          <p:nvPr/>
        </p:nvSpPr>
        <p:spPr>
          <a:xfrm>
            <a:off x="8961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DISCOUNT</a:t>
            </a:r>
            <a:endParaRPr lang="en-US" sz="800" dirty="0"/>
          </a:p>
        </p:txBody>
      </p:sp>
      <p:sp>
        <p:nvSpPr>
          <p:cNvPr id="8" name="Text 6"/>
          <p:cNvSpPr/>
          <p:nvPr/>
        </p:nvSpPr>
        <p:spPr>
          <a:xfrm>
            <a:off x="18105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PRICE</a:t>
            </a:r>
            <a:endParaRPr lang="en-US" sz="800" dirty="0"/>
          </a:p>
        </p:txBody>
      </p:sp>
      <p:sp>
        <p:nvSpPr>
          <p:cNvPr id="9" name="Text 7"/>
          <p:cNvSpPr/>
          <p:nvPr/>
        </p:nvSpPr>
        <p:spPr>
          <a:xfrm>
            <a:off x="27249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UNITS</a:t>
            </a:r>
            <a:endParaRPr lang="en-US" sz="800" dirty="0"/>
          </a:p>
        </p:txBody>
      </p:sp>
      <p:sp>
        <p:nvSpPr>
          <p:cNvPr id="10" name="Text 8"/>
          <p:cNvSpPr/>
          <p:nvPr/>
        </p:nvSpPr>
        <p:spPr>
          <a:xfrm>
            <a:off x="36393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LEFT</a:t>
            </a:r>
            <a:endParaRPr lang="en-US" sz="800" dirty="0"/>
          </a:p>
        </p:txBody>
      </p:sp>
      <p:sp>
        <p:nvSpPr>
          <p:cNvPr id="11" name="Text 9"/>
          <p:cNvSpPr/>
          <p:nvPr/>
        </p:nvSpPr>
        <p:spPr>
          <a:xfrm>
            <a:off x="4599432" y="2761488"/>
            <a:ext cx="1051560"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DECISION</a:t>
            </a:r>
            <a:endParaRPr lang="en-US" sz="800" dirty="0"/>
          </a:p>
        </p:txBody>
      </p:sp>
      <p:sp>
        <p:nvSpPr>
          <p:cNvPr id="12" name="Shape 10"/>
          <p:cNvSpPr/>
          <p:nvPr/>
        </p:nvSpPr>
        <p:spPr>
          <a:xfrm>
            <a:off x="822960" y="3090672"/>
            <a:ext cx="5468112" cy="402336"/>
          </a:xfrm>
          <a:prstGeom prst="roundRect">
            <a:avLst>
              <a:gd name="adj" fmla="val 22727"/>
            </a:avLst>
          </a:prstGeom>
          <a:solidFill>
            <a:srgbClr val="FFFFFF"/>
          </a:solidFill>
          <a:ln w="12700">
            <a:solidFill>
              <a:srgbClr val="EDF2EF"/>
            </a:solidFill>
            <a:prstDash val="solid"/>
          </a:ln>
        </p:spPr>
      </p:sp>
      <p:sp>
        <p:nvSpPr>
          <p:cNvPr id="13" name="Text 11"/>
          <p:cNvSpPr/>
          <p:nvPr/>
        </p:nvSpPr>
        <p:spPr>
          <a:xfrm>
            <a:off x="932688" y="3090672"/>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0%</a:t>
            </a:r>
            <a:endParaRPr lang="en-US" sz="1100" dirty="0"/>
          </a:p>
        </p:txBody>
      </p:sp>
      <p:sp>
        <p:nvSpPr>
          <p:cNvPr id="14" name="Text 12"/>
          <p:cNvSpPr/>
          <p:nvPr/>
        </p:nvSpPr>
        <p:spPr>
          <a:xfrm>
            <a:off x="18288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₹84</a:t>
            </a:r>
            <a:endParaRPr lang="en-US" sz="1100" dirty="0"/>
          </a:p>
        </p:txBody>
      </p:sp>
      <p:sp>
        <p:nvSpPr>
          <p:cNvPr id="15" name="Text 13"/>
          <p:cNvSpPr/>
          <p:nvPr/>
        </p:nvSpPr>
        <p:spPr>
          <a:xfrm>
            <a:off x="27432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5.6</a:t>
            </a:r>
            <a:endParaRPr lang="en-US" sz="1100" dirty="0"/>
          </a:p>
        </p:txBody>
      </p:sp>
      <p:sp>
        <p:nvSpPr>
          <p:cNvPr id="16" name="Text 14"/>
          <p:cNvSpPr/>
          <p:nvPr/>
        </p:nvSpPr>
        <p:spPr>
          <a:xfrm>
            <a:off x="36576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12.4</a:t>
            </a:r>
            <a:endParaRPr lang="en-US" sz="1100" dirty="0"/>
          </a:p>
        </p:txBody>
      </p:sp>
      <p:sp>
        <p:nvSpPr>
          <p:cNvPr id="17" name="Shape 15"/>
          <p:cNvSpPr/>
          <p:nvPr/>
        </p:nvSpPr>
        <p:spPr>
          <a:xfrm>
            <a:off x="4617720" y="3145536"/>
            <a:ext cx="1426464" cy="292608"/>
          </a:xfrm>
          <a:prstGeom prst="roundRect">
            <a:avLst>
              <a:gd name="adj" fmla="val 50000"/>
            </a:avLst>
          </a:prstGeom>
          <a:solidFill>
            <a:srgbClr val="EEF3F0"/>
          </a:solidFill>
          <a:ln w="12700">
            <a:solidFill>
              <a:srgbClr val="EEF3F0">
                <a:alpha val="0"/>
              </a:srgbClr>
            </a:solidFill>
            <a:prstDash val="solid"/>
          </a:ln>
        </p:spPr>
      </p:sp>
      <p:sp>
        <p:nvSpPr>
          <p:cNvPr id="18" name="Text 16"/>
          <p:cNvSpPr/>
          <p:nvPr/>
        </p:nvSpPr>
        <p:spPr>
          <a:xfrm>
            <a:off x="4690872" y="3145536"/>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BASELINE</a:t>
            </a:r>
            <a:endParaRPr lang="en-US" sz="900" dirty="0"/>
          </a:p>
        </p:txBody>
      </p:sp>
      <p:sp>
        <p:nvSpPr>
          <p:cNvPr id="19" name="Shape 17"/>
          <p:cNvSpPr/>
          <p:nvPr/>
        </p:nvSpPr>
        <p:spPr>
          <a:xfrm>
            <a:off x="822960" y="3621024"/>
            <a:ext cx="5468112" cy="402336"/>
          </a:xfrm>
          <a:prstGeom prst="roundRect">
            <a:avLst>
              <a:gd name="adj" fmla="val 22727"/>
            </a:avLst>
          </a:prstGeom>
          <a:solidFill>
            <a:srgbClr val="F8FAF9"/>
          </a:solidFill>
          <a:ln w="12700">
            <a:solidFill>
              <a:srgbClr val="EDF2EF"/>
            </a:solidFill>
            <a:prstDash val="solid"/>
          </a:ln>
        </p:spPr>
      </p:sp>
      <p:sp>
        <p:nvSpPr>
          <p:cNvPr id="20" name="Text 18"/>
          <p:cNvSpPr/>
          <p:nvPr/>
        </p:nvSpPr>
        <p:spPr>
          <a:xfrm>
            <a:off x="932688" y="3621024"/>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15%</a:t>
            </a:r>
            <a:endParaRPr lang="en-US" sz="1100" dirty="0"/>
          </a:p>
        </p:txBody>
      </p:sp>
      <p:sp>
        <p:nvSpPr>
          <p:cNvPr id="21" name="Text 19"/>
          <p:cNvSpPr/>
          <p:nvPr/>
        </p:nvSpPr>
        <p:spPr>
          <a:xfrm>
            <a:off x="18288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₹71</a:t>
            </a:r>
            <a:endParaRPr lang="en-US" sz="1100" dirty="0"/>
          </a:p>
        </p:txBody>
      </p:sp>
      <p:sp>
        <p:nvSpPr>
          <p:cNvPr id="22" name="Text 20"/>
          <p:cNvSpPr/>
          <p:nvPr/>
        </p:nvSpPr>
        <p:spPr>
          <a:xfrm>
            <a:off x="27432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8.2</a:t>
            </a:r>
            <a:endParaRPr lang="en-US" sz="1100" dirty="0"/>
          </a:p>
        </p:txBody>
      </p:sp>
      <p:sp>
        <p:nvSpPr>
          <p:cNvPr id="23" name="Text 21"/>
          <p:cNvSpPr/>
          <p:nvPr/>
        </p:nvSpPr>
        <p:spPr>
          <a:xfrm>
            <a:off x="36576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9.8</a:t>
            </a:r>
            <a:endParaRPr lang="en-US" sz="1100" dirty="0"/>
          </a:p>
        </p:txBody>
      </p:sp>
      <p:sp>
        <p:nvSpPr>
          <p:cNvPr id="24" name="Shape 22"/>
          <p:cNvSpPr/>
          <p:nvPr/>
        </p:nvSpPr>
        <p:spPr>
          <a:xfrm>
            <a:off x="4617720" y="3675888"/>
            <a:ext cx="1426464" cy="292608"/>
          </a:xfrm>
          <a:prstGeom prst="roundRect">
            <a:avLst>
              <a:gd name="adj" fmla="val 50000"/>
            </a:avLst>
          </a:prstGeom>
          <a:solidFill>
            <a:srgbClr val="EEF3F0"/>
          </a:solidFill>
          <a:ln w="12700">
            <a:solidFill>
              <a:srgbClr val="EEF3F0">
                <a:alpha val="0"/>
              </a:srgbClr>
            </a:solidFill>
            <a:prstDash val="solid"/>
          </a:ln>
        </p:spPr>
      </p:sp>
      <p:sp>
        <p:nvSpPr>
          <p:cNvPr id="25" name="Text 23"/>
          <p:cNvSpPr/>
          <p:nvPr/>
        </p:nvSpPr>
        <p:spPr>
          <a:xfrm>
            <a:off x="4690872" y="3675888"/>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CANDIDATE</a:t>
            </a:r>
            <a:endParaRPr lang="en-US" sz="900" dirty="0"/>
          </a:p>
        </p:txBody>
      </p:sp>
      <p:sp>
        <p:nvSpPr>
          <p:cNvPr id="26" name="Shape 24"/>
          <p:cNvSpPr/>
          <p:nvPr/>
        </p:nvSpPr>
        <p:spPr>
          <a:xfrm>
            <a:off x="822960" y="4151376"/>
            <a:ext cx="5468112" cy="402336"/>
          </a:xfrm>
          <a:prstGeom prst="roundRect">
            <a:avLst>
              <a:gd name="adj" fmla="val 22727"/>
            </a:avLst>
          </a:prstGeom>
          <a:solidFill>
            <a:srgbClr val="BEF264"/>
          </a:solidFill>
          <a:ln w="12700">
            <a:solidFill>
              <a:srgbClr val="BEF264"/>
            </a:solidFill>
            <a:prstDash val="solid"/>
          </a:ln>
        </p:spPr>
      </p:sp>
      <p:sp>
        <p:nvSpPr>
          <p:cNvPr id="27" name="Text 25"/>
          <p:cNvSpPr/>
          <p:nvPr/>
        </p:nvSpPr>
        <p:spPr>
          <a:xfrm>
            <a:off x="932688" y="4151376"/>
            <a:ext cx="640080"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20%</a:t>
            </a:r>
            <a:endParaRPr lang="en-US" sz="1100" dirty="0"/>
          </a:p>
        </p:txBody>
      </p:sp>
      <p:sp>
        <p:nvSpPr>
          <p:cNvPr id="28" name="Text 26"/>
          <p:cNvSpPr/>
          <p:nvPr/>
        </p:nvSpPr>
        <p:spPr>
          <a:xfrm>
            <a:off x="18288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₹67</a:t>
            </a:r>
            <a:endParaRPr lang="en-US" sz="1100" dirty="0"/>
          </a:p>
        </p:txBody>
      </p:sp>
      <p:sp>
        <p:nvSpPr>
          <p:cNvPr id="29" name="Text 27"/>
          <p:cNvSpPr/>
          <p:nvPr/>
        </p:nvSpPr>
        <p:spPr>
          <a:xfrm>
            <a:off x="27432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10.8</a:t>
            </a:r>
            <a:endParaRPr lang="en-US" sz="1100" dirty="0"/>
          </a:p>
        </p:txBody>
      </p:sp>
      <p:sp>
        <p:nvSpPr>
          <p:cNvPr id="30" name="Text 28"/>
          <p:cNvSpPr/>
          <p:nvPr/>
        </p:nvSpPr>
        <p:spPr>
          <a:xfrm>
            <a:off x="36576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7.2</a:t>
            </a:r>
            <a:endParaRPr lang="en-US" sz="1100" dirty="0"/>
          </a:p>
        </p:txBody>
      </p:sp>
      <p:sp>
        <p:nvSpPr>
          <p:cNvPr id="31" name="Shape 29"/>
          <p:cNvSpPr/>
          <p:nvPr/>
        </p:nvSpPr>
        <p:spPr>
          <a:xfrm>
            <a:off x="4617720" y="4206240"/>
            <a:ext cx="1426464" cy="292608"/>
          </a:xfrm>
          <a:prstGeom prst="roundRect">
            <a:avLst>
              <a:gd name="adj" fmla="val 50000"/>
            </a:avLst>
          </a:prstGeom>
          <a:solidFill>
            <a:srgbClr val="173D31"/>
          </a:solidFill>
          <a:ln w="12700">
            <a:solidFill>
              <a:srgbClr val="173D31">
                <a:alpha val="0"/>
              </a:srgbClr>
            </a:solidFill>
            <a:prstDash val="solid"/>
          </a:ln>
        </p:spPr>
      </p:sp>
      <p:sp>
        <p:nvSpPr>
          <p:cNvPr id="32" name="Text 30"/>
          <p:cNvSpPr/>
          <p:nvPr/>
        </p:nvSpPr>
        <p:spPr>
          <a:xfrm>
            <a:off x="4690872" y="4206240"/>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RECOMMENDED</a:t>
            </a:r>
            <a:endParaRPr lang="en-US" sz="900" dirty="0"/>
          </a:p>
        </p:txBody>
      </p:sp>
      <p:sp>
        <p:nvSpPr>
          <p:cNvPr id="33" name="Shape 31"/>
          <p:cNvSpPr/>
          <p:nvPr/>
        </p:nvSpPr>
        <p:spPr>
          <a:xfrm>
            <a:off x="822960" y="4681728"/>
            <a:ext cx="5468112" cy="402336"/>
          </a:xfrm>
          <a:prstGeom prst="roundRect">
            <a:avLst>
              <a:gd name="adj" fmla="val 22727"/>
            </a:avLst>
          </a:prstGeom>
          <a:solidFill>
            <a:srgbClr val="F8FAF9"/>
          </a:solidFill>
          <a:ln w="12700">
            <a:solidFill>
              <a:srgbClr val="EDF2EF"/>
            </a:solidFill>
            <a:prstDash val="solid"/>
          </a:ln>
        </p:spPr>
      </p:sp>
      <p:sp>
        <p:nvSpPr>
          <p:cNvPr id="34" name="Text 32"/>
          <p:cNvSpPr/>
          <p:nvPr/>
        </p:nvSpPr>
        <p:spPr>
          <a:xfrm>
            <a:off x="932688" y="4681728"/>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25%</a:t>
            </a:r>
            <a:endParaRPr lang="en-US" sz="1100" dirty="0"/>
          </a:p>
        </p:txBody>
      </p:sp>
      <p:sp>
        <p:nvSpPr>
          <p:cNvPr id="35" name="Text 33"/>
          <p:cNvSpPr/>
          <p:nvPr/>
        </p:nvSpPr>
        <p:spPr>
          <a:xfrm>
            <a:off x="18288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₹63</a:t>
            </a:r>
            <a:endParaRPr lang="en-US" sz="1100" dirty="0"/>
          </a:p>
        </p:txBody>
      </p:sp>
      <p:sp>
        <p:nvSpPr>
          <p:cNvPr id="36" name="Text 34"/>
          <p:cNvSpPr/>
          <p:nvPr/>
        </p:nvSpPr>
        <p:spPr>
          <a:xfrm>
            <a:off x="27432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12.1</a:t>
            </a:r>
            <a:endParaRPr lang="en-US" sz="1100" dirty="0"/>
          </a:p>
        </p:txBody>
      </p:sp>
      <p:sp>
        <p:nvSpPr>
          <p:cNvPr id="37" name="Text 35"/>
          <p:cNvSpPr/>
          <p:nvPr/>
        </p:nvSpPr>
        <p:spPr>
          <a:xfrm>
            <a:off x="36576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5.9</a:t>
            </a:r>
            <a:endParaRPr lang="en-US" sz="1100" dirty="0"/>
          </a:p>
        </p:txBody>
      </p:sp>
      <p:sp>
        <p:nvSpPr>
          <p:cNvPr id="38" name="Shape 36"/>
          <p:cNvSpPr/>
          <p:nvPr/>
        </p:nvSpPr>
        <p:spPr>
          <a:xfrm>
            <a:off x="4617720" y="4736592"/>
            <a:ext cx="1426464" cy="292608"/>
          </a:xfrm>
          <a:prstGeom prst="roundRect">
            <a:avLst>
              <a:gd name="adj" fmla="val 50000"/>
            </a:avLst>
          </a:prstGeom>
          <a:solidFill>
            <a:srgbClr val="EEF3F0"/>
          </a:solidFill>
          <a:ln w="12700">
            <a:solidFill>
              <a:srgbClr val="EEF3F0">
                <a:alpha val="0"/>
              </a:srgbClr>
            </a:solidFill>
            <a:prstDash val="solid"/>
          </a:ln>
        </p:spPr>
      </p:sp>
      <p:sp>
        <p:nvSpPr>
          <p:cNvPr id="39" name="Text 37"/>
          <p:cNvSpPr/>
          <p:nvPr/>
        </p:nvSpPr>
        <p:spPr>
          <a:xfrm>
            <a:off x="4690872" y="4736592"/>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CANDIDATE</a:t>
            </a:r>
            <a:endParaRPr lang="en-US" sz="900" dirty="0"/>
          </a:p>
        </p:txBody>
      </p:sp>
      <p:sp>
        <p:nvSpPr>
          <p:cNvPr id="40" name="Text 38"/>
          <p:cNvSpPr/>
          <p:nvPr/>
        </p:nvSpPr>
        <p:spPr>
          <a:xfrm>
            <a:off x="896112" y="5422392"/>
            <a:ext cx="4251960" cy="164592"/>
          </a:xfrm>
          <a:prstGeom prst="rect">
            <a:avLst/>
          </a:prstGeom>
          <a:noFill/>
          <a:ln/>
        </p:spPr>
        <p:txBody>
          <a:bodyPr wrap="square" lIns="0" tIns="0" rIns="0" bIns="0" rtlCol="0" anchor="ctr">
            <a:normAutofit/>
          </a:bodyPr>
          <a:lstStyle/>
          <a:p>
            <a:pPr algn="l" indent="0" marL="0">
              <a:buNone/>
            </a:pPr>
            <a:r>
              <a:rPr lang="en-US" sz="850" i="1" dirty="0">
                <a:solidFill>
                  <a:srgbClr val="8B9C96"/>
                </a:solidFill>
                <a:latin typeface="Aptos" pitchFamily="34" charset="0"/>
                <a:ea typeface="Aptos" pitchFamily="34" charset="-122"/>
                <a:cs typeface="Aptos" pitchFamily="34" charset="-120"/>
              </a:rPr>
              <a:t>Illustrative candidate table from the synthetic demo.</a:t>
            </a:r>
            <a:endParaRPr lang="en-US" sz="850" dirty="0"/>
          </a:p>
        </p:txBody>
      </p:sp>
      <p:sp>
        <p:nvSpPr>
          <p:cNvPr id="41" name="Shape 39"/>
          <p:cNvSpPr/>
          <p:nvPr/>
        </p:nvSpPr>
        <p:spPr>
          <a:xfrm>
            <a:off x="7040880" y="2084832"/>
            <a:ext cx="411480" cy="411480"/>
          </a:xfrm>
          <a:prstGeom prst="ellipse">
            <a:avLst/>
          </a:prstGeom>
          <a:solidFill>
            <a:srgbClr val="DDF7E8"/>
          </a:solidFill>
          <a:ln w="12700">
            <a:solidFill>
              <a:srgbClr val="DDF7E8"/>
            </a:solidFill>
            <a:prstDash val="solid"/>
          </a:ln>
        </p:spPr>
      </p:sp>
      <p:sp>
        <p:nvSpPr>
          <p:cNvPr id="42" name="Text 40"/>
          <p:cNvSpPr/>
          <p:nvPr/>
        </p:nvSpPr>
        <p:spPr>
          <a:xfrm>
            <a:off x="7040880" y="2084832"/>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01</a:t>
            </a:r>
            <a:endParaRPr lang="en-US" sz="1000" dirty="0"/>
          </a:p>
        </p:txBody>
      </p:sp>
      <p:sp>
        <p:nvSpPr>
          <p:cNvPr id="43" name="Text 41"/>
          <p:cNvSpPr/>
          <p:nvPr/>
        </p:nvSpPr>
        <p:spPr>
          <a:xfrm>
            <a:off x="7635240" y="2066544"/>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Guardrails first</a:t>
            </a:r>
            <a:endParaRPr lang="en-US" sz="1400" dirty="0"/>
          </a:p>
        </p:txBody>
      </p:sp>
      <p:sp>
        <p:nvSpPr>
          <p:cNvPr id="44" name="Text 42"/>
          <p:cNvSpPr/>
          <p:nvPr/>
        </p:nvSpPr>
        <p:spPr>
          <a:xfrm>
            <a:off x="7635240" y="2359152"/>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Expiry block, minimum price, bounded discount.</a:t>
            </a:r>
            <a:endParaRPr lang="en-US" sz="1050" dirty="0"/>
          </a:p>
        </p:txBody>
      </p:sp>
      <p:sp>
        <p:nvSpPr>
          <p:cNvPr id="45" name="Shape 43"/>
          <p:cNvSpPr/>
          <p:nvPr/>
        </p:nvSpPr>
        <p:spPr>
          <a:xfrm>
            <a:off x="7242048" y="2523744"/>
            <a:ext cx="0" cy="493776"/>
          </a:xfrm>
          <a:prstGeom prst="line">
            <a:avLst/>
          </a:prstGeom>
          <a:noFill/>
          <a:ln w="15240">
            <a:solidFill>
              <a:srgbClr val="B9DACA"/>
            </a:solidFill>
            <a:prstDash val="solid"/>
          </a:ln>
        </p:spPr>
      </p:sp>
      <p:sp>
        <p:nvSpPr>
          <p:cNvPr id="46" name="Shape 44"/>
          <p:cNvSpPr/>
          <p:nvPr/>
        </p:nvSpPr>
        <p:spPr>
          <a:xfrm>
            <a:off x="7040880" y="3017520"/>
            <a:ext cx="411480" cy="411480"/>
          </a:xfrm>
          <a:prstGeom prst="ellipse">
            <a:avLst/>
          </a:prstGeom>
          <a:solidFill>
            <a:srgbClr val="DDF7E8"/>
          </a:solidFill>
          <a:ln w="12700">
            <a:solidFill>
              <a:srgbClr val="DDF7E8"/>
            </a:solidFill>
            <a:prstDash val="solid"/>
          </a:ln>
        </p:spPr>
      </p:sp>
      <p:sp>
        <p:nvSpPr>
          <p:cNvPr id="47" name="Text 45"/>
          <p:cNvSpPr/>
          <p:nvPr/>
        </p:nvSpPr>
        <p:spPr>
          <a:xfrm>
            <a:off x="7040880" y="3017520"/>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02</a:t>
            </a:r>
            <a:endParaRPr lang="en-US" sz="1000" dirty="0"/>
          </a:p>
        </p:txBody>
      </p:sp>
      <p:sp>
        <p:nvSpPr>
          <p:cNvPr id="48" name="Text 46"/>
          <p:cNvSpPr/>
          <p:nvPr/>
        </p:nvSpPr>
        <p:spPr>
          <a:xfrm>
            <a:off x="7635240" y="2999232"/>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Evidence retained</a:t>
            </a:r>
            <a:endParaRPr lang="en-US" sz="1400" dirty="0"/>
          </a:p>
        </p:txBody>
      </p:sp>
      <p:sp>
        <p:nvSpPr>
          <p:cNvPr id="49" name="Text 47"/>
          <p:cNvSpPr/>
          <p:nvPr/>
        </p:nvSpPr>
        <p:spPr>
          <a:xfrm>
            <a:off x="7635240" y="3291840"/>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Inputs, candidates, model, factors, version.</a:t>
            </a:r>
            <a:endParaRPr lang="en-US" sz="1050" dirty="0"/>
          </a:p>
        </p:txBody>
      </p:sp>
      <p:sp>
        <p:nvSpPr>
          <p:cNvPr id="50" name="Shape 48"/>
          <p:cNvSpPr/>
          <p:nvPr/>
        </p:nvSpPr>
        <p:spPr>
          <a:xfrm>
            <a:off x="7242048" y="3456432"/>
            <a:ext cx="0" cy="493776"/>
          </a:xfrm>
          <a:prstGeom prst="line">
            <a:avLst/>
          </a:prstGeom>
          <a:noFill/>
          <a:ln w="15240">
            <a:solidFill>
              <a:srgbClr val="B9DACA"/>
            </a:solidFill>
            <a:prstDash val="solid"/>
          </a:ln>
        </p:spPr>
      </p:sp>
      <p:sp>
        <p:nvSpPr>
          <p:cNvPr id="51" name="Shape 49"/>
          <p:cNvSpPr/>
          <p:nvPr/>
        </p:nvSpPr>
        <p:spPr>
          <a:xfrm>
            <a:off x="7040880" y="3950208"/>
            <a:ext cx="411480" cy="411480"/>
          </a:xfrm>
          <a:prstGeom prst="ellipse">
            <a:avLst/>
          </a:prstGeom>
          <a:solidFill>
            <a:srgbClr val="BEF264"/>
          </a:solidFill>
          <a:ln w="12700">
            <a:solidFill>
              <a:srgbClr val="BEF264"/>
            </a:solidFill>
            <a:prstDash val="solid"/>
          </a:ln>
        </p:spPr>
      </p:sp>
      <p:sp>
        <p:nvSpPr>
          <p:cNvPr id="52" name="Text 50"/>
          <p:cNvSpPr/>
          <p:nvPr/>
        </p:nvSpPr>
        <p:spPr>
          <a:xfrm>
            <a:off x="7040880" y="3950208"/>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03</a:t>
            </a:r>
            <a:endParaRPr lang="en-US" sz="1000" dirty="0"/>
          </a:p>
        </p:txBody>
      </p:sp>
      <p:sp>
        <p:nvSpPr>
          <p:cNvPr id="53" name="Text 51"/>
          <p:cNvSpPr/>
          <p:nvPr/>
        </p:nvSpPr>
        <p:spPr>
          <a:xfrm>
            <a:off x="7635240" y="3931920"/>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Human decision</a:t>
            </a:r>
            <a:endParaRPr lang="en-US" sz="1400" dirty="0"/>
          </a:p>
        </p:txBody>
      </p:sp>
      <p:sp>
        <p:nvSpPr>
          <p:cNvPr id="54" name="Text 52"/>
          <p:cNvSpPr/>
          <p:nvPr/>
        </p:nvSpPr>
        <p:spPr>
          <a:xfrm>
            <a:off x="7635240" y="4224528"/>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Approve, reject, or preserve an override.</a:t>
            </a:r>
            <a:endParaRPr lang="en-US" sz="1050" dirty="0"/>
          </a:p>
        </p:txBody>
      </p:sp>
      <p:sp>
        <p:nvSpPr>
          <p:cNvPr id="55" name="Shape 53"/>
          <p:cNvSpPr/>
          <p:nvPr/>
        </p:nvSpPr>
        <p:spPr>
          <a:xfrm>
            <a:off x="7242048" y="4389120"/>
            <a:ext cx="0" cy="493776"/>
          </a:xfrm>
          <a:prstGeom prst="line">
            <a:avLst/>
          </a:prstGeom>
          <a:noFill/>
          <a:ln w="15240">
            <a:solidFill>
              <a:srgbClr val="B9DACA"/>
            </a:solidFill>
            <a:prstDash val="solid"/>
          </a:ln>
        </p:spPr>
      </p:sp>
      <p:sp>
        <p:nvSpPr>
          <p:cNvPr id="56" name="Shape 54"/>
          <p:cNvSpPr/>
          <p:nvPr/>
        </p:nvSpPr>
        <p:spPr>
          <a:xfrm>
            <a:off x="7040880" y="4882896"/>
            <a:ext cx="411480" cy="411480"/>
          </a:xfrm>
          <a:prstGeom prst="ellipse">
            <a:avLst/>
          </a:prstGeom>
          <a:solidFill>
            <a:srgbClr val="DDF7E8"/>
          </a:solidFill>
          <a:ln w="12700">
            <a:solidFill>
              <a:srgbClr val="DDF7E8"/>
            </a:solidFill>
            <a:prstDash val="solid"/>
          </a:ln>
        </p:spPr>
      </p:sp>
      <p:sp>
        <p:nvSpPr>
          <p:cNvPr id="57" name="Text 55"/>
          <p:cNvSpPr/>
          <p:nvPr/>
        </p:nvSpPr>
        <p:spPr>
          <a:xfrm>
            <a:off x="7040880" y="4882896"/>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04</a:t>
            </a:r>
            <a:endParaRPr lang="en-US" sz="1000" dirty="0"/>
          </a:p>
        </p:txBody>
      </p:sp>
      <p:sp>
        <p:nvSpPr>
          <p:cNvPr id="58" name="Text 56"/>
          <p:cNvSpPr/>
          <p:nvPr/>
        </p:nvSpPr>
        <p:spPr>
          <a:xfrm>
            <a:off x="7635240" y="4864608"/>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Outcome ledger</a:t>
            </a:r>
            <a:endParaRPr lang="en-US" sz="1400" dirty="0"/>
          </a:p>
        </p:txBody>
      </p:sp>
      <p:sp>
        <p:nvSpPr>
          <p:cNvPr id="59" name="Text 57"/>
          <p:cNvSpPr/>
          <p:nvPr/>
        </p:nvSpPr>
        <p:spPr>
          <a:xfrm>
            <a:off x="7635240" y="5157216"/>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Link approval, order, pickup, waste, donation.</a:t>
            </a:r>
            <a:endParaRPr lang="en-US" sz="1050" dirty="0"/>
          </a:p>
        </p:txBody>
      </p:sp>
      <p:sp>
        <p:nvSpPr>
          <p:cNvPr id="60" name="Shape 58"/>
          <p:cNvSpPr/>
          <p:nvPr/>
        </p:nvSpPr>
        <p:spPr>
          <a:xfrm>
            <a:off x="7498080" y="5870448"/>
            <a:ext cx="3611880" cy="292608"/>
          </a:xfrm>
          <a:prstGeom prst="roundRect">
            <a:avLst>
              <a:gd name="adj" fmla="val 50000"/>
            </a:avLst>
          </a:prstGeom>
          <a:solidFill>
            <a:srgbClr val="F2ECFF"/>
          </a:solidFill>
          <a:ln w="12700">
            <a:solidFill>
              <a:srgbClr val="F2ECFF">
                <a:alpha val="0"/>
              </a:srgbClr>
            </a:solidFill>
            <a:prstDash val="solid"/>
          </a:ln>
        </p:spPr>
      </p:sp>
      <p:sp>
        <p:nvSpPr>
          <p:cNvPr id="61" name="Text 59"/>
          <p:cNvSpPr/>
          <p:nvPr/>
        </p:nvSpPr>
        <p:spPr>
          <a:xfrm>
            <a:off x="7571232" y="5870448"/>
            <a:ext cx="3465576" cy="292608"/>
          </a:xfrm>
          <a:prstGeom prst="rect">
            <a:avLst/>
          </a:prstGeom>
          <a:noFill/>
          <a:ln/>
        </p:spPr>
        <p:txBody>
          <a:bodyPr wrap="square" lIns="0" tIns="0" rIns="0" bIns="0" rtlCol="0" anchor="ctr">
            <a:normAutofit/>
          </a:bodyPr>
          <a:lstStyle/>
          <a:p>
            <a:pPr algn="ctr" indent="0" marL="0">
              <a:buNone/>
            </a:pPr>
            <a:r>
              <a:rPr lang="en-US" sz="900" b="1" dirty="0">
                <a:solidFill>
                  <a:srgbClr val="7C3AED"/>
                </a:solidFill>
                <a:latin typeface="Aptos" pitchFamily="34" charset="0"/>
                <a:ea typeface="Aptos" pitchFamily="34" charset="-122"/>
                <a:cs typeface="Aptos" pitchFamily="34" charset="-120"/>
              </a:rPr>
              <a:t>PRICING EXCLUDES CUSTOMER IDENTITY</a:t>
            </a:r>
            <a:endParaRPr lang="en-US" sz="900" dirty="0"/>
          </a:p>
        </p:txBody>
      </p:sp>
      <p:sp>
        <p:nvSpPr>
          <p:cNvPr id="62" name="Shape 60"/>
          <p:cNvSpPr/>
          <p:nvPr/>
        </p:nvSpPr>
        <p:spPr>
          <a:xfrm>
            <a:off x="502920" y="6419088"/>
            <a:ext cx="10744200" cy="0"/>
          </a:xfrm>
          <a:prstGeom prst="line">
            <a:avLst/>
          </a:prstGeom>
          <a:noFill/>
          <a:ln w="10160">
            <a:solidFill>
              <a:srgbClr val="D9E3DD"/>
            </a:solidFill>
            <a:prstDash val="solid"/>
          </a:ln>
        </p:spPr>
      </p:sp>
      <p:sp>
        <p:nvSpPr>
          <p:cNvPr id="63" name="Text 61"/>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64" name="Text 62"/>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Explainability, safety &amp; human oversight</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SYSTEM ARCHITECTURE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Store-scoped from database row to customer order.</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The browser is untrusted. Every privileged operation resolves role and store ownership on the server.</a:t>
            </a:r>
            <a:endParaRPr lang="en-US" sz="1250" dirty="0"/>
          </a:p>
        </p:txBody>
      </p:sp>
      <p:sp>
        <p:nvSpPr>
          <p:cNvPr id="5" name="Text 3"/>
          <p:cNvSpPr/>
          <p:nvPr/>
        </p:nvSpPr>
        <p:spPr>
          <a:xfrm>
            <a:off x="621792" y="2267712"/>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EXPERIENCE</a:t>
            </a:r>
            <a:endParaRPr lang="en-US" sz="850" dirty="0"/>
          </a:p>
        </p:txBody>
      </p:sp>
      <p:sp>
        <p:nvSpPr>
          <p:cNvPr id="6" name="Shape 4"/>
          <p:cNvSpPr/>
          <p:nvPr/>
        </p:nvSpPr>
        <p:spPr>
          <a:xfrm>
            <a:off x="1737360" y="2404872"/>
            <a:ext cx="411480" cy="0"/>
          </a:xfrm>
          <a:prstGeom prst="line">
            <a:avLst/>
          </a:prstGeom>
          <a:noFill/>
          <a:ln w="17780">
            <a:solidFill>
              <a:srgbClr val="BEF264"/>
            </a:solidFill>
            <a:prstDash val="solid"/>
          </a:ln>
        </p:spPr>
      </p:sp>
      <p:sp>
        <p:nvSpPr>
          <p:cNvPr id="7" name="Shape 5"/>
          <p:cNvSpPr/>
          <p:nvPr/>
        </p:nvSpPr>
        <p:spPr>
          <a:xfrm>
            <a:off x="2331720" y="2057400"/>
            <a:ext cx="2560320" cy="694944"/>
          </a:xfrm>
          <a:prstGeom prst="roundRect">
            <a:avLst>
              <a:gd name="adj" fmla="val 23684"/>
            </a:avLst>
          </a:prstGeom>
          <a:solidFill>
            <a:srgbClr val="244E42"/>
          </a:solidFill>
          <a:ln w="12700">
            <a:solidFill>
              <a:srgbClr val="496C61"/>
            </a:solidFill>
            <a:prstDash val="solid"/>
          </a:ln>
        </p:spPr>
      </p:sp>
      <p:sp>
        <p:nvSpPr>
          <p:cNvPr id="8" name="Shape 6"/>
          <p:cNvSpPr/>
          <p:nvPr/>
        </p:nvSpPr>
        <p:spPr>
          <a:xfrm>
            <a:off x="2496312" y="2212848"/>
            <a:ext cx="365760" cy="365760"/>
          </a:xfrm>
          <a:prstGeom prst="ellipse">
            <a:avLst/>
          </a:prstGeom>
          <a:solidFill>
            <a:srgbClr val="BEF264"/>
          </a:solidFill>
          <a:ln w="12700">
            <a:solidFill>
              <a:srgbClr val="BEF264"/>
            </a:solidFill>
            <a:prstDash val="solid"/>
          </a:ln>
        </p:spPr>
      </p:sp>
      <p:sp>
        <p:nvSpPr>
          <p:cNvPr id="9" name="Text 7"/>
          <p:cNvSpPr/>
          <p:nvPr/>
        </p:nvSpPr>
        <p:spPr>
          <a:xfrm>
            <a:off x="249631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1</a:t>
            </a:r>
            <a:endParaRPr lang="en-US" sz="1000" dirty="0"/>
          </a:p>
        </p:txBody>
      </p:sp>
      <p:sp>
        <p:nvSpPr>
          <p:cNvPr id="10" name="Text 8"/>
          <p:cNvSpPr/>
          <p:nvPr/>
        </p:nvSpPr>
        <p:spPr>
          <a:xfrm>
            <a:off x="299008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Customer marketplace</a:t>
            </a:r>
            <a:endParaRPr lang="en-US" sz="1100" dirty="0"/>
          </a:p>
        </p:txBody>
      </p:sp>
      <p:sp>
        <p:nvSpPr>
          <p:cNvPr id="11" name="Shape 9"/>
          <p:cNvSpPr/>
          <p:nvPr/>
        </p:nvSpPr>
        <p:spPr>
          <a:xfrm>
            <a:off x="5349240" y="2057400"/>
            <a:ext cx="2560320" cy="694944"/>
          </a:xfrm>
          <a:prstGeom prst="roundRect">
            <a:avLst>
              <a:gd name="adj" fmla="val 23684"/>
            </a:avLst>
          </a:prstGeom>
          <a:solidFill>
            <a:srgbClr val="244E42"/>
          </a:solidFill>
          <a:ln w="12700">
            <a:solidFill>
              <a:srgbClr val="496C61"/>
            </a:solidFill>
            <a:prstDash val="solid"/>
          </a:ln>
        </p:spPr>
      </p:sp>
      <p:sp>
        <p:nvSpPr>
          <p:cNvPr id="12" name="Shape 10"/>
          <p:cNvSpPr/>
          <p:nvPr/>
        </p:nvSpPr>
        <p:spPr>
          <a:xfrm>
            <a:off x="5513832" y="2212848"/>
            <a:ext cx="365760" cy="365760"/>
          </a:xfrm>
          <a:prstGeom prst="ellipse">
            <a:avLst/>
          </a:prstGeom>
          <a:solidFill>
            <a:srgbClr val="BEF264"/>
          </a:solidFill>
          <a:ln w="12700">
            <a:solidFill>
              <a:srgbClr val="BEF264"/>
            </a:solidFill>
            <a:prstDash val="solid"/>
          </a:ln>
        </p:spPr>
      </p:sp>
      <p:sp>
        <p:nvSpPr>
          <p:cNvPr id="13" name="Text 11"/>
          <p:cNvSpPr/>
          <p:nvPr/>
        </p:nvSpPr>
        <p:spPr>
          <a:xfrm>
            <a:off x="551383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2</a:t>
            </a:r>
            <a:endParaRPr lang="en-US" sz="1000" dirty="0"/>
          </a:p>
        </p:txBody>
      </p:sp>
      <p:sp>
        <p:nvSpPr>
          <p:cNvPr id="14" name="Text 12"/>
          <p:cNvSpPr/>
          <p:nvPr/>
        </p:nvSpPr>
        <p:spPr>
          <a:xfrm>
            <a:off x="600760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Owner portal</a:t>
            </a:r>
            <a:endParaRPr lang="en-US" sz="1100" dirty="0"/>
          </a:p>
        </p:txBody>
      </p:sp>
      <p:sp>
        <p:nvSpPr>
          <p:cNvPr id="15" name="Shape 13"/>
          <p:cNvSpPr/>
          <p:nvPr/>
        </p:nvSpPr>
        <p:spPr>
          <a:xfrm>
            <a:off x="8366760" y="2057400"/>
            <a:ext cx="2560320" cy="694944"/>
          </a:xfrm>
          <a:prstGeom prst="roundRect">
            <a:avLst>
              <a:gd name="adj" fmla="val 23684"/>
            </a:avLst>
          </a:prstGeom>
          <a:solidFill>
            <a:srgbClr val="244E42"/>
          </a:solidFill>
          <a:ln w="12700">
            <a:solidFill>
              <a:srgbClr val="496C61"/>
            </a:solidFill>
            <a:prstDash val="solid"/>
          </a:ln>
        </p:spPr>
      </p:sp>
      <p:sp>
        <p:nvSpPr>
          <p:cNvPr id="16" name="Shape 14"/>
          <p:cNvSpPr/>
          <p:nvPr/>
        </p:nvSpPr>
        <p:spPr>
          <a:xfrm>
            <a:off x="8531352" y="2212848"/>
            <a:ext cx="365760" cy="365760"/>
          </a:xfrm>
          <a:prstGeom prst="ellipse">
            <a:avLst/>
          </a:prstGeom>
          <a:solidFill>
            <a:srgbClr val="BEF264"/>
          </a:solidFill>
          <a:ln w="12700">
            <a:solidFill>
              <a:srgbClr val="BEF264"/>
            </a:solidFill>
            <a:prstDash val="solid"/>
          </a:ln>
        </p:spPr>
      </p:sp>
      <p:sp>
        <p:nvSpPr>
          <p:cNvPr id="17" name="Text 15"/>
          <p:cNvSpPr/>
          <p:nvPr/>
        </p:nvSpPr>
        <p:spPr>
          <a:xfrm>
            <a:off x="853135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3</a:t>
            </a:r>
            <a:endParaRPr lang="en-US" sz="1000" dirty="0"/>
          </a:p>
        </p:txBody>
      </p:sp>
      <p:sp>
        <p:nvSpPr>
          <p:cNvPr id="18" name="Text 16"/>
          <p:cNvSpPr/>
          <p:nvPr/>
        </p:nvSpPr>
        <p:spPr>
          <a:xfrm>
            <a:off x="902512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Offline judge demo</a:t>
            </a:r>
            <a:endParaRPr lang="en-US" sz="1100" dirty="0"/>
          </a:p>
        </p:txBody>
      </p:sp>
      <p:sp>
        <p:nvSpPr>
          <p:cNvPr id="19" name="Text 17"/>
          <p:cNvSpPr/>
          <p:nvPr/>
        </p:nvSpPr>
        <p:spPr>
          <a:xfrm>
            <a:off x="621792" y="3300984"/>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10B981"/>
                </a:solidFill>
                <a:latin typeface="Aptos" pitchFamily="34" charset="0"/>
                <a:ea typeface="Aptos" pitchFamily="34" charset="-122"/>
                <a:cs typeface="Aptos" pitchFamily="34" charset="-120"/>
              </a:rPr>
              <a:t>APPLICATION</a:t>
            </a:r>
            <a:endParaRPr lang="en-US" sz="850" dirty="0"/>
          </a:p>
        </p:txBody>
      </p:sp>
      <p:sp>
        <p:nvSpPr>
          <p:cNvPr id="20" name="Shape 18"/>
          <p:cNvSpPr/>
          <p:nvPr/>
        </p:nvSpPr>
        <p:spPr>
          <a:xfrm>
            <a:off x="1737360" y="3438144"/>
            <a:ext cx="411480" cy="0"/>
          </a:xfrm>
          <a:prstGeom prst="line">
            <a:avLst/>
          </a:prstGeom>
          <a:noFill/>
          <a:ln w="17780">
            <a:solidFill>
              <a:srgbClr val="10B981"/>
            </a:solidFill>
            <a:prstDash val="solid"/>
          </a:ln>
        </p:spPr>
      </p:sp>
      <p:sp>
        <p:nvSpPr>
          <p:cNvPr id="21" name="Shape 19"/>
          <p:cNvSpPr/>
          <p:nvPr/>
        </p:nvSpPr>
        <p:spPr>
          <a:xfrm>
            <a:off x="2331720" y="3090672"/>
            <a:ext cx="2560320" cy="694944"/>
          </a:xfrm>
          <a:prstGeom prst="roundRect">
            <a:avLst>
              <a:gd name="adj" fmla="val 23684"/>
            </a:avLst>
          </a:prstGeom>
          <a:solidFill>
            <a:srgbClr val="244E42"/>
          </a:solidFill>
          <a:ln w="12700">
            <a:solidFill>
              <a:srgbClr val="496C61"/>
            </a:solidFill>
            <a:prstDash val="solid"/>
          </a:ln>
        </p:spPr>
      </p:sp>
      <p:sp>
        <p:nvSpPr>
          <p:cNvPr id="22" name="Shape 20"/>
          <p:cNvSpPr/>
          <p:nvPr/>
        </p:nvSpPr>
        <p:spPr>
          <a:xfrm>
            <a:off x="2496312" y="3246120"/>
            <a:ext cx="365760" cy="365760"/>
          </a:xfrm>
          <a:prstGeom prst="ellipse">
            <a:avLst/>
          </a:prstGeom>
          <a:solidFill>
            <a:srgbClr val="10B981"/>
          </a:solidFill>
          <a:ln w="12700">
            <a:solidFill>
              <a:srgbClr val="10B981"/>
            </a:solidFill>
            <a:prstDash val="solid"/>
          </a:ln>
        </p:spPr>
      </p:sp>
      <p:sp>
        <p:nvSpPr>
          <p:cNvPr id="23" name="Text 21"/>
          <p:cNvSpPr/>
          <p:nvPr/>
        </p:nvSpPr>
        <p:spPr>
          <a:xfrm>
            <a:off x="249631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24" name="Text 22"/>
          <p:cNvSpPr/>
          <p:nvPr/>
        </p:nvSpPr>
        <p:spPr>
          <a:xfrm>
            <a:off x="299008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Next.js 16</a:t>
            </a:r>
            <a:endParaRPr lang="en-US" sz="1100" dirty="0"/>
          </a:p>
        </p:txBody>
      </p:sp>
      <p:sp>
        <p:nvSpPr>
          <p:cNvPr id="25" name="Shape 23"/>
          <p:cNvSpPr/>
          <p:nvPr/>
        </p:nvSpPr>
        <p:spPr>
          <a:xfrm>
            <a:off x="5349240" y="3090672"/>
            <a:ext cx="2560320" cy="694944"/>
          </a:xfrm>
          <a:prstGeom prst="roundRect">
            <a:avLst>
              <a:gd name="adj" fmla="val 23684"/>
            </a:avLst>
          </a:prstGeom>
          <a:solidFill>
            <a:srgbClr val="244E42"/>
          </a:solidFill>
          <a:ln w="12700">
            <a:solidFill>
              <a:srgbClr val="496C61"/>
            </a:solidFill>
            <a:prstDash val="solid"/>
          </a:ln>
        </p:spPr>
      </p:sp>
      <p:sp>
        <p:nvSpPr>
          <p:cNvPr id="26" name="Shape 24"/>
          <p:cNvSpPr/>
          <p:nvPr/>
        </p:nvSpPr>
        <p:spPr>
          <a:xfrm>
            <a:off x="5513832" y="3246120"/>
            <a:ext cx="365760" cy="365760"/>
          </a:xfrm>
          <a:prstGeom prst="ellipse">
            <a:avLst/>
          </a:prstGeom>
          <a:solidFill>
            <a:srgbClr val="10B981"/>
          </a:solidFill>
          <a:ln w="12700">
            <a:solidFill>
              <a:srgbClr val="10B981"/>
            </a:solidFill>
            <a:prstDash val="solid"/>
          </a:ln>
        </p:spPr>
      </p:sp>
      <p:sp>
        <p:nvSpPr>
          <p:cNvPr id="27" name="Text 25"/>
          <p:cNvSpPr/>
          <p:nvPr/>
        </p:nvSpPr>
        <p:spPr>
          <a:xfrm>
            <a:off x="551383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28" name="Text 26"/>
          <p:cNvSpPr/>
          <p:nvPr/>
        </p:nvSpPr>
        <p:spPr>
          <a:xfrm>
            <a:off x="600760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Scan + approval APIs</a:t>
            </a:r>
            <a:endParaRPr lang="en-US" sz="1100" dirty="0"/>
          </a:p>
        </p:txBody>
      </p:sp>
      <p:sp>
        <p:nvSpPr>
          <p:cNvPr id="29" name="Shape 27"/>
          <p:cNvSpPr/>
          <p:nvPr/>
        </p:nvSpPr>
        <p:spPr>
          <a:xfrm>
            <a:off x="8366760" y="3090672"/>
            <a:ext cx="2560320" cy="694944"/>
          </a:xfrm>
          <a:prstGeom prst="roundRect">
            <a:avLst>
              <a:gd name="adj" fmla="val 23684"/>
            </a:avLst>
          </a:prstGeom>
          <a:solidFill>
            <a:srgbClr val="244E42"/>
          </a:solidFill>
          <a:ln w="12700">
            <a:solidFill>
              <a:srgbClr val="496C61"/>
            </a:solidFill>
            <a:prstDash val="solid"/>
          </a:ln>
        </p:spPr>
      </p:sp>
      <p:sp>
        <p:nvSpPr>
          <p:cNvPr id="30" name="Shape 28"/>
          <p:cNvSpPr/>
          <p:nvPr/>
        </p:nvSpPr>
        <p:spPr>
          <a:xfrm>
            <a:off x="8531352" y="3246120"/>
            <a:ext cx="365760" cy="365760"/>
          </a:xfrm>
          <a:prstGeom prst="ellipse">
            <a:avLst/>
          </a:prstGeom>
          <a:solidFill>
            <a:srgbClr val="10B981"/>
          </a:solidFill>
          <a:ln w="12700">
            <a:solidFill>
              <a:srgbClr val="10B981"/>
            </a:solidFill>
            <a:prstDash val="solid"/>
          </a:ln>
        </p:spPr>
      </p:sp>
      <p:sp>
        <p:nvSpPr>
          <p:cNvPr id="31" name="Text 29"/>
          <p:cNvSpPr/>
          <p:nvPr/>
        </p:nvSpPr>
        <p:spPr>
          <a:xfrm>
            <a:off x="853135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32" name="Text 30"/>
          <p:cNvSpPr/>
          <p:nvPr/>
        </p:nvSpPr>
        <p:spPr>
          <a:xfrm>
            <a:off x="902512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Brevo adapter</a:t>
            </a:r>
            <a:endParaRPr lang="en-US" sz="1100" dirty="0"/>
          </a:p>
        </p:txBody>
      </p:sp>
      <p:sp>
        <p:nvSpPr>
          <p:cNvPr id="33" name="Text 31"/>
          <p:cNvSpPr/>
          <p:nvPr/>
        </p:nvSpPr>
        <p:spPr>
          <a:xfrm>
            <a:off x="621792" y="4334256"/>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7C3AED"/>
                </a:solidFill>
                <a:latin typeface="Aptos" pitchFamily="34" charset="0"/>
                <a:ea typeface="Aptos" pitchFamily="34" charset="-122"/>
                <a:cs typeface="Aptos" pitchFamily="34" charset="-120"/>
              </a:rPr>
              <a:t>INTELLIGENCE</a:t>
            </a:r>
            <a:endParaRPr lang="en-US" sz="850" dirty="0"/>
          </a:p>
        </p:txBody>
      </p:sp>
      <p:sp>
        <p:nvSpPr>
          <p:cNvPr id="34" name="Shape 32"/>
          <p:cNvSpPr/>
          <p:nvPr/>
        </p:nvSpPr>
        <p:spPr>
          <a:xfrm>
            <a:off x="1737360" y="4471416"/>
            <a:ext cx="411480" cy="0"/>
          </a:xfrm>
          <a:prstGeom prst="line">
            <a:avLst/>
          </a:prstGeom>
          <a:noFill/>
          <a:ln w="17780">
            <a:solidFill>
              <a:srgbClr val="7C3AED"/>
            </a:solidFill>
            <a:prstDash val="solid"/>
          </a:ln>
        </p:spPr>
      </p:sp>
      <p:sp>
        <p:nvSpPr>
          <p:cNvPr id="35" name="Shape 33"/>
          <p:cNvSpPr/>
          <p:nvPr/>
        </p:nvSpPr>
        <p:spPr>
          <a:xfrm>
            <a:off x="2331720" y="4123944"/>
            <a:ext cx="2560320" cy="694944"/>
          </a:xfrm>
          <a:prstGeom prst="roundRect">
            <a:avLst>
              <a:gd name="adj" fmla="val 23684"/>
            </a:avLst>
          </a:prstGeom>
          <a:solidFill>
            <a:srgbClr val="2A2145"/>
          </a:solidFill>
          <a:ln w="12700">
            <a:solidFill>
              <a:srgbClr val="496C61"/>
            </a:solidFill>
            <a:prstDash val="solid"/>
          </a:ln>
        </p:spPr>
      </p:sp>
      <p:sp>
        <p:nvSpPr>
          <p:cNvPr id="36" name="Shape 34"/>
          <p:cNvSpPr/>
          <p:nvPr/>
        </p:nvSpPr>
        <p:spPr>
          <a:xfrm>
            <a:off x="2496312" y="4279392"/>
            <a:ext cx="365760" cy="365760"/>
          </a:xfrm>
          <a:prstGeom prst="ellipse">
            <a:avLst/>
          </a:prstGeom>
          <a:solidFill>
            <a:srgbClr val="7C3AED"/>
          </a:solidFill>
          <a:ln w="12700">
            <a:solidFill>
              <a:srgbClr val="7C3AED"/>
            </a:solidFill>
            <a:prstDash val="solid"/>
          </a:ln>
        </p:spPr>
      </p:sp>
      <p:sp>
        <p:nvSpPr>
          <p:cNvPr id="37" name="Text 35"/>
          <p:cNvSpPr/>
          <p:nvPr/>
        </p:nvSpPr>
        <p:spPr>
          <a:xfrm>
            <a:off x="249631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38" name="Text 36"/>
          <p:cNvSpPr/>
          <p:nvPr/>
        </p:nvSpPr>
        <p:spPr>
          <a:xfrm>
            <a:off x="299008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XGBoost / FastAPI</a:t>
            </a:r>
            <a:endParaRPr lang="en-US" sz="1100" dirty="0"/>
          </a:p>
        </p:txBody>
      </p:sp>
      <p:sp>
        <p:nvSpPr>
          <p:cNvPr id="39" name="Shape 37"/>
          <p:cNvSpPr/>
          <p:nvPr/>
        </p:nvSpPr>
        <p:spPr>
          <a:xfrm>
            <a:off x="5349240" y="4123944"/>
            <a:ext cx="2560320" cy="694944"/>
          </a:xfrm>
          <a:prstGeom prst="roundRect">
            <a:avLst>
              <a:gd name="adj" fmla="val 23684"/>
            </a:avLst>
          </a:prstGeom>
          <a:solidFill>
            <a:srgbClr val="2A2145"/>
          </a:solidFill>
          <a:ln w="12700">
            <a:solidFill>
              <a:srgbClr val="496C61"/>
            </a:solidFill>
            <a:prstDash val="solid"/>
          </a:ln>
        </p:spPr>
      </p:sp>
      <p:sp>
        <p:nvSpPr>
          <p:cNvPr id="40" name="Shape 38"/>
          <p:cNvSpPr/>
          <p:nvPr/>
        </p:nvSpPr>
        <p:spPr>
          <a:xfrm>
            <a:off x="5513832" y="4279392"/>
            <a:ext cx="365760" cy="365760"/>
          </a:xfrm>
          <a:prstGeom prst="ellipse">
            <a:avLst/>
          </a:prstGeom>
          <a:solidFill>
            <a:srgbClr val="7C3AED"/>
          </a:solidFill>
          <a:ln w="12700">
            <a:solidFill>
              <a:srgbClr val="7C3AED"/>
            </a:solidFill>
            <a:prstDash val="solid"/>
          </a:ln>
        </p:spPr>
      </p:sp>
      <p:sp>
        <p:nvSpPr>
          <p:cNvPr id="41" name="Text 39"/>
          <p:cNvSpPr/>
          <p:nvPr/>
        </p:nvSpPr>
        <p:spPr>
          <a:xfrm>
            <a:off x="551383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42" name="Text 40"/>
          <p:cNvSpPr/>
          <p:nvPr/>
        </p:nvSpPr>
        <p:spPr>
          <a:xfrm>
            <a:off x="600760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Constrained optimizer</a:t>
            </a:r>
            <a:endParaRPr lang="en-US" sz="1100" dirty="0"/>
          </a:p>
        </p:txBody>
      </p:sp>
      <p:sp>
        <p:nvSpPr>
          <p:cNvPr id="43" name="Shape 41"/>
          <p:cNvSpPr/>
          <p:nvPr/>
        </p:nvSpPr>
        <p:spPr>
          <a:xfrm>
            <a:off x="8366760" y="4123944"/>
            <a:ext cx="2560320" cy="694944"/>
          </a:xfrm>
          <a:prstGeom prst="roundRect">
            <a:avLst>
              <a:gd name="adj" fmla="val 23684"/>
            </a:avLst>
          </a:prstGeom>
          <a:solidFill>
            <a:srgbClr val="2A2145"/>
          </a:solidFill>
          <a:ln w="12700">
            <a:solidFill>
              <a:srgbClr val="496C61"/>
            </a:solidFill>
            <a:prstDash val="solid"/>
          </a:ln>
        </p:spPr>
      </p:sp>
      <p:sp>
        <p:nvSpPr>
          <p:cNvPr id="44" name="Shape 42"/>
          <p:cNvSpPr/>
          <p:nvPr/>
        </p:nvSpPr>
        <p:spPr>
          <a:xfrm>
            <a:off x="8531352" y="4279392"/>
            <a:ext cx="365760" cy="365760"/>
          </a:xfrm>
          <a:prstGeom prst="ellipse">
            <a:avLst/>
          </a:prstGeom>
          <a:solidFill>
            <a:srgbClr val="7C3AED"/>
          </a:solidFill>
          <a:ln w="12700">
            <a:solidFill>
              <a:srgbClr val="7C3AED"/>
            </a:solidFill>
            <a:prstDash val="solid"/>
          </a:ln>
        </p:spPr>
      </p:sp>
      <p:sp>
        <p:nvSpPr>
          <p:cNvPr id="45" name="Text 43"/>
          <p:cNvSpPr/>
          <p:nvPr/>
        </p:nvSpPr>
        <p:spPr>
          <a:xfrm>
            <a:off x="853135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46" name="Text 44"/>
          <p:cNvSpPr/>
          <p:nvPr/>
        </p:nvSpPr>
        <p:spPr>
          <a:xfrm>
            <a:off x="902512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Gemini adapter</a:t>
            </a:r>
            <a:endParaRPr lang="en-US" sz="1100" dirty="0"/>
          </a:p>
        </p:txBody>
      </p:sp>
      <p:sp>
        <p:nvSpPr>
          <p:cNvPr id="47" name="Text 45"/>
          <p:cNvSpPr/>
          <p:nvPr/>
        </p:nvSpPr>
        <p:spPr>
          <a:xfrm>
            <a:off x="621792" y="5367528"/>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F97316"/>
                </a:solidFill>
                <a:latin typeface="Aptos" pitchFamily="34" charset="0"/>
                <a:ea typeface="Aptos" pitchFamily="34" charset="-122"/>
                <a:cs typeface="Aptos" pitchFamily="34" charset="-120"/>
              </a:rPr>
              <a:t>DATA + OPS</a:t>
            </a:r>
            <a:endParaRPr lang="en-US" sz="850" dirty="0"/>
          </a:p>
        </p:txBody>
      </p:sp>
      <p:sp>
        <p:nvSpPr>
          <p:cNvPr id="48" name="Shape 46"/>
          <p:cNvSpPr/>
          <p:nvPr/>
        </p:nvSpPr>
        <p:spPr>
          <a:xfrm>
            <a:off x="1737360" y="5504688"/>
            <a:ext cx="411480" cy="0"/>
          </a:xfrm>
          <a:prstGeom prst="line">
            <a:avLst/>
          </a:prstGeom>
          <a:noFill/>
          <a:ln w="17780">
            <a:solidFill>
              <a:srgbClr val="F97316"/>
            </a:solidFill>
            <a:prstDash val="solid"/>
          </a:ln>
        </p:spPr>
      </p:sp>
      <p:sp>
        <p:nvSpPr>
          <p:cNvPr id="49" name="Shape 47"/>
          <p:cNvSpPr/>
          <p:nvPr/>
        </p:nvSpPr>
        <p:spPr>
          <a:xfrm>
            <a:off x="2331720" y="5157216"/>
            <a:ext cx="2560320" cy="694944"/>
          </a:xfrm>
          <a:prstGeom prst="roundRect">
            <a:avLst>
              <a:gd name="adj" fmla="val 23684"/>
            </a:avLst>
          </a:prstGeom>
          <a:solidFill>
            <a:srgbClr val="493020"/>
          </a:solidFill>
          <a:ln w="12700">
            <a:solidFill>
              <a:srgbClr val="496C61"/>
            </a:solidFill>
            <a:prstDash val="solid"/>
          </a:ln>
        </p:spPr>
      </p:sp>
      <p:sp>
        <p:nvSpPr>
          <p:cNvPr id="50" name="Shape 48"/>
          <p:cNvSpPr/>
          <p:nvPr/>
        </p:nvSpPr>
        <p:spPr>
          <a:xfrm>
            <a:off x="2496312" y="5312664"/>
            <a:ext cx="365760" cy="365760"/>
          </a:xfrm>
          <a:prstGeom prst="ellipse">
            <a:avLst/>
          </a:prstGeom>
          <a:solidFill>
            <a:srgbClr val="F97316"/>
          </a:solidFill>
          <a:ln w="12700">
            <a:solidFill>
              <a:srgbClr val="F97316"/>
            </a:solidFill>
            <a:prstDash val="solid"/>
          </a:ln>
        </p:spPr>
      </p:sp>
      <p:sp>
        <p:nvSpPr>
          <p:cNvPr id="51" name="Text 49"/>
          <p:cNvSpPr/>
          <p:nvPr/>
        </p:nvSpPr>
        <p:spPr>
          <a:xfrm>
            <a:off x="249631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1</a:t>
            </a:r>
            <a:endParaRPr lang="en-US" sz="1000" dirty="0"/>
          </a:p>
        </p:txBody>
      </p:sp>
      <p:sp>
        <p:nvSpPr>
          <p:cNvPr id="52" name="Text 50"/>
          <p:cNvSpPr/>
          <p:nvPr/>
        </p:nvSpPr>
        <p:spPr>
          <a:xfrm>
            <a:off x="299008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Supabase + RLS</a:t>
            </a:r>
            <a:endParaRPr lang="en-US" sz="1100" dirty="0"/>
          </a:p>
        </p:txBody>
      </p:sp>
      <p:sp>
        <p:nvSpPr>
          <p:cNvPr id="53" name="Shape 51"/>
          <p:cNvSpPr/>
          <p:nvPr/>
        </p:nvSpPr>
        <p:spPr>
          <a:xfrm>
            <a:off x="5349240" y="5157216"/>
            <a:ext cx="2560320" cy="694944"/>
          </a:xfrm>
          <a:prstGeom prst="roundRect">
            <a:avLst>
              <a:gd name="adj" fmla="val 23684"/>
            </a:avLst>
          </a:prstGeom>
          <a:solidFill>
            <a:srgbClr val="493020"/>
          </a:solidFill>
          <a:ln w="12700">
            <a:solidFill>
              <a:srgbClr val="496C61"/>
            </a:solidFill>
            <a:prstDash val="solid"/>
          </a:ln>
        </p:spPr>
      </p:sp>
      <p:sp>
        <p:nvSpPr>
          <p:cNvPr id="54" name="Shape 52"/>
          <p:cNvSpPr/>
          <p:nvPr/>
        </p:nvSpPr>
        <p:spPr>
          <a:xfrm>
            <a:off x="5513832" y="5312664"/>
            <a:ext cx="365760" cy="365760"/>
          </a:xfrm>
          <a:prstGeom prst="ellipse">
            <a:avLst/>
          </a:prstGeom>
          <a:solidFill>
            <a:srgbClr val="F97316"/>
          </a:solidFill>
          <a:ln w="12700">
            <a:solidFill>
              <a:srgbClr val="F97316"/>
            </a:solidFill>
            <a:prstDash val="solid"/>
          </a:ln>
        </p:spPr>
      </p:sp>
      <p:sp>
        <p:nvSpPr>
          <p:cNvPr id="55" name="Text 53"/>
          <p:cNvSpPr/>
          <p:nvPr/>
        </p:nvSpPr>
        <p:spPr>
          <a:xfrm>
            <a:off x="551383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2</a:t>
            </a:r>
            <a:endParaRPr lang="en-US" sz="1000" dirty="0"/>
          </a:p>
        </p:txBody>
      </p:sp>
      <p:sp>
        <p:nvSpPr>
          <p:cNvPr id="56" name="Text 54"/>
          <p:cNvSpPr/>
          <p:nvPr/>
        </p:nvSpPr>
        <p:spPr>
          <a:xfrm>
            <a:off x="600760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Vercel + cron</a:t>
            </a:r>
            <a:endParaRPr lang="en-US" sz="1100" dirty="0"/>
          </a:p>
        </p:txBody>
      </p:sp>
      <p:sp>
        <p:nvSpPr>
          <p:cNvPr id="57" name="Shape 55"/>
          <p:cNvSpPr/>
          <p:nvPr/>
        </p:nvSpPr>
        <p:spPr>
          <a:xfrm>
            <a:off x="8366760" y="5157216"/>
            <a:ext cx="2560320" cy="694944"/>
          </a:xfrm>
          <a:prstGeom prst="roundRect">
            <a:avLst>
              <a:gd name="adj" fmla="val 23684"/>
            </a:avLst>
          </a:prstGeom>
          <a:solidFill>
            <a:srgbClr val="493020"/>
          </a:solidFill>
          <a:ln w="12700">
            <a:solidFill>
              <a:srgbClr val="496C61"/>
            </a:solidFill>
            <a:prstDash val="solid"/>
          </a:ln>
        </p:spPr>
      </p:sp>
      <p:sp>
        <p:nvSpPr>
          <p:cNvPr id="58" name="Shape 56"/>
          <p:cNvSpPr/>
          <p:nvPr/>
        </p:nvSpPr>
        <p:spPr>
          <a:xfrm>
            <a:off x="8531352" y="5312664"/>
            <a:ext cx="365760" cy="365760"/>
          </a:xfrm>
          <a:prstGeom prst="ellipse">
            <a:avLst/>
          </a:prstGeom>
          <a:solidFill>
            <a:srgbClr val="F97316"/>
          </a:solidFill>
          <a:ln w="12700">
            <a:solidFill>
              <a:srgbClr val="F97316"/>
            </a:solidFill>
            <a:prstDash val="solid"/>
          </a:ln>
        </p:spPr>
      </p:sp>
      <p:sp>
        <p:nvSpPr>
          <p:cNvPr id="59" name="Text 57"/>
          <p:cNvSpPr/>
          <p:nvPr/>
        </p:nvSpPr>
        <p:spPr>
          <a:xfrm>
            <a:off x="853135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3</a:t>
            </a:r>
            <a:endParaRPr lang="en-US" sz="1000" dirty="0"/>
          </a:p>
        </p:txBody>
      </p:sp>
      <p:sp>
        <p:nvSpPr>
          <p:cNvPr id="60" name="Text 58"/>
          <p:cNvSpPr/>
          <p:nvPr/>
        </p:nvSpPr>
        <p:spPr>
          <a:xfrm>
            <a:off x="902512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Render model service</a:t>
            </a:r>
            <a:endParaRPr lang="en-US" sz="1100" dirty="0"/>
          </a:p>
        </p:txBody>
      </p:sp>
      <p:sp>
        <p:nvSpPr>
          <p:cNvPr id="61" name="Shape 59"/>
          <p:cNvSpPr/>
          <p:nvPr/>
        </p:nvSpPr>
        <p:spPr>
          <a:xfrm>
            <a:off x="10899648" y="1993392"/>
            <a:ext cx="594360" cy="3895344"/>
          </a:xfrm>
          <a:prstGeom prst="roundRect">
            <a:avLst>
              <a:gd name="adj" fmla="val 27692"/>
            </a:avLst>
          </a:prstGeom>
          <a:solidFill>
            <a:srgbClr val="244E42"/>
          </a:solidFill>
          <a:ln w="12700">
            <a:solidFill>
              <a:srgbClr val="244E42">
                <a:alpha val="0"/>
              </a:srgbClr>
            </a:solidFill>
            <a:prstDash val="solid"/>
          </a:ln>
        </p:spPr>
      </p:sp>
      <p:sp>
        <p:nvSpPr>
          <p:cNvPr id="62" name="Text 60"/>
          <p:cNvSpPr/>
          <p:nvPr/>
        </p:nvSpPr>
        <p:spPr>
          <a:xfrm>
            <a:off x="11009376" y="2395728"/>
            <a:ext cx="374904" cy="914400"/>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AUDIT</a:t>
            </a:r>
            <a:endParaRPr lang="en-US" sz="900" dirty="0"/>
          </a:p>
          <a:p>
            <a:pPr algn="ctr" indent="0" marL="0">
              <a:buNone/>
            </a:pPr>
            <a:r>
              <a:rPr lang="en-US" sz="900" b="1" dirty="0">
                <a:solidFill>
                  <a:srgbClr val="BEF264"/>
                </a:solidFill>
                <a:latin typeface="Aptos" pitchFamily="34" charset="0"/>
                <a:ea typeface="Aptos" pitchFamily="34" charset="-122"/>
                <a:cs typeface="Aptos" pitchFamily="34" charset="-120"/>
              </a:rPr>
              <a:t>TRAIL</a:t>
            </a:r>
            <a:endParaRPr lang="en-US" sz="900" dirty="0"/>
          </a:p>
        </p:txBody>
      </p:sp>
      <p:sp>
        <p:nvSpPr>
          <p:cNvPr id="63" name="Shape 61"/>
          <p:cNvSpPr/>
          <p:nvPr/>
        </p:nvSpPr>
        <p:spPr>
          <a:xfrm>
            <a:off x="11192256" y="3429000"/>
            <a:ext cx="0" cy="1536192"/>
          </a:xfrm>
          <a:prstGeom prst="line">
            <a:avLst/>
          </a:prstGeom>
          <a:noFill/>
          <a:ln w="17780">
            <a:solidFill>
              <a:srgbClr val="5D7D72"/>
            </a:solidFill>
            <a:prstDash val="dash"/>
          </a:ln>
        </p:spPr>
      </p:sp>
      <p:sp>
        <p:nvSpPr>
          <p:cNvPr id="64" name="Text 62"/>
          <p:cNvSpPr/>
          <p:nvPr/>
        </p:nvSpPr>
        <p:spPr>
          <a:xfrm>
            <a:off x="11009376" y="5029200"/>
            <a:ext cx="374904" cy="53035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STORE</a:t>
            </a:r>
            <a:endParaRPr lang="en-US" sz="900" dirty="0"/>
          </a:p>
          <a:p>
            <a:pPr algn="ctr" indent="0" marL="0">
              <a:buNone/>
            </a:pPr>
            <a:r>
              <a:rPr lang="en-US" sz="900" b="1" dirty="0">
                <a:solidFill>
                  <a:srgbClr val="FFFFFF"/>
                </a:solidFill>
                <a:latin typeface="Aptos" pitchFamily="34" charset="0"/>
                <a:ea typeface="Aptos" pitchFamily="34" charset="-122"/>
                <a:cs typeface="Aptos" pitchFamily="34" charset="-120"/>
              </a:rPr>
              <a:t>ID</a:t>
            </a:r>
            <a:endParaRPr lang="en-US" sz="900" dirty="0"/>
          </a:p>
        </p:txBody>
      </p:sp>
      <p:sp>
        <p:nvSpPr>
          <p:cNvPr id="65" name="Shape 63"/>
          <p:cNvSpPr/>
          <p:nvPr/>
        </p:nvSpPr>
        <p:spPr>
          <a:xfrm>
            <a:off x="502920" y="6419088"/>
            <a:ext cx="10744200" cy="0"/>
          </a:xfrm>
          <a:prstGeom prst="line">
            <a:avLst/>
          </a:prstGeom>
          <a:noFill/>
          <a:ln w="10160">
            <a:solidFill>
              <a:srgbClr val="406459"/>
            </a:solidFill>
            <a:prstDash val="solid"/>
          </a:ln>
        </p:spPr>
      </p:sp>
      <p:sp>
        <p:nvSpPr>
          <p:cNvPr id="66" name="Text 64"/>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67" name="Text 65"/>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Next.js · Supabase · XGBoost · Render · Vercel</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WHAT IS LIVE TODAY</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A deployed product — with honest boundaries.</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The system is usable now; impact claims wait for real merchant evidence.</a:t>
            </a:r>
            <a:endParaRPr lang="en-US" sz="1250" dirty="0"/>
          </a:p>
        </p:txBody>
      </p:sp>
      <p:sp>
        <p:nvSpPr>
          <p:cNvPr id="5" name="Shape 3"/>
          <p:cNvSpPr/>
          <p:nvPr/>
        </p:nvSpPr>
        <p:spPr>
          <a:xfrm>
            <a:off x="640080" y="2029968"/>
            <a:ext cx="2377440" cy="960120"/>
          </a:xfrm>
          <a:prstGeom prst="roundRect">
            <a:avLst>
              <a:gd name="adj" fmla="val 17143"/>
            </a:avLst>
          </a:prstGeom>
          <a:solidFill>
            <a:srgbClr val="DDF7E8"/>
          </a:solidFill>
          <a:ln w="12700">
            <a:solidFill>
              <a:srgbClr val="DDF7E8">
                <a:alpha val="0"/>
              </a:srgbClr>
            </a:solidFill>
            <a:prstDash val="solid"/>
          </a:ln>
        </p:spPr>
      </p:sp>
      <p:sp>
        <p:nvSpPr>
          <p:cNvPr id="6" name="Text 4"/>
          <p:cNvSpPr/>
          <p:nvPr/>
        </p:nvSpPr>
        <p:spPr>
          <a:xfrm>
            <a:off x="804672"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173D31"/>
                </a:solidFill>
                <a:latin typeface="Aptos Display" pitchFamily="34" charset="0"/>
                <a:ea typeface="Aptos Display" pitchFamily="34" charset="-122"/>
                <a:cs typeface="Aptos Display" pitchFamily="34" charset="-120"/>
              </a:rPr>
              <a:t>18</a:t>
            </a:r>
            <a:endParaRPr lang="en-US" sz="2300" dirty="0"/>
          </a:p>
        </p:txBody>
      </p:sp>
      <p:sp>
        <p:nvSpPr>
          <p:cNvPr id="7" name="Text 5"/>
          <p:cNvSpPr/>
          <p:nvPr/>
        </p:nvSpPr>
        <p:spPr>
          <a:xfrm>
            <a:off x="804672"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173D31">
                    <a:alpha val="75000"/>
                  </a:srgbClr>
                </a:solidFill>
                <a:latin typeface="Aptos" pitchFamily="34" charset="0"/>
                <a:ea typeface="Aptos" pitchFamily="34" charset="-122"/>
                <a:cs typeface="Aptos" pitchFamily="34" charset="-120"/>
              </a:rPr>
              <a:t>AUTOMATED TESTS</a:t>
            </a:r>
            <a:endParaRPr lang="en-US" sz="900" dirty="0"/>
          </a:p>
        </p:txBody>
      </p:sp>
      <p:sp>
        <p:nvSpPr>
          <p:cNvPr id="8" name="Shape 6"/>
          <p:cNvSpPr/>
          <p:nvPr/>
        </p:nvSpPr>
        <p:spPr>
          <a:xfrm>
            <a:off x="3182112" y="2029968"/>
            <a:ext cx="2377440" cy="960120"/>
          </a:xfrm>
          <a:prstGeom prst="roundRect">
            <a:avLst>
              <a:gd name="adj" fmla="val 17143"/>
            </a:avLst>
          </a:prstGeom>
          <a:solidFill>
            <a:srgbClr val="BEF264"/>
          </a:solidFill>
          <a:ln w="12700">
            <a:solidFill>
              <a:srgbClr val="BEF264">
                <a:alpha val="0"/>
              </a:srgbClr>
            </a:solidFill>
            <a:prstDash val="solid"/>
          </a:ln>
        </p:spPr>
      </p:sp>
      <p:sp>
        <p:nvSpPr>
          <p:cNvPr id="9" name="Text 7"/>
          <p:cNvSpPr/>
          <p:nvPr/>
        </p:nvSpPr>
        <p:spPr>
          <a:xfrm>
            <a:off x="3346704"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173D31"/>
                </a:solidFill>
                <a:latin typeface="Aptos Display" pitchFamily="34" charset="0"/>
                <a:ea typeface="Aptos Display" pitchFamily="34" charset="-122"/>
                <a:cs typeface="Aptos Display" pitchFamily="34" charset="-120"/>
              </a:rPr>
              <a:t>8× 200</a:t>
            </a:r>
            <a:endParaRPr lang="en-US" sz="2300" dirty="0"/>
          </a:p>
        </p:txBody>
      </p:sp>
      <p:sp>
        <p:nvSpPr>
          <p:cNvPr id="10" name="Text 8"/>
          <p:cNvSpPr/>
          <p:nvPr/>
        </p:nvSpPr>
        <p:spPr>
          <a:xfrm>
            <a:off x="3346704"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173D31">
                    <a:alpha val="75000"/>
                  </a:srgbClr>
                </a:solidFill>
                <a:latin typeface="Aptos" pitchFamily="34" charset="0"/>
                <a:ea typeface="Aptos" pitchFamily="34" charset="-122"/>
                <a:cs typeface="Aptos" pitchFamily="34" charset="-120"/>
              </a:rPr>
              <a:t>PUBLIC ROUTES VERIFIED</a:t>
            </a:r>
            <a:endParaRPr lang="en-US" sz="900" dirty="0"/>
          </a:p>
        </p:txBody>
      </p:sp>
      <p:sp>
        <p:nvSpPr>
          <p:cNvPr id="11" name="Shape 9"/>
          <p:cNvSpPr/>
          <p:nvPr/>
        </p:nvSpPr>
        <p:spPr>
          <a:xfrm>
            <a:off x="5724144" y="2029968"/>
            <a:ext cx="2377440" cy="960120"/>
          </a:xfrm>
          <a:prstGeom prst="roundRect">
            <a:avLst>
              <a:gd name="adj" fmla="val 17143"/>
            </a:avLst>
          </a:prstGeom>
          <a:solidFill>
            <a:srgbClr val="F2ECFF"/>
          </a:solidFill>
          <a:ln w="12700">
            <a:solidFill>
              <a:srgbClr val="F2ECFF">
                <a:alpha val="0"/>
              </a:srgbClr>
            </a:solidFill>
            <a:prstDash val="solid"/>
          </a:ln>
        </p:spPr>
      </p:sp>
      <p:sp>
        <p:nvSpPr>
          <p:cNvPr id="12" name="Text 10"/>
          <p:cNvSpPr/>
          <p:nvPr/>
        </p:nvSpPr>
        <p:spPr>
          <a:xfrm>
            <a:off x="5888736"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7C3AED"/>
                </a:solidFill>
                <a:latin typeface="Aptos Display" pitchFamily="34" charset="0"/>
                <a:ea typeface="Aptos Display" pitchFamily="34" charset="-122"/>
                <a:cs typeface="Aptos Display" pitchFamily="34" charset="-120"/>
              </a:rPr>
              <a:t>XGBoost</a:t>
            </a:r>
            <a:endParaRPr lang="en-US" sz="2300" dirty="0"/>
          </a:p>
        </p:txBody>
      </p:sp>
      <p:sp>
        <p:nvSpPr>
          <p:cNvPr id="13" name="Text 11"/>
          <p:cNvSpPr/>
          <p:nvPr/>
        </p:nvSpPr>
        <p:spPr>
          <a:xfrm>
            <a:off x="5888736"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7C3AED">
                    <a:alpha val="75000"/>
                  </a:srgbClr>
                </a:solidFill>
                <a:latin typeface="Aptos" pitchFamily="34" charset="0"/>
                <a:ea typeface="Aptos" pitchFamily="34" charset="-122"/>
                <a:cs typeface="Aptos" pitchFamily="34" charset="-120"/>
              </a:rPr>
              <a:t>LIVE AI PROVIDER</a:t>
            </a:r>
            <a:endParaRPr lang="en-US" sz="900" dirty="0"/>
          </a:p>
        </p:txBody>
      </p:sp>
      <p:sp>
        <p:nvSpPr>
          <p:cNvPr id="14" name="Shape 12"/>
          <p:cNvSpPr/>
          <p:nvPr/>
        </p:nvSpPr>
        <p:spPr>
          <a:xfrm>
            <a:off x="8266176" y="2029968"/>
            <a:ext cx="2377440" cy="960120"/>
          </a:xfrm>
          <a:prstGeom prst="roundRect">
            <a:avLst>
              <a:gd name="adj" fmla="val 17143"/>
            </a:avLst>
          </a:prstGeom>
          <a:solidFill>
            <a:srgbClr val="FFF0E7"/>
          </a:solidFill>
          <a:ln w="12700">
            <a:solidFill>
              <a:srgbClr val="FFF0E7">
                <a:alpha val="0"/>
              </a:srgbClr>
            </a:solidFill>
            <a:prstDash val="solid"/>
          </a:ln>
        </p:spPr>
      </p:sp>
      <p:sp>
        <p:nvSpPr>
          <p:cNvPr id="15" name="Text 13"/>
          <p:cNvSpPr/>
          <p:nvPr/>
        </p:nvSpPr>
        <p:spPr>
          <a:xfrm>
            <a:off x="8430768"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F97316"/>
                </a:solidFill>
                <a:latin typeface="Aptos Display" pitchFamily="34" charset="0"/>
                <a:ea typeface="Aptos Display" pitchFamily="34" charset="-122"/>
                <a:cs typeface="Aptos Display" pitchFamily="34" charset="-120"/>
              </a:rPr>
              <a:t>3</a:t>
            </a:r>
            <a:endParaRPr lang="en-US" sz="2300" dirty="0"/>
          </a:p>
        </p:txBody>
      </p:sp>
      <p:sp>
        <p:nvSpPr>
          <p:cNvPr id="16" name="Text 14"/>
          <p:cNvSpPr/>
          <p:nvPr/>
        </p:nvSpPr>
        <p:spPr>
          <a:xfrm>
            <a:off x="8430768"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F97316">
                    <a:alpha val="75000"/>
                  </a:srgbClr>
                </a:solidFill>
                <a:latin typeface="Aptos" pitchFamily="34" charset="0"/>
                <a:ea typeface="Aptos" pitchFamily="34" charset="-122"/>
                <a:cs typeface="Aptos" pitchFamily="34" charset="-120"/>
              </a:rPr>
              <a:t>MCP CONTROL PLANES</a:t>
            </a:r>
            <a:endParaRPr lang="en-US" sz="900" dirty="0"/>
          </a:p>
        </p:txBody>
      </p:sp>
      <p:sp>
        <p:nvSpPr>
          <p:cNvPr id="17" name="Shape 15"/>
          <p:cNvSpPr/>
          <p:nvPr/>
        </p:nvSpPr>
        <p:spPr>
          <a:xfrm>
            <a:off x="640080" y="3310128"/>
            <a:ext cx="5230368" cy="2331720"/>
          </a:xfrm>
          <a:prstGeom prst="roundRect">
            <a:avLst>
              <a:gd name="adj" fmla="val 9020"/>
            </a:avLst>
          </a:prstGeom>
          <a:solidFill>
            <a:srgbClr val="FFFFFF"/>
          </a:solidFill>
          <a:ln w="12700">
            <a:solidFill>
              <a:srgbClr val="D9E3DD"/>
            </a:solidFill>
            <a:prstDash val="solid"/>
          </a:ln>
          <a:effectLst>
            <a:outerShdw sx="100000" sy="100000" kx="0" ky="0" algn="bl" rotWithShape="0" blurRad="4.471758777120074e+53" dist="8.943517554240149e+53" dir="5.877312307200001e+63">
              <a:srgbClr val="0A241C">
                <a:alpha val="1.2999999999999998e+64"/>
              </a:srgbClr>
            </a:outerShdw>
          </a:effectLst>
        </p:spPr>
      </p:sp>
      <p:sp>
        <p:nvSpPr>
          <p:cNvPr id="18" name="Shape 16"/>
          <p:cNvSpPr/>
          <p:nvPr/>
        </p:nvSpPr>
        <p:spPr>
          <a:xfrm>
            <a:off x="941832" y="3602736"/>
            <a:ext cx="777240" cy="292608"/>
          </a:xfrm>
          <a:prstGeom prst="roundRect">
            <a:avLst>
              <a:gd name="adj" fmla="val 50000"/>
            </a:avLst>
          </a:prstGeom>
          <a:solidFill>
            <a:srgbClr val="DDF7E8"/>
          </a:solidFill>
          <a:ln w="12700">
            <a:solidFill>
              <a:srgbClr val="DDF7E8">
                <a:alpha val="0"/>
              </a:srgbClr>
            </a:solidFill>
            <a:prstDash val="solid"/>
          </a:ln>
        </p:spPr>
      </p:sp>
      <p:sp>
        <p:nvSpPr>
          <p:cNvPr id="19" name="Text 17"/>
          <p:cNvSpPr/>
          <p:nvPr/>
        </p:nvSpPr>
        <p:spPr>
          <a:xfrm>
            <a:off x="1014984" y="3602736"/>
            <a:ext cx="630936" cy="292608"/>
          </a:xfrm>
          <a:prstGeom prst="rect">
            <a:avLst/>
          </a:prstGeom>
          <a:noFill/>
          <a:ln/>
        </p:spPr>
        <p:txBody>
          <a:bodyPr wrap="square" lIns="0" tIns="0" rIns="0" bIns="0" rtlCol="0" anchor="ctr">
            <a:normAutofit/>
          </a:bodyPr>
          <a:lstStyle/>
          <a:p>
            <a:pPr algn="ctr" indent="0" marL="0">
              <a:buNone/>
            </a:pPr>
            <a:r>
              <a:rPr lang="en-US" sz="900" b="1" dirty="0">
                <a:solidFill>
                  <a:srgbClr val="10B981"/>
                </a:solidFill>
                <a:latin typeface="Aptos" pitchFamily="34" charset="0"/>
                <a:ea typeface="Aptos" pitchFamily="34" charset="-122"/>
                <a:cs typeface="Aptos" pitchFamily="34" charset="-120"/>
              </a:rPr>
              <a:t>PROVEN</a:t>
            </a:r>
            <a:endParaRPr lang="en-US" sz="900" dirty="0"/>
          </a:p>
        </p:txBody>
      </p:sp>
      <p:sp>
        <p:nvSpPr>
          <p:cNvPr id="20" name="Shape 18"/>
          <p:cNvSpPr/>
          <p:nvPr/>
        </p:nvSpPr>
        <p:spPr>
          <a:xfrm>
            <a:off x="950976" y="4087368"/>
            <a:ext cx="173736" cy="173736"/>
          </a:xfrm>
          <a:prstGeom prst="ellipse">
            <a:avLst/>
          </a:prstGeom>
          <a:solidFill>
            <a:srgbClr val="10B981"/>
          </a:solidFill>
          <a:ln w="12700">
            <a:solidFill>
              <a:srgbClr val="10B981"/>
            </a:solidFill>
            <a:prstDash val="solid"/>
          </a:ln>
        </p:spPr>
      </p:sp>
      <p:sp>
        <p:nvSpPr>
          <p:cNvPr id="21" name="Text 19"/>
          <p:cNvSpPr/>
          <p:nvPr/>
        </p:nvSpPr>
        <p:spPr>
          <a:xfrm>
            <a:off x="950976" y="408736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2" name="Text 20"/>
          <p:cNvSpPr/>
          <p:nvPr/>
        </p:nvSpPr>
        <p:spPr>
          <a:xfrm>
            <a:off x="1261872" y="405079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Public Vercel app + credential-free demo</a:t>
            </a:r>
            <a:endParaRPr lang="en-US" sz="1050" dirty="0"/>
          </a:p>
        </p:txBody>
      </p:sp>
      <p:sp>
        <p:nvSpPr>
          <p:cNvPr id="23" name="Shape 21"/>
          <p:cNvSpPr/>
          <p:nvPr/>
        </p:nvSpPr>
        <p:spPr>
          <a:xfrm>
            <a:off x="950976" y="4453128"/>
            <a:ext cx="173736" cy="173736"/>
          </a:xfrm>
          <a:prstGeom prst="ellipse">
            <a:avLst/>
          </a:prstGeom>
          <a:solidFill>
            <a:srgbClr val="10B981"/>
          </a:solidFill>
          <a:ln w="12700">
            <a:solidFill>
              <a:srgbClr val="10B981"/>
            </a:solidFill>
            <a:prstDash val="solid"/>
          </a:ln>
        </p:spPr>
      </p:sp>
      <p:sp>
        <p:nvSpPr>
          <p:cNvPr id="24" name="Text 22"/>
          <p:cNvSpPr/>
          <p:nvPr/>
        </p:nvSpPr>
        <p:spPr>
          <a:xfrm>
            <a:off x="950976" y="445312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5" name="Text 23"/>
          <p:cNvSpPr/>
          <p:nvPr/>
        </p:nvSpPr>
        <p:spPr>
          <a:xfrm>
            <a:off x="1261872" y="441655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Authenticated owner and customer journeys</a:t>
            </a:r>
            <a:endParaRPr lang="en-US" sz="1050" dirty="0"/>
          </a:p>
        </p:txBody>
      </p:sp>
      <p:sp>
        <p:nvSpPr>
          <p:cNvPr id="26" name="Shape 24"/>
          <p:cNvSpPr/>
          <p:nvPr/>
        </p:nvSpPr>
        <p:spPr>
          <a:xfrm>
            <a:off x="950976" y="4818888"/>
            <a:ext cx="173736" cy="173736"/>
          </a:xfrm>
          <a:prstGeom prst="ellipse">
            <a:avLst/>
          </a:prstGeom>
          <a:solidFill>
            <a:srgbClr val="10B981"/>
          </a:solidFill>
          <a:ln w="12700">
            <a:solidFill>
              <a:srgbClr val="10B981"/>
            </a:solidFill>
            <a:prstDash val="solid"/>
          </a:ln>
        </p:spPr>
      </p:sp>
      <p:sp>
        <p:nvSpPr>
          <p:cNvPr id="27" name="Text 25"/>
          <p:cNvSpPr/>
          <p:nvPr/>
        </p:nvSpPr>
        <p:spPr>
          <a:xfrm>
            <a:off x="950976" y="481888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8" name="Text 26"/>
          <p:cNvSpPr/>
          <p:nvPr/>
        </p:nvSpPr>
        <p:spPr>
          <a:xfrm>
            <a:off x="1261872" y="478231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Remote XGBoost candidate predictions</a:t>
            </a:r>
            <a:endParaRPr lang="en-US" sz="1050" dirty="0"/>
          </a:p>
        </p:txBody>
      </p:sp>
      <p:sp>
        <p:nvSpPr>
          <p:cNvPr id="29" name="Shape 27"/>
          <p:cNvSpPr/>
          <p:nvPr/>
        </p:nvSpPr>
        <p:spPr>
          <a:xfrm>
            <a:off x="950976" y="5184648"/>
            <a:ext cx="173736" cy="173736"/>
          </a:xfrm>
          <a:prstGeom prst="ellipse">
            <a:avLst/>
          </a:prstGeom>
          <a:solidFill>
            <a:srgbClr val="10B981"/>
          </a:solidFill>
          <a:ln w="12700">
            <a:solidFill>
              <a:srgbClr val="10B981"/>
            </a:solidFill>
            <a:prstDash val="solid"/>
          </a:ln>
        </p:spPr>
      </p:sp>
      <p:sp>
        <p:nvSpPr>
          <p:cNvPr id="30" name="Text 28"/>
          <p:cNvSpPr/>
          <p:nvPr/>
        </p:nvSpPr>
        <p:spPr>
          <a:xfrm>
            <a:off x="950976" y="518464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31" name="Text 29"/>
          <p:cNvSpPr/>
          <p:nvPr/>
        </p:nvSpPr>
        <p:spPr>
          <a:xfrm>
            <a:off x="1261872" y="514807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Pending approval → live marketplace deal</a:t>
            </a:r>
            <a:endParaRPr lang="en-US" sz="1050" dirty="0"/>
          </a:p>
        </p:txBody>
      </p:sp>
      <p:sp>
        <p:nvSpPr>
          <p:cNvPr id="32" name="Shape 30"/>
          <p:cNvSpPr/>
          <p:nvPr/>
        </p:nvSpPr>
        <p:spPr>
          <a:xfrm>
            <a:off x="6144768" y="3310128"/>
            <a:ext cx="5413248" cy="2331720"/>
          </a:xfrm>
          <a:prstGeom prst="roundRect">
            <a:avLst>
              <a:gd name="adj" fmla="val 9020"/>
            </a:avLst>
          </a:prstGeom>
          <a:solidFill>
            <a:srgbClr val="FFFFFF"/>
          </a:solidFill>
          <a:ln w="12700">
            <a:solidFill>
              <a:srgbClr val="D9E3DD"/>
            </a:solidFill>
            <a:prstDash val="solid"/>
          </a:ln>
          <a:effectLst>
            <a:outerShdw sx="100000" sy="100000" kx="0" ky="0" algn="bl" rotWithShape="0" blurRad="5.679133646942494e+57" dist="1.1358267293884988e+58" dir="3.526387384320001e+68">
              <a:srgbClr val="0A241C">
                <a:alpha val="1.2999999999999999e+69"/>
              </a:srgbClr>
            </a:outerShdw>
          </a:effectLst>
        </p:spPr>
      </p:sp>
      <p:sp>
        <p:nvSpPr>
          <p:cNvPr id="33" name="Shape 31"/>
          <p:cNvSpPr/>
          <p:nvPr/>
        </p:nvSpPr>
        <p:spPr>
          <a:xfrm>
            <a:off x="6446520" y="3602736"/>
            <a:ext cx="1417320" cy="292608"/>
          </a:xfrm>
          <a:prstGeom prst="roundRect">
            <a:avLst>
              <a:gd name="adj" fmla="val 50000"/>
            </a:avLst>
          </a:prstGeom>
          <a:solidFill>
            <a:srgbClr val="FFF0E7"/>
          </a:solidFill>
          <a:ln w="12700">
            <a:solidFill>
              <a:srgbClr val="FFF0E7">
                <a:alpha val="0"/>
              </a:srgbClr>
            </a:solidFill>
            <a:prstDash val="solid"/>
          </a:ln>
        </p:spPr>
      </p:sp>
      <p:sp>
        <p:nvSpPr>
          <p:cNvPr id="34" name="Text 32"/>
          <p:cNvSpPr/>
          <p:nvPr/>
        </p:nvSpPr>
        <p:spPr>
          <a:xfrm>
            <a:off x="6519672" y="3602736"/>
            <a:ext cx="1271016" cy="292608"/>
          </a:xfrm>
          <a:prstGeom prst="rect">
            <a:avLst/>
          </a:prstGeom>
          <a:noFill/>
          <a:ln/>
        </p:spPr>
        <p:txBody>
          <a:bodyPr wrap="square" lIns="0" tIns="0" rIns="0" bIns="0" rtlCol="0" anchor="ctr">
            <a:normAutofit/>
          </a:bodyPr>
          <a:lstStyle/>
          <a:p>
            <a:pPr algn="ctr" indent="0" marL="0">
              <a:buNone/>
            </a:pPr>
            <a:r>
              <a:rPr lang="en-US" sz="900" b="1" dirty="0">
                <a:solidFill>
                  <a:srgbClr val="F97316"/>
                </a:solidFill>
                <a:latin typeface="Aptos" pitchFamily="34" charset="0"/>
                <a:ea typeface="Aptos" pitchFamily="34" charset="-122"/>
                <a:cs typeface="Aptos" pitchFamily="34" charset="-120"/>
              </a:rPr>
              <a:t>NOT YET CLAIMED</a:t>
            </a:r>
            <a:endParaRPr lang="en-US" sz="900" dirty="0"/>
          </a:p>
        </p:txBody>
      </p:sp>
      <p:sp>
        <p:nvSpPr>
          <p:cNvPr id="35" name="Shape 33"/>
          <p:cNvSpPr/>
          <p:nvPr/>
        </p:nvSpPr>
        <p:spPr>
          <a:xfrm>
            <a:off x="6455664" y="4087368"/>
            <a:ext cx="173736" cy="173736"/>
          </a:xfrm>
          <a:prstGeom prst="ellipse">
            <a:avLst/>
          </a:prstGeom>
          <a:solidFill>
            <a:srgbClr val="FFF0E7"/>
          </a:solidFill>
          <a:ln w="12700">
            <a:solidFill>
              <a:srgbClr val="FFF0E7"/>
            </a:solidFill>
            <a:prstDash val="solid"/>
          </a:ln>
        </p:spPr>
      </p:sp>
      <p:sp>
        <p:nvSpPr>
          <p:cNvPr id="36" name="Text 34"/>
          <p:cNvSpPr/>
          <p:nvPr/>
        </p:nvSpPr>
        <p:spPr>
          <a:xfrm>
            <a:off x="6455664" y="408736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37" name="Text 35"/>
          <p:cNvSpPr/>
          <p:nvPr/>
        </p:nvSpPr>
        <p:spPr>
          <a:xfrm>
            <a:off x="6766560" y="405079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Real-store forecast quality</a:t>
            </a:r>
            <a:endParaRPr lang="en-US" sz="1050" dirty="0"/>
          </a:p>
        </p:txBody>
      </p:sp>
      <p:sp>
        <p:nvSpPr>
          <p:cNvPr id="38" name="Shape 36"/>
          <p:cNvSpPr/>
          <p:nvPr/>
        </p:nvSpPr>
        <p:spPr>
          <a:xfrm>
            <a:off x="6455664" y="4453128"/>
            <a:ext cx="173736" cy="173736"/>
          </a:xfrm>
          <a:prstGeom prst="ellipse">
            <a:avLst/>
          </a:prstGeom>
          <a:solidFill>
            <a:srgbClr val="FFF0E7"/>
          </a:solidFill>
          <a:ln w="12700">
            <a:solidFill>
              <a:srgbClr val="FFF0E7"/>
            </a:solidFill>
            <a:prstDash val="solid"/>
          </a:ln>
        </p:spPr>
      </p:sp>
      <p:sp>
        <p:nvSpPr>
          <p:cNvPr id="39" name="Text 37"/>
          <p:cNvSpPr/>
          <p:nvPr/>
        </p:nvSpPr>
        <p:spPr>
          <a:xfrm>
            <a:off x="6455664" y="445312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0" name="Text 38"/>
          <p:cNvSpPr/>
          <p:nvPr/>
        </p:nvSpPr>
        <p:spPr>
          <a:xfrm>
            <a:off x="6766560" y="441655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Incremental sales or waste reduction</a:t>
            </a:r>
            <a:endParaRPr lang="en-US" sz="1050" dirty="0"/>
          </a:p>
        </p:txBody>
      </p:sp>
      <p:sp>
        <p:nvSpPr>
          <p:cNvPr id="41" name="Shape 39"/>
          <p:cNvSpPr/>
          <p:nvPr/>
        </p:nvSpPr>
        <p:spPr>
          <a:xfrm>
            <a:off x="6455664" y="4818888"/>
            <a:ext cx="173736" cy="173736"/>
          </a:xfrm>
          <a:prstGeom prst="ellipse">
            <a:avLst/>
          </a:prstGeom>
          <a:solidFill>
            <a:srgbClr val="FFF0E7"/>
          </a:solidFill>
          <a:ln w="12700">
            <a:solidFill>
              <a:srgbClr val="FFF0E7"/>
            </a:solidFill>
            <a:prstDash val="solid"/>
          </a:ln>
        </p:spPr>
      </p:sp>
      <p:sp>
        <p:nvSpPr>
          <p:cNvPr id="42" name="Text 40"/>
          <p:cNvSpPr/>
          <p:nvPr/>
        </p:nvSpPr>
        <p:spPr>
          <a:xfrm>
            <a:off x="6455664" y="481888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3" name="Text 41"/>
          <p:cNvSpPr/>
          <p:nvPr/>
        </p:nvSpPr>
        <p:spPr>
          <a:xfrm>
            <a:off x="6766560" y="478231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Learned price elasticity</a:t>
            </a:r>
            <a:endParaRPr lang="en-US" sz="1050" dirty="0"/>
          </a:p>
        </p:txBody>
      </p:sp>
      <p:sp>
        <p:nvSpPr>
          <p:cNvPr id="44" name="Shape 42"/>
          <p:cNvSpPr/>
          <p:nvPr/>
        </p:nvSpPr>
        <p:spPr>
          <a:xfrm>
            <a:off x="6455664" y="5184648"/>
            <a:ext cx="173736" cy="173736"/>
          </a:xfrm>
          <a:prstGeom prst="ellipse">
            <a:avLst/>
          </a:prstGeom>
          <a:solidFill>
            <a:srgbClr val="FFF0E7"/>
          </a:solidFill>
          <a:ln w="12700">
            <a:solidFill>
              <a:srgbClr val="FFF0E7"/>
            </a:solidFill>
            <a:prstDash val="solid"/>
          </a:ln>
        </p:spPr>
      </p:sp>
      <p:sp>
        <p:nvSpPr>
          <p:cNvPr id="45" name="Text 43"/>
          <p:cNvSpPr/>
          <p:nvPr/>
        </p:nvSpPr>
        <p:spPr>
          <a:xfrm>
            <a:off x="6455664" y="518464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6" name="Text 44"/>
          <p:cNvSpPr/>
          <p:nvPr/>
        </p:nvSpPr>
        <p:spPr>
          <a:xfrm>
            <a:off x="6766560" y="514807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Production payment and concurrency guarantees</a:t>
            </a:r>
            <a:endParaRPr lang="en-US" sz="1050" dirty="0"/>
          </a:p>
        </p:txBody>
      </p:sp>
      <p:sp>
        <p:nvSpPr>
          <p:cNvPr id="47" name="Text 45"/>
          <p:cNvSpPr/>
          <p:nvPr/>
        </p:nvSpPr>
        <p:spPr>
          <a:xfrm>
            <a:off x="658368" y="5961888"/>
            <a:ext cx="2971800" cy="237744"/>
          </a:xfrm>
          <a:prstGeom prst="rect">
            <a:avLst/>
          </a:prstGeom>
          <a:noFill/>
          <a:ln/>
        </p:spPr>
        <p:txBody>
          <a:bodyPr wrap="square" lIns="0" tIns="0" rIns="0" bIns="0" rtlCol="0" anchor="ctr">
            <a:normAutofit/>
          </a:bodyPr>
          <a:lstStyle/>
          <a:p>
            <a:pPr algn="l" indent="0" marL="0">
              <a:buNone/>
            </a:pPr>
            <a:r>
              <a:rPr lang="en-US" sz="1100" b="1" u="sng" dirty="0">
                <a:solidFill>
                  <a:srgbClr val="10B981"/>
                </a:solidFill>
                <a:uFill>
                  <a:solidFill>
                    <a:srgbClr val="10B981"/>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freshsaver-ai.vercel.app</a:t>
            </a:r>
            <a:endParaRPr lang="en-US" sz="1100" dirty="0"/>
          </a:p>
        </p:txBody>
      </p:sp>
      <p:sp>
        <p:nvSpPr>
          <p:cNvPr id="48" name="Text 46"/>
          <p:cNvSpPr/>
          <p:nvPr/>
        </p:nvSpPr>
        <p:spPr>
          <a:xfrm>
            <a:off x="3703320" y="5980176"/>
            <a:ext cx="50292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10B981"/>
                </a:solidFill>
                <a:latin typeface="Aptos" pitchFamily="34" charset="0"/>
                <a:ea typeface="Aptos" pitchFamily="34" charset="-122"/>
                <a:cs typeface="Aptos" pitchFamily="34" charset="-120"/>
              </a:rPr>
              <a:t>LIVE</a:t>
            </a:r>
            <a:endParaRPr lang="en-US" sz="800" dirty="0"/>
          </a:p>
        </p:txBody>
      </p:sp>
      <p:sp>
        <p:nvSpPr>
          <p:cNvPr id="49" name="Text 47"/>
          <p:cNvSpPr/>
          <p:nvPr/>
        </p:nvSpPr>
        <p:spPr>
          <a:xfrm>
            <a:off x="6080760" y="5961888"/>
            <a:ext cx="3703320" cy="237744"/>
          </a:xfrm>
          <a:prstGeom prst="rect">
            <a:avLst/>
          </a:prstGeom>
          <a:noFill/>
          <a:ln/>
        </p:spPr>
        <p:txBody>
          <a:bodyPr wrap="square" lIns="0" tIns="0" rIns="0" bIns="0" rtlCol="0" anchor="ctr">
            <a:normAutofit/>
          </a:bodyPr>
          <a:lstStyle/>
          <a:p>
            <a:pPr algn="l" indent="0" marL="0">
              <a:buNone/>
            </a:pPr>
            <a:r>
              <a:rPr lang="en-US" sz="1050" b="1" u="sng" dirty="0">
                <a:solidFill>
                  <a:srgbClr val="7C3AED"/>
                </a:solidFill>
                <a:uFill>
                  <a:solidFill>
                    <a:srgbClr val="7C3AED"/>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freshsaver-demand-model.onrender.com</a:t>
            </a:r>
            <a:endParaRPr lang="en-US" sz="1050" dirty="0"/>
          </a:p>
        </p:txBody>
      </p:sp>
      <p:sp>
        <p:nvSpPr>
          <p:cNvPr id="50" name="Text 48"/>
          <p:cNvSpPr/>
          <p:nvPr/>
        </p:nvSpPr>
        <p:spPr>
          <a:xfrm>
            <a:off x="9921240" y="5980176"/>
            <a:ext cx="82296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C3AED"/>
                </a:solidFill>
                <a:latin typeface="Aptos" pitchFamily="34" charset="0"/>
                <a:ea typeface="Aptos" pitchFamily="34" charset="-122"/>
                <a:cs typeface="Aptos" pitchFamily="34" charset="-120"/>
              </a:rPr>
              <a:t>MODEL API</a:t>
            </a:r>
            <a:endParaRPr lang="en-US" sz="800" dirty="0"/>
          </a:p>
        </p:txBody>
      </p:sp>
      <p:sp>
        <p:nvSpPr>
          <p:cNvPr id="51" name="Shape 49"/>
          <p:cNvSpPr/>
          <p:nvPr/>
        </p:nvSpPr>
        <p:spPr>
          <a:xfrm>
            <a:off x="502920" y="6419088"/>
            <a:ext cx="10744200" cy="0"/>
          </a:xfrm>
          <a:prstGeom prst="line">
            <a:avLst/>
          </a:prstGeom>
          <a:noFill/>
          <a:ln w="10160">
            <a:solidFill>
              <a:srgbClr val="D9E3DD"/>
            </a:solidFill>
            <a:prstDash val="solid"/>
          </a:ln>
        </p:spPr>
      </p:sp>
      <p:sp>
        <p:nvSpPr>
          <p:cNvPr id="52" name="Text 50"/>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53" name="Text 51"/>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Presentation &amp; demo readiness</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PILOT, MEASURE, THEN SCALE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The next claim will come from a controlled pilot.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FreshSaver is ready for shadow recommendations with independent grocers.</a:t>
            </a:r>
            <a:endParaRPr lang="en-US" sz="1250" dirty="0"/>
          </a:p>
        </p:txBody>
      </p:sp>
      <p:sp>
        <p:nvSpPr>
          <p:cNvPr id="5" name="Shape 3"/>
          <p:cNvSpPr/>
          <p:nvPr/>
        </p:nvSpPr>
        <p:spPr>
          <a:xfrm>
            <a:off x="640080" y="2121408"/>
            <a:ext cx="2331720" cy="2029968"/>
          </a:xfrm>
          <a:prstGeom prst="roundRect">
            <a:avLst>
              <a:gd name="adj" fmla="val 10360"/>
            </a:avLst>
          </a:prstGeom>
          <a:solidFill>
            <a:srgbClr val="BEF264"/>
          </a:solidFill>
          <a:ln w="12700">
            <a:solidFill>
              <a:srgbClr val="BEF264"/>
            </a:solidFill>
            <a:prstDash val="solid"/>
          </a:ln>
        </p:spPr>
      </p:sp>
      <p:sp>
        <p:nvSpPr>
          <p:cNvPr id="6" name="Text 4"/>
          <p:cNvSpPr/>
          <p:nvPr/>
        </p:nvSpPr>
        <p:spPr>
          <a:xfrm>
            <a:off x="841248"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173D31"/>
                </a:solidFill>
                <a:latin typeface="Aptos" pitchFamily="34" charset="0"/>
                <a:ea typeface="Aptos" pitchFamily="34" charset="-122"/>
                <a:cs typeface="Aptos" pitchFamily="34" charset="-120"/>
              </a:rPr>
              <a:t>NOW</a:t>
            </a:r>
            <a:endParaRPr lang="en-US" sz="850" dirty="0"/>
          </a:p>
        </p:txBody>
      </p:sp>
      <p:sp>
        <p:nvSpPr>
          <p:cNvPr id="7" name="Text 5"/>
          <p:cNvSpPr/>
          <p:nvPr/>
        </p:nvSpPr>
        <p:spPr>
          <a:xfrm>
            <a:off x="841248"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173D31"/>
                </a:solidFill>
                <a:latin typeface="Aptos Display" pitchFamily="34" charset="0"/>
                <a:ea typeface="Aptos Display" pitchFamily="34" charset="-122"/>
                <a:cs typeface="Aptos Display" pitchFamily="34" charset="-120"/>
              </a:rPr>
              <a:t>Shadow mode</a:t>
            </a:r>
            <a:endParaRPr lang="en-US" sz="1800" dirty="0"/>
          </a:p>
        </p:txBody>
      </p:sp>
      <p:sp>
        <p:nvSpPr>
          <p:cNvPr id="8" name="Text 6"/>
          <p:cNvSpPr/>
          <p:nvPr/>
        </p:nvSpPr>
        <p:spPr>
          <a:xfrm>
            <a:off x="841248"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315A4E"/>
                </a:solidFill>
                <a:latin typeface="Aptos" pitchFamily="34" charset="0"/>
                <a:ea typeface="Aptos" pitchFamily="34" charset="-122"/>
                <a:cs typeface="Aptos" pitchFamily="34" charset="-120"/>
              </a:rPr>
              <a:t>Forecast without changing prices.</a:t>
            </a:r>
            <a:endParaRPr lang="en-US" sz="1050" dirty="0"/>
          </a:p>
        </p:txBody>
      </p:sp>
      <p:sp>
        <p:nvSpPr>
          <p:cNvPr id="9" name="Shape 7"/>
          <p:cNvSpPr/>
          <p:nvPr/>
        </p:nvSpPr>
        <p:spPr>
          <a:xfrm>
            <a:off x="3346704" y="2121408"/>
            <a:ext cx="2331720" cy="2029968"/>
          </a:xfrm>
          <a:prstGeom prst="roundRect">
            <a:avLst>
              <a:gd name="adj" fmla="val 10360"/>
            </a:avLst>
          </a:prstGeom>
          <a:solidFill>
            <a:srgbClr val="244E42"/>
          </a:solidFill>
          <a:ln w="12700">
            <a:solidFill>
              <a:srgbClr val="41655A"/>
            </a:solidFill>
            <a:prstDash val="solid"/>
          </a:ln>
        </p:spPr>
      </p:sp>
      <p:sp>
        <p:nvSpPr>
          <p:cNvPr id="10" name="Text 8"/>
          <p:cNvSpPr/>
          <p:nvPr/>
        </p:nvSpPr>
        <p:spPr>
          <a:xfrm>
            <a:off x="3547872"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NEXT</a:t>
            </a:r>
            <a:endParaRPr lang="en-US" sz="850" dirty="0"/>
          </a:p>
        </p:txBody>
      </p:sp>
      <p:sp>
        <p:nvSpPr>
          <p:cNvPr id="11" name="Text 9"/>
          <p:cNvSpPr/>
          <p:nvPr/>
        </p:nvSpPr>
        <p:spPr>
          <a:xfrm>
            <a:off x="3547872"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Controlled rollout</a:t>
            </a:r>
            <a:endParaRPr lang="en-US" sz="1800" dirty="0"/>
          </a:p>
        </p:txBody>
      </p:sp>
      <p:sp>
        <p:nvSpPr>
          <p:cNvPr id="12" name="Text 10"/>
          <p:cNvSpPr/>
          <p:nvPr/>
        </p:nvSpPr>
        <p:spPr>
          <a:xfrm>
            <a:off x="3547872"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Capture approvals, overrides, and outcomes.</a:t>
            </a:r>
            <a:endParaRPr lang="en-US" sz="1050" dirty="0"/>
          </a:p>
        </p:txBody>
      </p:sp>
      <p:sp>
        <p:nvSpPr>
          <p:cNvPr id="13" name="Shape 11"/>
          <p:cNvSpPr/>
          <p:nvPr/>
        </p:nvSpPr>
        <p:spPr>
          <a:xfrm>
            <a:off x="6053328" y="2121408"/>
            <a:ext cx="2331720" cy="2029968"/>
          </a:xfrm>
          <a:prstGeom prst="roundRect">
            <a:avLst>
              <a:gd name="adj" fmla="val 10360"/>
            </a:avLst>
          </a:prstGeom>
          <a:solidFill>
            <a:srgbClr val="244E42"/>
          </a:solidFill>
          <a:ln w="12700">
            <a:solidFill>
              <a:srgbClr val="41655A"/>
            </a:solidFill>
            <a:prstDash val="solid"/>
          </a:ln>
        </p:spPr>
      </p:sp>
      <p:sp>
        <p:nvSpPr>
          <p:cNvPr id="14" name="Text 12"/>
          <p:cNvSpPr/>
          <p:nvPr/>
        </p:nvSpPr>
        <p:spPr>
          <a:xfrm>
            <a:off x="6254496"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THEN</a:t>
            </a:r>
            <a:endParaRPr lang="en-US" sz="850" dirty="0"/>
          </a:p>
        </p:txBody>
      </p:sp>
      <p:sp>
        <p:nvSpPr>
          <p:cNvPr id="15" name="Text 13"/>
          <p:cNvSpPr/>
          <p:nvPr/>
        </p:nvSpPr>
        <p:spPr>
          <a:xfrm>
            <a:off x="6254496"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Learn elasticity</a:t>
            </a:r>
            <a:endParaRPr lang="en-US" sz="1800" dirty="0"/>
          </a:p>
        </p:txBody>
      </p:sp>
      <p:sp>
        <p:nvSpPr>
          <p:cNvPr id="16" name="Text 14"/>
          <p:cNvSpPr/>
          <p:nvPr/>
        </p:nvSpPr>
        <p:spPr>
          <a:xfrm>
            <a:off x="6254496"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Retrain from intervention response.</a:t>
            </a:r>
            <a:endParaRPr lang="en-US" sz="1050" dirty="0"/>
          </a:p>
        </p:txBody>
      </p:sp>
      <p:sp>
        <p:nvSpPr>
          <p:cNvPr id="17" name="Shape 15"/>
          <p:cNvSpPr/>
          <p:nvPr/>
        </p:nvSpPr>
        <p:spPr>
          <a:xfrm>
            <a:off x="8759952" y="2121408"/>
            <a:ext cx="2331720" cy="2029968"/>
          </a:xfrm>
          <a:prstGeom prst="roundRect">
            <a:avLst>
              <a:gd name="adj" fmla="val 10360"/>
            </a:avLst>
          </a:prstGeom>
          <a:solidFill>
            <a:srgbClr val="244E42"/>
          </a:solidFill>
          <a:ln w="12700">
            <a:solidFill>
              <a:srgbClr val="41655A"/>
            </a:solidFill>
            <a:prstDash val="solid"/>
          </a:ln>
        </p:spPr>
      </p:sp>
      <p:sp>
        <p:nvSpPr>
          <p:cNvPr id="18" name="Text 16"/>
          <p:cNvSpPr/>
          <p:nvPr/>
        </p:nvSpPr>
        <p:spPr>
          <a:xfrm>
            <a:off x="8961120"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SCALE</a:t>
            </a:r>
            <a:endParaRPr lang="en-US" sz="850" dirty="0"/>
          </a:p>
        </p:txBody>
      </p:sp>
      <p:sp>
        <p:nvSpPr>
          <p:cNvPr id="19" name="Text 17"/>
          <p:cNvSpPr/>
          <p:nvPr/>
        </p:nvSpPr>
        <p:spPr>
          <a:xfrm>
            <a:off x="8961120"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POS + shelf labels</a:t>
            </a:r>
            <a:endParaRPr lang="en-US" sz="1800" dirty="0"/>
          </a:p>
        </p:txBody>
      </p:sp>
      <p:sp>
        <p:nvSpPr>
          <p:cNvPr id="20" name="Text 18"/>
          <p:cNvSpPr/>
          <p:nvPr/>
        </p:nvSpPr>
        <p:spPr>
          <a:xfrm>
            <a:off x="8961120"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Automate only within owner policy.</a:t>
            </a:r>
            <a:endParaRPr lang="en-US" sz="1050" dirty="0"/>
          </a:p>
        </p:txBody>
      </p:sp>
      <p:sp>
        <p:nvSpPr>
          <p:cNvPr id="21" name="Shape 19"/>
          <p:cNvSpPr/>
          <p:nvPr/>
        </p:nvSpPr>
        <p:spPr>
          <a:xfrm>
            <a:off x="640080" y="4526280"/>
            <a:ext cx="7498080" cy="987552"/>
          </a:xfrm>
          <a:prstGeom prst="roundRect">
            <a:avLst>
              <a:gd name="adj" fmla="val 18519"/>
            </a:avLst>
          </a:prstGeom>
          <a:solidFill>
            <a:srgbClr val="244E42"/>
          </a:solidFill>
          <a:ln w="12700">
            <a:solidFill>
              <a:srgbClr val="244E42">
                <a:alpha val="0"/>
              </a:srgbClr>
            </a:solidFill>
            <a:prstDash val="solid"/>
          </a:ln>
        </p:spPr>
      </p:sp>
      <p:sp>
        <p:nvSpPr>
          <p:cNvPr id="22" name="Text 20"/>
          <p:cNvSpPr/>
          <p:nvPr/>
        </p:nvSpPr>
        <p:spPr>
          <a:xfrm>
            <a:off x="896112" y="4736592"/>
            <a:ext cx="1600200" cy="182880"/>
          </a:xfrm>
          <a:prstGeom prst="rect">
            <a:avLst/>
          </a:prstGeom>
          <a:noFill/>
          <a:ln/>
        </p:spPr>
        <p:txBody>
          <a:bodyPr wrap="square" lIns="0" tIns="0" rIns="0" bIns="0" rtlCol="0" anchor="ctr">
            <a:normAutofit/>
          </a:bodyPr>
          <a:lstStyle/>
          <a:p>
            <a:pPr algn="l" indent="0" marL="0">
              <a:buNone/>
            </a:pPr>
            <a:r>
              <a:rPr lang="en-US" sz="850" b="1" spc="100" kern="0" dirty="0">
                <a:solidFill>
                  <a:srgbClr val="BEF264"/>
                </a:solidFill>
                <a:latin typeface="Aptos" pitchFamily="34" charset="0"/>
                <a:ea typeface="Aptos" pitchFamily="34" charset="-122"/>
                <a:cs typeface="Aptos" pitchFamily="34" charset="-120"/>
              </a:rPr>
              <a:t>PROPOSED BUSINESS MODEL</a:t>
            </a:r>
            <a:endParaRPr lang="en-US" sz="850" dirty="0"/>
          </a:p>
        </p:txBody>
      </p:sp>
      <p:sp>
        <p:nvSpPr>
          <p:cNvPr id="23" name="Text 21"/>
          <p:cNvSpPr/>
          <p:nvPr/>
        </p:nvSpPr>
        <p:spPr>
          <a:xfrm>
            <a:off x="896112" y="5047488"/>
            <a:ext cx="6720840" cy="256032"/>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10% of attributable campaign sales  •  no setup fee  •  impact measured before ROI is claimed</a:t>
            </a:r>
            <a:endParaRPr lang="en-US" sz="1200" dirty="0"/>
          </a:p>
        </p:txBody>
      </p:sp>
      <p:sp>
        <p:nvSpPr>
          <p:cNvPr id="24" name="Shape 22"/>
          <p:cNvSpPr/>
          <p:nvPr/>
        </p:nvSpPr>
        <p:spPr>
          <a:xfrm>
            <a:off x="8430768" y="4462272"/>
            <a:ext cx="3090672" cy="1325880"/>
          </a:xfrm>
          <a:prstGeom prst="roundRect">
            <a:avLst>
              <a:gd name="adj" fmla="val 15172"/>
            </a:avLst>
          </a:prstGeom>
          <a:solidFill>
            <a:srgbClr val="FFFDF7"/>
          </a:solidFill>
          <a:ln w="12700">
            <a:solidFill>
              <a:srgbClr val="FFFDF7">
                <a:alpha val="0"/>
              </a:srgbClr>
            </a:solidFill>
            <a:prstDash val="solid"/>
          </a:ln>
        </p:spPr>
      </p:sp>
      <p:sp>
        <p:nvSpPr>
          <p:cNvPr id="25" name="Text 23"/>
          <p:cNvSpPr/>
          <p:nvPr/>
        </p:nvSpPr>
        <p:spPr>
          <a:xfrm>
            <a:off x="8705088" y="4681728"/>
            <a:ext cx="2514600" cy="292608"/>
          </a:xfrm>
          <a:prstGeom prst="rect">
            <a:avLst/>
          </a:prstGeom>
          <a:noFill/>
          <a:ln/>
        </p:spPr>
        <p:txBody>
          <a:bodyPr wrap="square" lIns="0" tIns="0" rIns="0" bIns="0" rtlCol="0" anchor="ctr">
            <a:normAutofit/>
          </a:bodyPr>
          <a:lstStyle/>
          <a:p>
            <a:pPr algn="ctr" indent="0" marL="0">
              <a:buNone/>
            </a:pPr>
            <a:r>
              <a:rPr lang="en-US" sz="2000" b="1" dirty="0">
                <a:solidFill>
                  <a:srgbClr val="173D31"/>
                </a:solidFill>
                <a:latin typeface="Aptos Display" pitchFamily="34" charset="0"/>
                <a:ea typeface="Aptos Display" pitchFamily="34" charset="-122"/>
                <a:cs typeface="Aptos Display" pitchFamily="34" charset="-120"/>
              </a:rPr>
              <a:t>Would you pilot this?</a:t>
            </a:r>
            <a:endParaRPr lang="en-US" sz="2000" dirty="0"/>
          </a:p>
        </p:txBody>
      </p:sp>
      <p:sp>
        <p:nvSpPr>
          <p:cNvPr id="26" name="Text 24"/>
          <p:cNvSpPr/>
          <p:nvPr/>
        </p:nvSpPr>
        <p:spPr>
          <a:xfrm>
            <a:off x="8796528" y="5074920"/>
            <a:ext cx="2331720" cy="182880"/>
          </a:xfrm>
          <a:prstGeom prst="rect">
            <a:avLst/>
          </a:prstGeom>
          <a:noFill/>
          <a:ln/>
        </p:spPr>
        <p:txBody>
          <a:bodyPr wrap="square" lIns="0" tIns="0" rIns="0" bIns="0" rtlCol="0" anchor="ctr">
            <a:normAutofit/>
          </a:bodyPr>
          <a:lstStyle/>
          <a:p>
            <a:pPr algn="ctr" indent="0" marL="0">
              <a:buNone/>
            </a:pPr>
            <a:r>
              <a:rPr lang="en-US" sz="950" dirty="0">
                <a:solidFill>
                  <a:srgbClr val="667D75"/>
                </a:solidFill>
                <a:latin typeface="Aptos" pitchFamily="34" charset="0"/>
                <a:ea typeface="Aptos" pitchFamily="34" charset="-122"/>
                <a:cs typeface="Aptos" pitchFamily="34" charset="-120"/>
              </a:rPr>
              <a:t>Scan for the live product</a:t>
            </a:r>
            <a:endParaRPr lang="en-US" sz="950" dirty="0"/>
          </a:p>
        </p:txBody>
      </p:sp>
      <p:sp>
        <p:nvSpPr>
          <p:cNvPr id="27" name="Text 25"/>
          <p:cNvSpPr/>
          <p:nvPr/>
        </p:nvSpPr>
        <p:spPr>
          <a:xfrm>
            <a:off x="8851392" y="5376672"/>
            <a:ext cx="2194560" cy="219456"/>
          </a:xfrm>
          <a:prstGeom prst="rect">
            <a:avLst/>
          </a:prstGeom>
          <a:noFill/>
          <a:ln/>
        </p:spPr>
        <p:txBody>
          <a:bodyPr wrap="square" lIns="0" tIns="0" rIns="0" bIns="0" rtlCol="0" anchor="ctr">
            <a:normAutofit/>
          </a:bodyPr>
          <a:lstStyle/>
          <a:p>
            <a:pPr algn="ctr" indent="0" marL="0">
              <a:buNone/>
            </a:pPr>
            <a:r>
              <a:rPr lang="en-US" sz="1000" b="1" u="sng" dirty="0">
                <a:solidFill>
                  <a:srgbClr val="10B981"/>
                </a:solidFill>
                <a:uFill>
                  <a:solidFill>
                    <a:srgbClr val="10B981"/>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LIVE DEMO  →</a:t>
            </a:r>
            <a:endParaRPr lang="en-US" sz="1000" dirty="0"/>
          </a:p>
        </p:txBody>
      </p:sp>
      <p:sp>
        <p:nvSpPr>
          <p:cNvPr id="28" name="Text 26"/>
          <p:cNvSpPr/>
          <p:nvPr/>
        </p:nvSpPr>
        <p:spPr>
          <a:xfrm>
            <a:off x="1234440" y="5961888"/>
            <a:ext cx="7680960" cy="274320"/>
          </a:xfrm>
          <a:prstGeom prst="rect">
            <a:avLst/>
          </a:prstGeom>
          <a:noFill/>
          <a:ln/>
        </p:spPr>
        <p:txBody>
          <a:bodyPr wrap="square" lIns="0" tIns="0" rIns="0" bIns="0" rtlCol="0" anchor="ctr">
            <a:normAutofit/>
          </a:bodyPr>
          <a:lstStyle/>
          <a:p>
            <a:pPr algn="l" indent="0" marL="0">
              <a:buNone/>
            </a:pPr>
            <a:r>
              <a:rPr lang="en-US" sz="1800" b="1" dirty="0">
                <a:solidFill>
                  <a:srgbClr val="BEF264"/>
                </a:solidFill>
                <a:latin typeface="Aptos Display" pitchFamily="34" charset="0"/>
                <a:ea typeface="Aptos Display" pitchFamily="34" charset="-122"/>
                <a:cs typeface="Aptos Display" pitchFamily="34" charset="-120"/>
              </a:rPr>
              <a:t>Detect risk. Protect margin. Reach the right shopper.</a:t>
            </a:r>
            <a:endParaRPr lang="en-US" sz="1800" dirty="0"/>
          </a:p>
        </p:txBody>
      </p:sp>
      <p:sp>
        <p:nvSpPr>
          <p:cNvPr id="29" name="Shape 27"/>
          <p:cNvSpPr/>
          <p:nvPr/>
        </p:nvSpPr>
        <p:spPr>
          <a:xfrm>
            <a:off x="502920" y="6419088"/>
            <a:ext cx="10744200" cy="0"/>
          </a:xfrm>
          <a:prstGeom prst="line">
            <a:avLst/>
          </a:prstGeom>
          <a:noFill/>
          <a:ln w="10160">
            <a:solidFill>
              <a:srgbClr val="406459"/>
            </a:solidFill>
            <a:prstDash val="solid"/>
          </a:ln>
        </p:spPr>
      </p:sp>
      <p:sp>
        <p:nvSpPr>
          <p:cNvPr id="30" name="Text 28"/>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31" name="Text 29"/>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FreshSaver AI · live product and source linked</a:t>
            </a:r>
            <a:endParaRPr lang="en-US" sz="750" dirty="0"/>
          </a:p>
        </p:txBody>
      </p:sp>
      <p:pic>
        <p:nvPicPr>
          <p:cNvPr id="33" name="Image 0" descr="preencoded.png">
            <a:hlinkClick r:id="rId3" tooltip=""/>
          </p:cNvPr>
          <p:cNvPicPr>
            <a:picLocks noChangeAspect="1"/>
          </p:cNvPicPr>
          <p:nvPr/>
        </p:nvPicPr>
        <p:blipFill>
          <a:blip r:embed="rId2"/>
          <a:stretch>
            <a:fillRect/>
          </a:stretch>
        </p:blipFill>
        <p:spPr>
          <a:xfrm>
            <a:off x="10808208" y="4617720"/>
            <a:ext cx="566928" cy="566928"/>
          </a:xfrm>
          <a:prstGeom prst="rect">
            <a:avLst/>
          </a:prstGeom>
        </p:spPr>
      </p:pic>
      <p:pic>
        <p:nvPicPr>
          <p:cNvPr id="34" name="Image 1" descr="preencoded.png">
            <a:hlinkClick r:id="rId5" tooltip=""/>
          </p:cNvPr>
          <p:cNvPicPr>
            <a:picLocks noChangeAspect="1"/>
          </p:cNvPicPr>
          <p:nvPr/>
        </p:nvPicPr>
        <p:blipFill>
          <a:blip r:embed="rId4"/>
          <a:stretch>
            <a:fillRect/>
          </a:stretch>
        </p:blipFill>
        <p:spPr>
          <a:xfrm>
            <a:off x="11018520" y="5779008"/>
            <a:ext cx="384048" cy="384048"/>
          </a:xfrm>
          <a:prstGeom prst="rect">
            <a:avLst/>
          </a:prstGeom>
        </p:spPr>
      </p:pic>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AI Builders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FreshSaver — Protect Margin Before Food Becomes Waste</dc:title>
  <dc:subject>Explainable AI markdown decisions for independent grocers</dc:subject>
  <dc:creator>FreshSaver AI</dc:creator>
  <cp:lastModifiedBy>FreshSaver AI</cp:lastModifiedBy>
  <cp:revision>1</cp:revision>
  <dcterms:created xsi:type="dcterms:W3CDTF">2026-09-15T23:33:40Z</dcterms:created>
  <dcterms:modified xsi:type="dcterms:W3CDTF">2026-09-15T23:33:40Z</dcterms:modified>
</cp:coreProperties>
</file>