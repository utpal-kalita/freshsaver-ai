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merchant tension: discount too early and lose margin; too late and lose the product. FreshSaver recommends a reviewable intervention before food becomes surplus.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unsupported global waste statistics. Explain the operating tension and why timing plus product-level demand context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Emphasize that a prediction alone does not rescue food. The value is the closed loop from inventory to owner action to shopper pickup.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two personas. Owners get four focused pages; shoppers see only approved active deals and can reserve for pickup.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XGBoost as the live primary AI. Gemini is an evidence-grounded adapter with a safe template fallback; it never calculates prices.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caveat before the numbers: these metrics validate the train/serve/evaluate pipeline on synthetic data. The next claim must come from merchant data and a controlled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separation of duties: model predicts, policy constrains, owner decides. Candidate values on this slide are illustrative and should not be presented as measured store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store_id as the tenant key. Service-role access stays server-side; recommendation and approval evidence is persisted for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honesty is intentional. Separate what the deployed product proves from outcomes that require a controlled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disciplined ambition: the product already connects the decision to action. Ask judges or merchants for a shadow pilot, not blind autonomy.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2938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3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6ADA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2938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freshsaver-ai.vercel.app/demo" TargetMode="External"/><Relationship Id="rId2" Type="http://schemas.openxmlformats.org/officeDocument/2006/relationships/hyperlink" Target="https://github.com/Utpal-Kalita/FreshSaver-AI" TargetMode="External"/><Relationship Id="rId4" Type="http://schemas.openxmlformats.org/officeDocument/2006/relationships/hyperlink" Target="https://freshsaver-ai.vercel.app/demo" TargetMode="External"/><Relationship Id="rId3" Type="http://schemas.openxmlformats.org/officeDocument/2006/relationships/image" Target="../media/image-1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freshsaver-ai.vercel.app" TargetMode="External"/><Relationship Id="rId2" Type="http://schemas.openxmlformats.org/officeDocument/2006/relationships/hyperlink" Target="https://freshsaver-demand-model.onrender.com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freshsaver-ai.vercel.app/demo" TargetMode="External"/><Relationship Id="rId3" Type="http://schemas.openxmlformats.org/officeDocument/2006/relationships/hyperlink" Target="https://freshsaver-ai.vercel.app/demo" TargetMode="External"/><Relationship Id="rId5" Type="http://schemas.openxmlformats.org/officeDocument/2006/relationships/hyperlink" Target="https://github.com/Utpal-Kalita/FreshSaver-AI" TargetMode="External"/><Relationship Id="rId2" Type="http://schemas.openxmlformats.org/officeDocument/2006/relationships/image" Target="../media/image-10-1.png"/><Relationship Id="rId4" Type="http://schemas.openxmlformats.org/officeDocument/2006/relationships/image" Target="../media/image-10-2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011680"/>
            <a:ext cx="5303520" cy="5303520"/>
          </a:xfrm>
          <a:prstGeom prst="ellipse">
            <a:avLst/>
          </a:prstGeom>
          <a:solidFill>
            <a:srgbClr val="BEF264">
              <a:alpha val="15000"/>
            </a:srgbClr>
          </a:solidFill>
          <a:ln w="12700">
            <a:solidFill>
              <a:srgbClr val="BEF26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5166360"/>
            <a:ext cx="3840480" cy="384048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457200"/>
            <a:ext cx="438912" cy="438912"/>
          </a:xfrm>
          <a:prstGeom prst="ellipse">
            <a:avLst/>
          </a:prstGeom>
          <a:solidFill>
            <a:srgbClr val="BEF264"/>
          </a:solidFill>
          <a:ln w="12700">
            <a:solidFill>
              <a:srgbClr val="BEF2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57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4754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FRESHSAVER AI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2331720" cy="292608"/>
          </a:xfrm>
          <a:prstGeom prst="roundRect">
            <a:avLst>
              <a:gd name="adj" fmla="val 50000"/>
            </a:avLst>
          </a:prstGeom>
          <a:solidFill>
            <a:srgbClr val="244F42"/>
          </a:solidFill>
          <a:ln w="12700">
            <a:solidFill>
              <a:srgbClr val="244F4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234440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BUILDERS HACKATHON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755648"/>
            <a:ext cx="56235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Protect margin</a:t>
            </a:r>
            <a:endParaRPr lang="en-US" sz="3700" dirty="0"/>
          </a:p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food</a:t>
            </a:r>
            <a:endParaRPr lang="en-US" sz="3700" dirty="0"/>
          </a:p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becomes waste.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658368" y="4407408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6D7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explainable markdown copilot for independent grocers — from inventory risk to an approved customer offer.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29400" y="1143000"/>
            <a:ext cx="4800600" cy="4434840"/>
          </a:xfrm>
          <a:prstGeom prst="roundRect">
            <a:avLst>
              <a:gd name="adj" fmla="val 5773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A241C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95160" y="14447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TODAY'S DECISION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95160" y="18105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35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Organic whole milk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104120" y="178308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FFF0E7"/>
          </a:solidFill>
          <a:ln w="12700">
            <a:solidFill>
              <a:srgbClr val="FFF0E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77272" y="1783080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95160" y="2240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units  •  4 days remaining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95160" y="2697480"/>
            <a:ext cx="1188720" cy="960120"/>
          </a:xfrm>
          <a:prstGeom prst="roundRect">
            <a:avLst>
              <a:gd name="adj" fmla="val 17143"/>
            </a:avLst>
          </a:prstGeom>
          <a:solidFill>
            <a:srgbClr val="DDF7E8"/>
          </a:solidFill>
          <a:ln w="12700">
            <a:solidFill>
              <a:srgbClr val="DDF7E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9752" y="2825496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3D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159752" y="3264408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D31">
                    <a:alpha val="7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PACE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302752" y="2697480"/>
            <a:ext cx="1188720" cy="960120"/>
          </a:xfrm>
          <a:prstGeom prst="roundRect">
            <a:avLst>
              <a:gd name="adj" fmla="val 17143"/>
            </a:avLst>
          </a:prstGeom>
          <a:solidFill>
            <a:srgbClr val="FFF0E7"/>
          </a:solidFill>
          <a:ln w="12700">
            <a:solidFill>
              <a:srgbClr val="FFF0E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67344" y="2825496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973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467344" y="3264408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>
                    <a:alpha val="7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LIKELY LEFT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610344" y="2697480"/>
            <a:ext cx="1417320" cy="960120"/>
          </a:xfrm>
          <a:prstGeom prst="roundRect">
            <a:avLst>
              <a:gd name="adj" fmla="val 17143"/>
            </a:avLst>
          </a:prstGeom>
          <a:solidFill>
            <a:srgbClr val="173D31"/>
          </a:solidFill>
          <a:ln w="12700">
            <a:solidFill>
              <a:srgbClr val="173D3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74936" y="2825496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20%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9774936" y="3264408"/>
            <a:ext cx="1088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>
                    <a:alpha val="7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95160" y="3886200"/>
            <a:ext cx="4032504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2700">
            <a:solidFill>
              <a:srgbClr val="D9E3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05472" y="40416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price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05472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3D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₹67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247888" y="429768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strike="sngStrike" dirty="0">
                <a:solidFill>
                  <a:srgbClr val="98A8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₹84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95160" y="4828032"/>
            <a:ext cx="4032504" cy="438912"/>
          </a:xfrm>
          <a:prstGeom prst="roundRect">
            <a:avLst>
              <a:gd name="adj" fmla="val 29167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96328" y="482803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APPROVAL REQUIRED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" y="5715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u="sng" dirty="0">
                <a:solidFill>
                  <a:srgbClr val="BEF264"/>
                </a:solidFill>
                <a:uFill>
                  <a:solidFill>
                    <a:srgbClr val="BEF264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DEMO  →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331720" y="5715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u="sng" dirty="0">
                <a:solidFill>
                  <a:srgbClr val="BEF264"/>
                </a:solidFill>
                <a:uFill>
                  <a:solidFill>
                    <a:srgbClr val="BEF264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  →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6419088"/>
            <a:ext cx="10744200" cy="0"/>
          </a:xfrm>
          <a:prstGeom prst="line">
            <a:avLst/>
          </a:prstGeom>
          <a:noFill/>
          <a:ln w="10160">
            <a:solidFill>
              <a:srgbClr val="40645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647395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40" kern="0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FRESHSAVER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572768" y="647395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0A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Demand-aware markdowns for independent grocery stores</a:t>
            </a:r>
            <a:endParaRPr lang="en-US" sz="750" dirty="0"/>
          </a:p>
        </p:txBody>
      </p:sp>
      <p:pic>
        <p:nvPicPr>
          <p:cNvPr id="38" name="Image 0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5577840"/>
            <a:ext cx="658368" cy="65836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6ADA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DECISION GAP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35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Fixed markdown rules miss the context.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3533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products can share an expiry date and still need opposite decisions.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154680" cy="3246120"/>
          </a:xfrm>
          <a:prstGeom prst="roundRect">
            <a:avLst>
              <a:gd name="adj" fmla="val 7246"/>
            </a:avLst>
          </a:prstGeom>
          <a:solidFill>
            <a:srgbClr val="FFF0E7"/>
          </a:solidFill>
          <a:ln w="12700">
            <a:solidFill>
              <a:srgbClr val="FFF0E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95728"/>
            <a:ext cx="438912" cy="43891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95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9992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Discount too early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D4A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Fast-moving stock gets marked down even when full-price demand can clear it.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6177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4873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 surrendered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86784" y="1874520"/>
            <a:ext cx="3675888" cy="3703320"/>
          </a:xfrm>
          <a:prstGeom prst="roundRect">
            <a:avLst>
              <a:gd name="adj" fmla="val 6965"/>
            </a:avLst>
          </a:prstGeom>
          <a:solidFill>
            <a:srgbClr val="173D31"/>
          </a:solidFill>
          <a:ln w="12700">
            <a:solidFill>
              <a:srgbClr val="173D31">
                <a:alpha val="0"/>
              </a:srgbClr>
            </a:solidFill>
            <a:prstDash val="solid"/>
          </a:ln>
          <a:effectLst>
            <a:outerShdw sx="100000" sy="100000" kx="0" ky="0" algn="bl" rotWithShape="0" blurRad="322580000" dist="645160000" dir="162000000000">
              <a:srgbClr val="0A241C">
                <a:alpha val="13000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73168" y="224028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2C574A"/>
          </a:solidFill>
          <a:ln w="12700">
            <a:solidFill>
              <a:srgbClr val="2C574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240280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FRESHSAVER WINDOW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43984" y="2816352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 while the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still matters.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462272" y="4096512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ED1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+ expiry + recent demand + unit economics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26864" y="4800600"/>
            <a:ext cx="2395728" cy="384048"/>
          </a:xfrm>
          <a:prstGeom prst="roundRect">
            <a:avLst>
              <a:gd name="adj" fmla="val 33333"/>
            </a:avLst>
          </a:prstGeom>
          <a:solidFill>
            <a:srgbClr val="BEF264"/>
          </a:solidFill>
          <a:ln w="12700">
            <a:solidFill>
              <a:srgbClr val="BEF26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480060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ACTION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909560" y="2103120"/>
            <a:ext cx="3611880" cy="3246120"/>
          </a:xfrm>
          <a:prstGeom prst="roundRect">
            <a:avLst>
              <a:gd name="adj" fmla="val 7042"/>
            </a:avLst>
          </a:prstGeom>
          <a:solidFill>
            <a:srgbClr val="FDECEC"/>
          </a:solidFill>
          <a:ln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395728"/>
            <a:ext cx="438912" cy="438912"/>
          </a:xfrm>
          <a:prstGeom prst="ellipse">
            <a:avLst/>
          </a:prstGeom>
          <a:solidFill>
            <a:srgbClr val="DC5B57"/>
          </a:solidFill>
          <a:ln w="12700">
            <a:solidFill>
              <a:srgbClr val="DC5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2395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83880" y="29992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C5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Wait too long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183880" y="356616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C45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Slow-moving stock reaches the end of its shelf life before the offer reaches a buyer.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83880" y="46177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DC5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183880" y="4873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C5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Avoidable waste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8368" y="580644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DDF7E8"/>
          </a:solidFill>
          <a:ln w="12700">
            <a:solidFill>
              <a:srgbClr val="DDF7E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806440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USER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783080" y="5797296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grocers who already export inventory — no new shelf hardware required.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6419088"/>
            <a:ext cx="10744200" cy="0"/>
          </a:xfrm>
          <a:prstGeom prst="line">
            <a:avLst/>
          </a:prstGeom>
          <a:noFill/>
          <a:ln w="10160">
            <a:solidFill>
              <a:srgbClr val="D9E3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647395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4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FRESHSAVER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572768" y="647395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3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solving &amp; impact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2938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decision loop. Two users. One outcome.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3533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CB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FreshSaver does not stop at a forecast — it carries the decision to a shopper and records what happened.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359152"/>
            <a:ext cx="1627632" cy="2194560"/>
          </a:xfrm>
          <a:prstGeom prst="roundRect">
            <a:avLst>
              <a:gd name="adj" fmla="val 12921"/>
            </a:avLst>
          </a:prstGeom>
          <a:solidFill>
            <a:srgbClr val="DDF7E8"/>
          </a:solidFill>
          <a:ln w="12700">
            <a:solidFill>
              <a:srgbClr val="DDF7E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51460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2907792"/>
            <a:ext cx="475488" cy="475488"/>
          </a:xfrm>
          <a:prstGeom prst="ellipse">
            <a:avLst/>
          </a:prstGeom>
          <a:solidFill>
            <a:srgbClr val="173D31"/>
          </a:solidFill>
          <a:ln w="12700">
            <a:solidFill>
              <a:srgbClr val="173D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907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DF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3566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391363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inventory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49424" y="3246120"/>
            <a:ext cx="310896" cy="310896"/>
          </a:xfrm>
          <a:prstGeom prst="chevron">
            <a:avLst/>
          </a:prstGeom>
          <a:solidFill>
            <a:srgbClr val="BEF264"/>
          </a:solidFill>
          <a:ln w="12700">
            <a:solidFill>
              <a:srgbClr val="BEF26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87168" y="2359152"/>
            <a:ext cx="1627632" cy="2194560"/>
          </a:xfrm>
          <a:prstGeom prst="roundRect">
            <a:avLst>
              <a:gd name="adj" fmla="val 12921"/>
            </a:avLst>
          </a:prstGeom>
          <a:solidFill>
            <a:srgbClr val="F2ECFF"/>
          </a:solidFill>
          <a:ln w="12700">
            <a:solidFill>
              <a:srgbClr val="F2EC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251460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33472" y="2907792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2907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E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33472" y="3566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33472" y="391363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Sell-through by price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69664" y="3246120"/>
            <a:ext cx="310896" cy="310896"/>
          </a:xfrm>
          <a:prstGeom prst="chevron">
            <a:avLst/>
          </a:prstGeom>
          <a:solidFill>
            <a:srgbClr val="BEF264"/>
          </a:solidFill>
          <a:ln w="12700">
            <a:solidFill>
              <a:srgbClr val="BEF26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07408" y="2359152"/>
            <a:ext cx="1627632" cy="2194560"/>
          </a:xfrm>
          <a:prstGeom prst="roundRect">
            <a:avLst>
              <a:gd name="adj" fmla="val 12921"/>
            </a:avLst>
          </a:prstGeom>
          <a:solidFill>
            <a:srgbClr val="FFF0E7"/>
          </a:solidFill>
          <a:ln w="12700">
            <a:solidFill>
              <a:srgbClr val="FFF0E7">
                <a:alpha val="0"/>
              </a:srgbClr>
            </a:solidFill>
            <a:prstDash val="solid"/>
          </a:ln>
          <a:effectLst>
            <a:outerShdw sx="100000" sy="100000" kx="0" ky="0" algn="bl" rotWithShape="0" blurRad="4096766000000" dist="8193532000000" dir="9720000000000000">
              <a:srgbClr val="0A241C">
                <a:alpha val="1300000000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53712" y="251460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53712" y="2907792"/>
            <a:ext cx="475488" cy="47548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2907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0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53712" y="3566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53712" y="391363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Margin-aware candidate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9904" y="3246120"/>
            <a:ext cx="310896" cy="310896"/>
          </a:xfrm>
          <a:prstGeom prst="chevron">
            <a:avLst/>
          </a:prstGeom>
          <a:solidFill>
            <a:srgbClr val="BEF264"/>
          </a:solidFill>
          <a:ln w="12700">
            <a:solidFill>
              <a:srgbClr val="BEF26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27648" y="2359152"/>
            <a:ext cx="1627632" cy="2194560"/>
          </a:xfrm>
          <a:prstGeom prst="roundRect">
            <a:avLst>
              <a:gd name="adj" fmla="val 12921"/>
            </a:avLst>
          </a:prstGeom>
          <a:solidFill>
            <a:srgbClr val="E4F7E9"/>
          </a:solidFill>
          <a:ln w="12700">
            <a:solidFill>
              <a:srgbClr val="E4F7E9">
                <a:alpha val="0"/>
              </a:srgbClr>
            </a:solidFill>
            <a:prstDash val="solid"/>
          </a:ln>
          <a:effectLst>
            <a:outerShdw sx="100000" sy="100000" kx="0" ky="0" algn="bl" rotWithShape="0" blurRad="52028928200000000" dist="104057856400000000" dir="583200000000000000000">
              <a:srgbClr val="0A241C">
                <a:alpha val="1300000000000000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73952" y="251460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73952" y="2907792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2907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4F7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73952" y="3566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73952" y="391363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stays in control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10144" y="3246120"/>
            <a:ext cx="310896" cy="310896"/>
          </a:xfrm>
          <a:prstGeom prst="chevron">
            <a:avLst/>
          </a:prstGeom>
          <a:solidFill>
            <a:srgbClr val="BEF264"/>
          </a:solidFill>
          <a:ln w="12700">
            <a:solidFill>
              <a:srgbClr val="BEF26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47888" y="2359152"/>
            <a:ext cx="1627632" cy="2194560"/>
          </a:xfrm>
          <a:prstGeom prst="roundRect">
            <a:avLst>
              <a:gd name="adj" fmla="val 12921"/>
            </a:avLst>
          </a:prstGeom>
          <a:solidFill>
            <a:srgbClr val="E9F2FF"/>
          </a:solidFill>
          <a:ln w="12700">
            <a:solidFill>
              <a:srgbClr val="E9F2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94192" y="251460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2F6C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394192" y="2907792"/>
            <a:ext cx="475488" cy="475488"/>
          </a:xfrm>
          <a:prstGeom prst="ellipse">
            <a:avLst/>
          </a:prstGeom>
          <a:solidFill>
            <a:srgbClr val="2F6CB3"/>
          </a:solidFill>
          <a:ln w="12700">
            <a:solidFill>
              <a:srgbClr val="2F6CB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94192" y="2907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394192" y="3566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2F6C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94192" y="391363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F6C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opt-in matching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930384" y="3246120"/>
            <a:ext cx="310896" cy="310896"/>
          </a:xfrm>
          <a:prstGeom prst="chevron">
            <a:avLst/>
          </a:prstGeom>
          <a:solidFill>
            <a:srgbClr val="BEF264"/>
          </a:solidFill>
          <a:ln w="12700">
            <a:solidFill>
              <a:srgbClr val="BEF26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68128" y="2359152"/>
            <a:ext cx="1627632" cy="2194560"/>
          </a:xfrm>
          <a:prstGeom prst="roundRect">
            <a:avLst>
              <a:gd name="adj" fmla="val 12921"/>
            </a:avLst>
          </a:prstGeom>
          <a:solidFill>
            <a:srgbClr val="BEF264"/>
          </a:solidFill>
          <a:ln w="12700">
            <a:solidFill>
              <a:srgbClr val="BEF264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14432" y="251460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314432" y="2907792"/>
            <a:ext cx="475488" cy="475488"/>
          </a:xfrm>
          <a:prstGeom prst="ellipse">
            <a:avLst/>
          </a:prstGeom>
          <a:solidFill>
            <a:srgbClr val="173D31"/>
          </a:solidFill>
          <a:ln w="12700">
            <a:solidFill>
              <a:srgbClr val="173D3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14432" y="2907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0314432" y="3566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314432" y="391363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+ outcome ledger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051560" y="5074920"/>
            <a:ext cx="10058400" cy="658368"/>
          </a:xfrm>
          <a:prstGeom prst="roundRect">
            <a:avLst>
              <a:gd name="adj" fmla="val 25000"/>
            </a:avLst>
          </a:prstGeom>
          <a:solidFill>
            <a:srgbClr val="244E42"/>
          </a:solidFill>
          <a:ln w="12700">
            <a:solidFill>
              <a:srgbClr val="244E42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25880" y="52760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240280" y="52303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risk  →  approve action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742432" y="5212080"/>
            <a:ext cx="0" cy="347472"/>
          </a:xfrm>
          <a:prstGeom prst="line">
            <a:avLst/>
          </a:prstGeom>
          <a:noFill/>
          <a:ln w="12700">
            <a:solidFill>
              <a:srgbClr val="56786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53328" y="52760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SHOPPER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995160" y="52303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deal  →  reserve pickup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02920" y="6419088"/>
            <a:ext cx="10744200" cy="0"/>
          </a:xfrm>
          <a:prstGeom prst="line">
            <a:avLst/>
          </a:prstGeom>
          <a:noFill/>
          <a:ln w="10160">
            <a:solidFill>
              <a:srgbClr val="40645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352" y="647395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40" kern="0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FRESHSAVER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572768" y="647395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0A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workflow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6ADA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35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for the aisle and the customer’s pocket.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3533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owner workspace feeds a simple customer marketplace.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75104"/>
            <a:ext cx="6473952" cy="3913632"/>
          </a:xfrm>
          <a:prstGeom prst="roundRect">
            <a:avLst>
              <a:gd name="adj" fmla="val 6075"/>
            </a:avLst>
          </a:prstGeom>
          <a:solidFill>
            <a:srgbClr val="FFFFFF"/>
          </a:solidFill>
          <a:ln w="12700">
            <a:solidFill>
              <a:srgbClr val="D9E3DD"/>
            </a:solidFill>
            <a:prstDash val="solid"/>
          </a:ln>
          <a:effectLst>
            <a:outerShdw sx="100000" sy="100000" kx="0" ky="0" algn="bl" rotWithShape="0" blurRad="660767388140000000000" dist="1.32153477628e+21" dir="3.4992e+25">
              <a:srgbClr val="0A241C">
                <a:alpha val="1.3e+2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975104"/>
            <a:ext cx="1261872" cy="3913632"/>
          </a:xfrm>
          <a:prstGeom prst="roundRect">
            <a:avLst>
              <a:gd name="adj" fmla="val 18841"/>
            </a:avLst>
          </a:prstGeom>
          <a:solidFill>
            <a:srgbClr val="173D31"/>
          </a:solidFill>
          <a:ln w="12700">
            <a:solidFill>
              <a:srgbClr val="173D3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2267712"/>
            <a:ext cx="384048" cy="384048"/>
          </a:xfrm>
          <a:prstGeom prst="ellipse">
            <a:avLst/>
          </a:prstGeom>
          <a:solidFill>
            <a:srgbClr val="BEF264"/>
          </a:solidFill>
          <a:ln w="12700">
            <a:solidFill>
              <a:srgbClr val="BEF2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71016" y="230428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2852928"/>
            <a:ext cx="932688" cy="310896"/>
          </a:xfrm>
          <a:prstGeom prst="roundRect">
            <a:avLst>
              <a:gd name="adj" fmla="val 26471"/>
            </a:avLst>
          </a:prstGeom>
          <a:solidFill>
            <a:srgbClr val="285043"/>
          </a:solidFill>
          <a:ln w="12700">
            <a:solidFill>
              <a:srgbClr val="2850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85292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BDD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31520" y="3310128"/>
            <a:ext cx="932688" cy="310896"/>
          </a:xfrm>
          <a:prstGeom prst="roundRect">
            <a:avLst>
              <a:gd name="adj" fmla="val 26471"/>
            </a:avLst>
          </a:prstGeom>
          <a:solidFill>
            <a:srgbClr val="285043"/>
          </a:solidFill>
          <a:ln w="12700">
            <a:solidFill>
              <a:srgbClr val="28504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31012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BDD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520" y="3767328"/>
            <a:ext cx="932688" cy="310896"/>
          </a:xfrm>
          <a:prstGeom prst="roundRect">
            <a:avLst>
              <a:gd name="adj" fmla="val 26471"/>
            </a:avLst>
          </a:prstGeom>
          <a:solidFill>
            <a:srgbClr val="285043"/>
          </a:solidFill>
          <a:ln w="12700">
            <a:solidFill>
              <a:srgbClr val="28504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376732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BDD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1520" y="4224528"/>
            <a:ext cx="932688" cy="310896"/>
          </a:xfrm>
          <a:prstGeom prst="roundRect">
            <a:avLst>
              <a:gd name="adj" fmla="val 26471"/>
            </a:avLst>
          </a:prstGeom>
          <a:solidFill>
            <a:srgbClr val="BEF264"/>
          </a:solidFill>
          <a:ln w="12700">
            <a:solidFill>
              <a:srgbClr val="BEF26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422452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log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48840" y="23042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35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Pending AI recommendations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193792" y="2304288"/>
            <a:ext cx="1389888" cy="292608"/>
          </a:xfrm>
          <a:prstGeom prst="roundRect">
            <a:avLst>
              <a:gd name="adj" fmla="val 50000"/>
            </a:avLst>
          </a:prstGeom>
          <a:solidFill>
            <a:srgbClr val="F2ECFF"/>
          </a:solidFill>
          <a:ln w="12700">
            <a:solidFill>
              <a:srgbClr val="F2EC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66944" y="230428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AWAITING REVIEW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21408" y="2907792"/>
            <a:ext cx="4498848" cy="2240280"/>
          </a:xfrm>
          <a:prstGeom prst="roundRect">
            <a:avLst>
              <a:gd name="adj" fmla="val 8163"/>
            </a:avLst>
          </a:prstGeom>
          <a:solidFill>
            <a:srgbClr val="173D31"/>
          </a:solidFill>
          <a:ln w="12700">
            <a:solidFill>
              <a:srgbClr val="173D31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95728" y="318211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ORGANIC WHOLE MILK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13248" y="313639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 off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395728" y="3630168"/>
            <a:ext cx="1170432" cy="960120"/>
          </a:xfrm>
          <a:prstGeom prst="roundRect">
            <a:avLst>
              <a:gd name="adj" fmla="val 17143"/>
            </a:avLst>
          </a:prstGeom>
          <a:solidFill>
            <a:srgbClr val="2B5548"/>
          </a:solidFill>
          <a:ln w="12700">
            <a:solidFill>
              <a:srgbClr val="2B554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3758184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₹71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2560320" y="419709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>
                    <a:alpha val="7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PRICE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85032" y="3630168"/>
            <a:ext cx="1170432" cy="960120"/>
          </a:xfrm>
          <a:prstGeom prst="roundRect">
            <a:avLst>
              <a:gd name="adj" fmla="val 17143"/>
            </a:avLst>
          </a:prstGeom>
          <a:solidFill>
            <a:srgbClr val="2B5548"/>
          </a:solidFill>
          <a:ln w="12700">
            <a:solidFill>
              <a:srgbClr val="2B554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9624" y="3758184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0–6</a:t>
            </a:r>
            <a:endParaRPr lang="en-US" sz="2300" dirty="0"/>
          </a:p>
        </p:txBody>
      </p:sp>
      <p:sp>
        <p:nvSpPr>
          <p:cNvPr id="29" name="Text 27"/>
          <p:cNvSpPr/>
          <p:nvPr/>
        </p:nvSpPr>
        <p:spPr>
          <a:xfrm>
            <a:off x="3849624" y="419709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>
                    <a:alpha val="7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74336" y="3630168"/>
            <a:ext cx="1170432" cy="960120"/>
          </a:xfrm>
          <a:prstGeom prst="roundRect">
            <a:avLst>
              <a:gd name="adj" fmla="val 17143"/>
            </a:avLst>
          </a:prstGeom>
          <a:solidFill>
            <a:srgbClr val="2B5548"/>
          </a:solidFill>
          <a:ln w="12700">
            <a:solidFill>
              <a:srgbClr val="2B5548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3758184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₹37</a:t>
            </a:r>
            <a:endParaRPr lang="en-US" sz="2300" dirty="0"/>
          </a:p>
        </p:txBody>
      </p:sp>
      <p:sp>
        <p:nvSpPr>
          <p:cNvPr id="32" name="Text 30"/>
          <p:cNvSpPr/>
          <p:nvPr/>
        </p:nvSpPr>
        <p:spPr>
          <a:xfrm>
            <a:off x="5138928" y="419709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>
                    <a:alpha val="7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395728" y="4773168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477316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99432" y="477316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BEF264"/>
          </a:solidFill>
          <a:ln w="12700">
            <a:solidFill>
              <a:srgbClr val="BEF264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72584" y="477316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APPROVAL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15200" y="1975104"/>
            <a:ext cx="4315968" cy="3913632"/>
          </a:xfrm>
          <a:prstGeom prst="roundRect">
            <a:avLst>
              <a:gd name="adj" fmla="val 6075"/>
            </a:avLst>
          </a:prstGeom>
          <a:solidFill>
            <a:srgbClr val="FFFFFF"/>
          </a:solidFill>
          <a:ln w="12700">
            <a:solidFill>
              <a:srgbClr val="D9E3DD"/>
            </a:solidFill>
            <a:prstDash val="solid"/>
          </a:ln>
          <a:effectLst>
            <a:outerShdw sx="100000" sy="100000" kx="0" ky="0" algn="bl" rotWithShape="0" blurRad="8.391745829378e+24" dist="1.6783491658756e+25" dir="2.09952e+30">
              <a:srgbClr val="0A241C">
                <a:alpha val="1.3e+29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635240" y="22860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MARKETPLACE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635240" y="2651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535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Food worth saving today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7635240" y="3273552"/>
            <a:ext cx="1536192" cy="1783080"/>
          </a:xfrm>
          <a:prstGeom prst="roundRect">
            <a:avLst>
              <a:gd name="adj" fmla="val 11905"/>
            </a:avLst>
          </a:prstGeom>
          <a:solidFill>
            <a:srgbClr val="DDF7E8"/>
          </a:solidFill>
          <a:ln w="12700">
            <a:solidFill>
              <a:srgbClr val="DDF7E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56448" y="3456432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56448" y="34564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799832" y="411480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 OFF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799832" y="441655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Milk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99832" y="4700016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₹71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9390888" y="3273552"/>
            <a:ext cx="1536192" cy="1783080"/>
          </a:xfrm>
          <a:prstGeom prst="roundRect">
            <a:avLst>
              <a:gd name="adj" fmla="val 11905"/>
            </a:avLst>
          </a:prstGeom>
          <a:solidFill>
            <a:srgbClr val="FFF0E7"/>
          </a:solidFill>
          <a:ln w="12700">
            <a:solidFill>
              <a:srgbClr val="FFF0E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912096" y="3456432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912096" y="34564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555480" y="411480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 OFF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9555480" y="441655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Spinach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555480" y="4700016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₹53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7635240" y="5285232"/>
            <a:ext cx="3291840" cy="329184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90688" y="528523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RESERVE FOR LOCAL PICKUP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02920" y="6419088"/>
            <a:ext cx="10744200" cy="0"/>
          </a:xfrm>
          <a:prstGeom prst="line">
            <a:avLst/>
          </a:prstGeom>
          <a:noFill/>
          <a:ln w="10160">
            <a:solidFill>
              <a:srgbClr val="D9E3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52" y="647395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4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FRESHSAVER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572768" y="647395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3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experience &amp; design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2938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AI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AI for uncertainty. Use policy for control.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3533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CB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Prediction, optimization, generation, and human review are intentionally separated.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2194560"/>
            <a:ext cx="2359152" cy="2606040"/>
          </a:xfrm>
          <a:prstGeom prst="roundRect">
            <a:avLst>
              <a:gd name="adj" fmla="val 9302"/>
            </a:avLst>
          </a:prstGeom>
          <a:solidFill>
            <a:srgbClr val="281E43"/>
          </a:solidFill>
          <a:ln w="12700">
            <a:solidFill>
              <a:srgbClr val="4568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468880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468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89888" y="252374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41248" y="312724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XGBoost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41248" y="3657600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BD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Predicts low / expected / high sell-through for each candidate price.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90672" y="3319272"/>
            <a:ext cx="310896" cy="310896"/>
          </a:xfrm>
          <a:prstGeom prst="chevron">
            <a:avLst/>
          </a:prstGeom>
          <a:solidFill>
            <a:srgbClr val="BEF264"/>
          </a:solidFill>
          <a:ln w="12700">
            <a:solidFill>
              <a:srgbClr val="BEF26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6432" y="2194560"/>
            <a:ext cx="2359152" cy="2606040"/>
          </a:xfrm>
          <a:prstGeom prst="roundRect">
            <a:avLst>
              <a:gd name="adj" fmla="val 9302"/>
            </a:avLst>
          </a:prstGeom>
          <a:solidFill>
            <a:srgbClr val="4B2C1D"/>
          </a:solidFill>
          <a:ln w="12700">
            <a:solidFill>
              <a:srgbClr val="45685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5888" y="2468880"/>
            <a:ext cx="438912" cy="43891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5888" y="2468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24528" y="252374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75888" y="312724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Optimizer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675888" y="3657600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BD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Maximizes expected contribution under price floors and expiry rules.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25312" y="3319272"/>
            <a:ext cx="310896" cy="310896"/>
          </a:xfrm>
          <a:prstGeom prst="chevron">
            <a:avLst/>
          </a:prstGeom>
          <a:solidFill>
            <a:srgbClr val="BEF264"/>
          </a:solidFill>
          <a:ln w="12700">
            <a:solidFill>
              <a:srgbClr val="BEF26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91072" y="2194560"/>
            <a:ext cx="2359152" cy="2606040"/>
          </a:xfrm>
          <a:prstGeom prst="roundRect">
            <a:avLst>
              <a:gd name="adj" fmla="val 9302"/>
            </a:avLst>
          </a:prstGeom>
          <a:solidFill>
            <a:srgbClr val="193E33"/>
          </a:solidFill>
          <a:ln w="12700">
            <a:solidFill>
              <a:srgbClr val="45685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0528" y="2468880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2468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59168" y="252374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510528" y="312724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Gemini adapter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510528" y="3657600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BD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Turns fixed evidence into manager rationale and campaign copy.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759952" y="3319272"/>
            <a:ext cx="310896" cy="310896"/>
          </a:xfrm>
          <a:prstGeom prst="chevron">
            <a:avLst/>
          </a:prstGeom>
          <a:solidFill>
            <a:srgbClr val="BEF264"/>
          </a:solidFill>
          <a:ln w="12700">
            <a:solidFill>
              <a:srgbClr val="BEF26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25712" y="2194560"/>
            <a:ext cx="2359152" cy="2606040"/>
          </a:xfrm>
          <a:prstGeom prst="roundRect">
            <a:avLst>
              <a:gd name="adj" fmla="val 9302"/>
            </a:avLst>
          </a:prstGeom>
          <a:solidFill>
            <a:srgbClr val="284A3F"/>
          </a:solidFill>
          <a:ln w="12700">
            <a:solidFill>
              <a:srgbClr val="45685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45168" y="2468880"/>
            <a:ext cx="438912" cy="438912"/>
          </a:xfrm>
          <a:prstGeom prst="ellipse">
            <a:avLst/>
          </a:prstGeom>
          <a:solidFill>
            <a:srgbClr val="BEF264"/>
          </a:solidFill>
          <a:ln w="12700">
            <a:solidFill>
              <a:srgbClr val="BEF2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45168" y="2468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893808" y="252374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345168" y="312724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Owner approval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345168" y="3657600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BD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Publishes the price and activates opted-in shoppers.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097280" y="5257800"/>
            <a:ext cx="9985248" cy="530352"/>
          </a:xfrm>
          <a:prstGeom prst="roundRect">
            <a:avLst>
              <a:gd name="adj" fmla="val 27586"/>
            </a:avLst>
          </a:prstGeom>
          <a:solidFill>
            <a:srgbClr val="244E42"/>
          </a:solidFill>
          <a:ln w="12700">
            <a:solidFill>
              <a:srgbClr val="244E4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53312" y="542239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CANNOT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514600" y="5367528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price  •  change expiry  •  override guardrails  •  consume customer identity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03504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603504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LIVE: XGBOOST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938528" y="603504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385E52"/>
          </a:solidFill>
          <a:ln w="12700">
            <a:solidFill>
              <a:srgbClr val="385E52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11680" y="6035040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6E5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FALLBACK: TEMPLATE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6419088"/>
            <a:ext cx="10744200" cy="0"/>
          </a:xfrm>
          <a:prstGeom prst="line">
            <a:avLst/>
          </a:prstGeom>
          <a:noFill/>
          <a:ln w="10160">
            <a:solidFill>
              <a:srgbClr val="40645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647395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40" kern="0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FRESHSAVER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572768" y="647395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0A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implementation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6ADA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35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training path is real. The business claim is not yet.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3533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Time-ordered validation on 4,000 explicitly synthetic rows proves the pipeline — not store impact.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5623560" cy="3611880"/>
          </a:xfrm>
          <a:prstGeom prst="roundRect">
            <a:avLst>
              <a:gd name="adj" fmla="val 6076"/>
            </a:avLst>
          </a:prstGeom>
          <a:solidFill>
            <a:srgbClr val="FFFFFF"/>
          </a:solidFill>
          <a:ln w="12700">
            <a:solidFill>
              <a:srgbClr val="D9E3DD"/>
            </a:solidFill>
            <a:prstDash val="solid"/>
          </a:ln>
          <a:effectLst>
            <a:outerShdw sx="100000" sy="100000" kx="0" ky="0" algn="bl" rotWithShape="0" blurRad="1.0657517203310059e+29" dist="2.1315034406620118e+29" dir="1.259712e+35">
              <a:srgbClr val="0A241C">
                <a:alpha val="1.3e+3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3591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66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ERROR — LOWER IS BETTER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6112" y="287121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54480" y="28529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7-day velocity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8920" y="2862072"/>
            <a:ext cx="2514600" cy="246888"/>
          </a:xfrm>
          <a:prstGeom prst="roundRect">
            <a:avLst>
              <a:gd name="adj" fmla="val 37037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13248" y="2798064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6.332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33375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88920" y="3346704"/>
            <a:ext cx="832104" cy="246888"/>
          </a:xfrm>
          <a:prstGeom prst="roundRect">
            <a:avLst>
              <a:gd name="adj" fmla="val 3703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13248" y="3282696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2.097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6112" y="3913632"/>
            <a:ext cx="5010912" cy="0"/>
          </a:xfrm>
          <a:prstGeom prst="line">
            <a:avLst/>
          </a:prstGeom>
          <a:noFill/>
          <a:ln w="15240">
            <a:solidFill>
              <a:srgbClr val="D9E3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22452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54480" y="42153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7-day velocity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88920" y="4224528"/>
            <a:ext cx="2514600" cy="246888"/>
          </a:xfrm>
          <a:prstGeom prst="roundRect">
            <a:avLst>
              <a:gd name="adj" fmla="val 37037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416052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27.9%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4709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88920" y="4718304"/>
            <a:ext cx="832104" cy="246888"/>
          </a:xfrm>
          <a:prstGeom prst="roundRect">
            <a:avLst>
              <a:gd name="adj" fmla="val 3703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465429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9.2%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46520" y="2057400"/>
            <a:ext cx="5120640" cy="3611880"/>
          </a:xfrm>
          <a:prstGeom prst="roundRect">
            <a:avLst>
              <a:gd name="adj" fmla="val 6076"/>
            </a:avLst>
          </a:prstGeom>
          <a:solidFill>
            <a:srgbClr val="173D31"/>
          </a:solidFill>
          <a:ln w="12700">
            <a:solidFill>
              <a:srgbClr val="173D31">
                <a:alpha val="0"/>
              </a:srgbClr>
            </a:solidFill>
            <a:prstDash val="solid"/>
          </a:ln>
          <a:effectLst>
            <a:outerShdw sx="100000" sy="100000" kx="0" ky="0" algn="bl" rotWithShape="0" blurRad="1.3535046848203775e+33" dist="2.707009369640755e+33" dir="7.558272e+39">
              <a:srgbClr val="0A241C">
                <a:alpha val="1.3e+39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84848" y="235915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2B5548"/>
          </a:solidFill>
          <a:ln w="12700">
            <a:solidFill>
              <a:srgbClr val="2B554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359152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OUTPUT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84848" y="28529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candidate prediction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784848" y="3419856"/>
            <a:ext cx="1316736" cy="960120"/>
          </a:xfrm>
          <a:prstGeom prst="roundRect">
            <a:avLst>
              <a:gd name="adj" fmla="val 17143"/>
            </a:avLst>
          </a:prstGeom>
          <a:solidFill>
            <a:srgbClr val="2B5548"/>
          </a:solidFill>
          <a:ln w="12700">
            <a:solidFill>
              <a:srgbClr val="2B554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354787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6949440" y="3986784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>
                    <a:alpha val="7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29600" y="3419856"/>
            <a:ext cx="1316736" cy="960120"/>
          </a:xfrm>
          <a:prstGeom prst="roundRect">
            <a:avLst>
              <a:gd name="adj" fmla="val 17143"/>
            </a:avLst>
          </a:prstGeom>
          <a:solidFill>
            <a:srgbClr val="2B5548"/>
          </a:solidFill>
          <a:ln w="12700">
            <a:solidFill>
              <a:srgbClr val="2B554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94192" y="354787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2.6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8394192" y="3986784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>
                    <a:alpha val="7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674352" y="3419856"/>
            <a:ext cx="1316736" cy="960120"/>
          </a:xfrm>
          <a:prstGeom prst="roundRect">
            <a:avLst>
              <a:gd name="adj" fmla="val 17143"/>
            </a:avLst>
          </a:prstGeom>
          <a:solidFill>
            <a:srgbClr val="2B5548"/>
          </a:solidFill>
          <a:ln w="12700">
            <a:solidFill>
              <a:srgbClr val="2B554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38944" y="354787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5.8</a:t>
            </a:r>
            <a:endParaRPr lang="en-US" sz="2300" dirty="0"/>
          </a:p>
        </p:txBody>
      </p:sp>
      <p:sp>
        <p:nvSpPr>
          <p:cNvPr id="34" name="Text 32"/>
          <p:cNvSpPr/>
          <p:nvPr/>
        </p:nvSpPr>
        <p:spPr>
          <a:xfrm>
            <a:off x="9838944" y="3986784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>
                    <a:alpha val="7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84848" y="46451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contributing factors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84848" y="491947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AD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Days until expiry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Recent 7-day velocity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Previous 23-day velocity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508760" y="5943600"/>
            <a:ext cx="9189720" cy="292608"/>
          </a:xfrm>
          <a:prstGeom prst="roundRect">
            <a:avLst>
              <a:gd name="adj" fmla="val 50000"/>
            </a:avLst>
          </a:prstGeom>
          <a:solidFill>
            <a:srgbClr val="FFF0E7"/>
          </a:solidFill>
          <a:ln w="12700">
            <a:solidFill>
              <a:srgbClr val="FFD4B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81912" y="5943600"/>
            <a:ext cx="9043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EVALUATION — NO CAUSAL IMPACT CLAIM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6419088"/>
            <a:ext cx="10744200" cy="0"/>
          </a:xfrm>
          <a:prstGeom prst="line">
            <a:avLst/>
          </a:prstGeom>
          <a:noFill/>
          <a:ln w="10160">
            <a:solidFill>
              <a:srgbClr val="D9E3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647395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4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FRESHSAVER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572768" y="647395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3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Innovation &amp; technical evidence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2938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BY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35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recommendation is inspectable — and reversible.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3533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silent price change. No black-box confidence. No customer identity in pricing.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5989320" cy="3767328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D9E3DD"/>
            </a:solidFill>
            <a:prstDash val="solid"/>
          </a:ln>
          <a:effectLst>
            <a:outerShdw sx="100000" sy="100000" kx="0" ky="0" algn="bl" rotWithShape="0" blurRad="1.7189509497218795e+37" dist="3.437901899443759e+37" dir="4.5349632000000006e+44">
              <a:srgbClr val="0A241C">
                <a:alpha val="1.3e+4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3042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TESTED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6112" y="27614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10512" y="27614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24912" y="27614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39312" y="27614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99432" y="276148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22960" y="3090672"/>
            <a:ext cx="5468112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DF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09067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309067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₹84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309067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309067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3145536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EEF3F0"/>
          </a:solidFill>
          <a:ln w="12700">
            <a:solidFill>
              <a:srgbClr val="EEF3F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31455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" y="3621024"/>
            <a:ext cx="5468112" cy="402336"/>
          </a:xfrm>
          <a:prstGeom prst="roundRect">
            <a:avLst>
              <a:gd name="adj" fmla="val 22727"/>
            </a:avLst>
          </a:prstGeom>
          <a:solidFill>
            <a:srgbClr val="F8FAF9"/>
          </a:solidFill>
          <a:ln w="12700">
            <a:solidFill>
              <a:srgbClr val="EDF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3621024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3621024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₹71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3621024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0" y="3621024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9.8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3675888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EEF3F0"/>
          </a:solidFill>
          <a:ln w="12700">
            <a:solidFill>
              <a:srgbClr val="EEF3F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2960" y="4151376"/>
            <a:ext cx="5468112" cy="402336"/>
          </a:xfrm>
          <a:prstGeom prst="roundRect">
            <a:avLst>
              <a:gd name="adj" fmla="val 22727"/>
            </a:avLst>
          </a:prstGeom>
          <a:solidFill>
            <a:srgbClr val="BEF264"/>
          </a:solidFill>
          <a:ln w="12700">
            <a:solidFill>
              <a:srgbClr val="BEF2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4151376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28800" y="4151376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₹67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0" y="4151376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0" y="4151376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17720" y="4206240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173D31"/>
          </a:solidFill>
          <a:ln w="12700">
            <a:solidFill>
              <a:srgbClr val="173D31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90872" y="42062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22960" y="4681728"/>
            <a:ext cx="5468112" cy="402336"/>
          </a:xfrm>
          <a:prstGeom prst="roundRect">
            <a:avLst>
              <a:gd name="adj" fmla="val 22727"/>
            </a:avLst>
          </a:prstGeom>
          <a:solidFill>
            <a:srgbClr val="F8FAF9"/>
          </a:solidFill>
          <a:ln w="12700">
            <a:solidFill>
              <a:srgbClr val="EDF2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468172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828800" y="4681728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₹63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0" y="4681728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0" y="4681728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5.9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17720" y="4736592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EEF3F0"/>
          </a:solidFill>
          <a:ln w="12700">
            <a:solidFill>
              <a:srgbClr val="EEF3F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90872" y="4736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96112" y="5422392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9C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candidate table from the synthetic demo.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040880" y="2084832"/>
            <a:ext cx="411480" cy="411480"/>
          </a:xfrm>
          <a:prstGeom prst="ellipse">
            <a:avLst/>
          </a:prstGeom>
          <a:solidFill>
            <a:srgbClr val="DDF7E8"/>
          </a:solidFill>
          <a:ln w="12700">
            <a:solidFill>
              <a:srgbClr val="DDF7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4088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635240" y="20665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first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635240" y="235915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Expiry block, minimum price, bounded discount.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242048" y="2523744"/>
            <a:ext cx="0" cy="493776"/>
          </a:xfrm>
          <a:prstGeom prst="line">
            <a:avLst/>
          </a:prstGeom>
          <a:noFill/>
          <a:ln w="15240">
            <a:solidFill>
              <a:srgbClr val="B9DAC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40880" y="3017520"/>
            <a:ext cx="411480" cy="411480"/>
          </a:xfrm>
          <a:prstGeom prst="ellipse">
            <a:avLst/>
          </a:prstGeom>
          <a:solidFill>
            <a:srgbClr val="DDF7E8"/>
          </a:solidFill>
          <a:ln w="12700">
            <a:solidFill>
              <a:srgbClr val="DDF7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4088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635240" y="2999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retained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635240" y="329184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Inputs, candidates, model, factors, version.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242048" y="3456432"/>
            <a:ext cx="0" cy="493776"/>
          </a:xfrm>
          <a:prstGeom prst="line">
            <a:avLst/>
          </a:prstGeom>
          <a:noFill/>
          <a:ln w="15240">
            <a:solidFill>
              <a:srgbClr val="B9DAC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40880" y="3950208"/>
            <a:ext cx="411480" cy="411480"/>
          </a:xfrm>
          <a:prstGeom prst="ellipse">
            <a:avLst/>
          </a:prstGeom>
          <a:solidFill>
            <a:srgbClr val="BEF264"/>
          </a:solidFill>
          <a:ln w="12700">
            <a:solidFill>
              <a:srgbClr val="BEF26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40880" y="3950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635240" y="39319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decision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635240" y="422452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Approve, reject, or preserve an override.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242048" y="4389120"/>
            <a:ext cx="0" cy="493776"/>
          </a:xfrm>
          <a:prstGeom prst="line">
            <a:avLst/>
          </a:prstGeom>
          <a:noFill/>
          <a:ln w="15240">
            <a:solidFill>
              <a:srgbClr val="B9DAC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40880" y="4882896"/>
            <a:ext cx="411480" cy="411480"/>
          </a:xfrm>
          <a:prstGeom prst="ellipse">
            <a:avLst/>
          </a:prstGeom>
          <a:solidFill>
            <a:srgbClr val="DDF7E8"/>
          </a:solidFill>
          <a:ln w="12700">
            <a:solidFill>
              <a:srgbClr val="DDF7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40880" y="4882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635240" y="48646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ledger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7635240" y="5157216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 approval, order, pickup, waste, donation.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498080" y="5870448"/>
            <a:ext cx="3611880" cy="292608"/>
          </a:xfrm>
          <a:prstGeom prst="roundRect">
            <a:avLst>
              <a:gd name="adj" fmla="val 50000"/>
            </a:avLst>
          </a:prstGeom>
          <a:solidFill>
            <a:srgbClr val="F2ECFF"/>
          </a:solidFill>
          <a:ln w="12700">
            <a:solidFill>
              <a:srgbClr val="F2ECFF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571232" y="5870448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EXCLUDES CUSTOMER IDENTITY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02920" y="6419088"/>
            <a:ext cx="10744200" cy="0"/>
          </a:xfrm>
          <a:prstGeom prst="line">
            <a:avLst/>
          </a:prstGeom>
          <a:noFill/>
          <a:ln w="10160">
            <a:solidFill>
              <a:srgbClr val="D9E3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0352" y="647395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4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FRESHSAVER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572768" y="647395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3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Explainability, safety &amp; human oversight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2938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Store-scoped from database row to customer order.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3533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CB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browser is untrusted. Every privileged operation resolves role and store ownership on the server.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21792" y="2267712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737360" y="2404872"/>
            <a:ext cx="411480" cy="0"/>
          </a:xfrm>
          <a:prstGeom prst="line">
            <a:avLst/>
          </a:prstGeom>
          <a:noFill/>
          <a:ln w="17780">
            <a:solidFill>
              <a:srgbClr val="BEF2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2057400"/>
            <a:ext cx="2560320" cy="694944"/>
          </a:xfrm>
          <a:prstGeom prst="roundRect">
            <a:avLst>
              <a:gd name="adj" fmla="val 23684"/>
            </a:avLst>
          </a:prstGeom>
          <a:solidFill>
            <a:srgbClr val="244E42"/>
          </a:solidFill>
          <a:ln w="12700">
            <a:solidFill>
              <a:srgbClr val="496C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96312" y="2212848"/>
            <a:ext cx="365760" cy="365760"/>
          </a:xfrm>
          <a:prstGeom prst="ellipse">
            <a:avLst/>
          </a:prstGeom>
          <a:solidFill>
            <a:srgbClr val="BEF264"/>
          </a:solidFill>
          <a:ln w="12700">
            <a:solidFill>
              <a:srgbClr val="BEF2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96312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90088" y="2176272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marketplace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49240" y="2057400"/>
            <a:ext cx="2560320" cy="694944"/>
          </a:xfrm>
          <a:prstGeom prst="roundRect">
            <a:avLst>
              <a:gd name="adj" fmla="val 23684"/>
            </a:avLst>
          </a:prstGeom>
          <a:solidFill>
            <a:srgbClr val="244E42"/>
          </a:solidFill>
          <a:ln w="12700">
            <a:solidFill>
              <a:srgbClr val="496C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13832" y="2212848"/>
            <a:ext cx="365760" cy="365760"/>
          </a:xfrm>
          <a:prstGeom prst="ellipse">
            <a:avLst/>
          </a:prstGeom>
          <a:solidFill>
            <a:srgbClr val="BEF264"/>
          </a:solidFill>
          <a:ln w="12700">
            <a:solidFill>
              <a:srgbClr val="BEF2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13832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07608" y="2176272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portal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560320" cy="694944"/>
          </a:xfrm>
          <a:prstGeom prst="roundRect">
            <a:avLst>
              <a:gd name="adj" fmla="val 23684"/>
            </a:avLst>
          </a:prstGeom>
          <a:solidFill>
            <a:srgbClr val="244E42"/>
          </a:solidFill>
          <a:ln w="12700">
            <a:solidFill>
              <a:srgbClr val="496C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2212848"/>
            <a:ext cx="365760" cy="365760"/>
          </a:xfrm>
          <a:prstGeom prst="ellipse">
            <a:avLst/>
          </a:prstGeom>
          <a:solidFill>
            <a:srgbClr val="BEF264"/>
          </a:solidFill>
          <a:ln w="12700">
            <a:solidFill>
              <a:srgbClr val="BEF2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31352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25128" y="2176272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judge demo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3300984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737360" y="3438144"/>
            <a:ext cx="411480" cy="0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31720" y="3090672"/>
            <a:ext cx="2560320" cy="694944"/>
          </a:xfrm>
          <a:prstGeom prst="roundRect">
            <a:avLst>
              <a:gd name="adj" fmla="val 23684"/>
            </a:avLst>
          </a:prstGeom>
          <a:solidFill>
            <a:srgbClr val="244E42"/>
          </a:solidFill>
          <a:ln w="12700">
            <a:solidFill>
              <a:srgbClr val="496C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96312" y="324612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96312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90088" y="3209544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16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49240" y="3090672"/>
            <a:ext cx="2560320" cy="694944"/>
          </a:xfrm>
          <a:prstGeom prst="roundRect">
            <a:avLst>
              <a:gd name="adj" fmla="val 23684"/>
            </a:avLst>
          </a:prstGeom>
          <a:solidFill>
            <a:srgbClr val="244E42"/>
          </a:solidFill>
          <a:ln w="12700">
            <a:solidFill>
              <a:srgbClr val="496C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13832" y="324612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13832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07608" y="3209544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 + approval APIs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66760" y="3090672"/>
            <a:ext cx="2560320" cy="694944"/>
          </a:xfrm>
          <a:prstGeom prst="roundRect">
            <a:avLst>
              <a:gd name="adj" fmla="val 23684"/>
            </a:avLst>
          </a:prstGeom>
          <a:solidFill>
            <a:srgbClr val="244E42"/>
          </a:solidFill>
          <a:ln w="12700">
            <a:solidFill>
              <a:srgbClr val="496C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31352" y="324612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31352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025128" y="3209544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Brevo adapter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" y="4334256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737360" y="4471416"/>
            <a:ext cx="411480" cy="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31720" y="4123944"/>
            <a:ext cx="2560320" cy="694944"/>
          </a:xfrm>
          <a:prstGeom prst="roundRect">
            <a:avLst>
              <a:gd name="adj" fmla="val 23684"/>
            </a:avLst>
          </a:prstGeom>
          <a:solidFill>
            <a:srgbClr val="2A2145"/>
          </a:solidFill>
          <a:ln w="12700">
            <a:solidFill>
              <a:srgbClr val="496C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96312" y="4279392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96312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990088" y="4242816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 / FastAPI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49240" y="4123944"/>
            <a:ext cx="2560320" cy="694944"/>
          </a:xfrm>
          <a:prstGeom prst="roundRect">
            <a:avLst>
              <a:gd name="adj" fmla="val 23684"/>
            </a:avLst>
          </a:prstGeom>
          <a:solidFill>
            <a:srgbClr val="2A2145"/>
          </a:solidFill>
          <a:ln w="12700">
            <a:solidFill>
              <a:srgbClr val="496C6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13832" y="4279392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13832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07608" y="4242816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Constrained optimizer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366760" y="4123944"/>
            <a:ext cx="2560320" cy="694944"/>
          </a:xfrm>
          <a:prstGeom prst="roundRect">
            <a:avLst>
              <a:gd name="adj" fmla="val 23684"/>
            </a:avLst>
          </a:prstGeom>
          <a:solidFill>
            <a:srgbClr val="2A2145"/>
          </a:solidFill>
          <a:ln w="12700">
            <a:solidFill>
              <a:srgbClr val="496C6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31352" y="4279392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31352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025128" y="4242816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adapter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1792" y="536752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+ OPS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737360" y="5504688"/>
            <a:ext cx="41148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31720" y="5157216"/>
            <a:ext cx="2560320" cy="694944"/>
          </a:xfrm>
          <a:prstGeom prst="roundRect">
            <a:avLst>
              <a:gd name="adj" fmla="val 23684"/>
            </a:avLst>
          </a:prstGeom>
          <a:solidFill>
            <a:srgbClr val="493020"/>
          </a:solidFill>
          <a:ln w="12700">
            <a:solidFill>
              <a:srgbClr val="496C6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96312" y="5312664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96312" y="5312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990088" y="5276088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+ RLS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349240" y="5157216"/>
            <a:ext cx="2560320" cy="694944"/>
          </a:xfrm>
          <a:prstGeom prst="roundRect">
            <a:avLst>
              <a:gd name="adj" fmla="val 23684"/>
            </a:avLst>
          </a:prstGeom>
          <a:solidFill>
            <a:srgbClr val="493020"/>
          </a:solidFill>
          <a:ln w="12700">
            <a:solidFill>
              <a:srgbClr val="496C6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13832" y="5312664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13832" y="5312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007608" y="5276088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Vercel + cron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366760" y="5157216"/>
            <a:ext cx="2560320" cy="694944"/>
          </a:xfrm>
          <a:prstGeom prst="roundRect">
            <a:avLst>
              <a:gd name="adj" fmla="val 23684"/>
            </a:avLst>
          </a:prstGeom>
          <a:solidFill>
            <a:srgbClr val="493020"/>
          </a:solidFill>
          <a:ln w="12700">
            <a:solidFill>
              <a:srgbClr val="496C6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31352" y="5312664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531352" y="5312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025128" y="5276088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model service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0899648" y="1993392"/>
            <a:ext cx="594360" cy="3895344"/>
          </a:xfrm>
          <a:prstGeom prst="roundRect">
            <a:avLst>
              <a:gd name="adj" fmla="val 27692"/>
            </a:avLst>
          </a:prstGeom>
          <a:solidFill>
            <a:srgbClr val="244E42"/>
          </a:solidFill>
          <a:ln w="12700">
            <a:solidFill>
              <a:srgbClr val="244E42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009376" y="2395728"/>
            <a:ext cx="374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TRAIL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1192256" y="3429000"/>
            <a:ext cx="0" cy="1536192"/>
          </a:xfrm>
          <a:prstGeom prst="line">
            <a:avLst/>
          </a:prstGeom>
          <a:noFill/>
          <a:ln w="17780">
            <a:solidFill>
              <a:srgbClr val="5D7D72"/>
            </a:solidFill>
            <a:prstDash val="dash"/>
          </a:ln>
        </p:spPr>
      </p:sp>
      <p:sp>
        <p:nvSpPr>
          <p:cNvPr id="64" name="Text 62"/>
          <p:cNvSpPr/>
          <p:nvPr/>
        </p:nvSpPr>
        <p:spPr>
          <a:xfrm>
            <a:off x="11009376" y="5029200"/>
            <a:ext cx="374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02920" y="6419088"/>
            <a:ext cx="10744200" cy="0"/>
          </a:xfrm>
          <a:prstGeom prst="line">
            <a:avLst/>
          </a:prstGeom>
          <a:noFill/>
          <a:ln w="10160">
            <a:solidFill>
              <a:srgbClr val="40645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0352" y="647395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40" kern="0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FRESHSAVER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572768" y="647395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0A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· Supabase · XGBoost · Render · Vercel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6ADA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LIVE TODAY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35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deployed product — with honest boundaries.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3533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is usable now; impact claims wait for real merchant evidence.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029968"/>
            <a:ext cx="2377440" cy="960120"/>
          </a:xfrm>
          <a:prstGeom prst="roundRect">
            <a:avLst>
              <a:gd name="adj" fmla="val 17143"/>
            </a:avLst>
          </a:prstGeom>
          <a:solidFill>
            <a:srgbClr val="DDF7E8"/>
          </a:solidFill>
          <a:ln w="12700">
            <a:solidFill>
              <a:srgbClr val="DDF7E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5798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3D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04672" y="2596896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D31">
                    <a:alpha val="7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TESTS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82112" y="2029968"/>
            <a:ext cx="2377440" cy="960120"/>
          </a:xfrm>
          <a:prstGeom prst="roundRect">
            <a:avLst>
              <a:gd name="adj" fmla="val 17143"/>
            </a:avLst>
          </a:prstGeom>
          <a:solidFill>
            <a:srgbClr val="BEF264"/>
          </a:solidFill>
          <a:ln w="12700">
            <a:solidFill>
              <a:srgbClr val="BEF26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46704" y="215798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3D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8× 200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3346704" y="2596896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D31">
                    <a:alpha val="7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ROUTES VERIFIED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24144" y="2029968"/>
            <a:ext cx="2377440" cy="960120"/>
          </a:xfrm>
          <a:prstGeom prst="roundRect">
            <a:avLst>
              <a:gd name="adj" fmla="val 17143"/>
            </a:avLst>
          </a:prstGeom>
          <a:solidFill>
            <a:srgbClr val="F2ECFF"/>
          </a:solidFill>
          <a:ln w="12700">
            <a:solidFill>
              <a:srgbClr val="F2E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88736" y="215798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XGBoost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888736" y="2596896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>
                    <a:alpha val="7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AI PROVIDER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66176" y="2029968"/>
            <a:ext cx="2377440" cy="960120"/>
          </a:xfrm>
          <a:prstGeom prst="roundRect">
            <a:avLst>
              <a:gd name="adj" fmla="val 17143"/>
            </a:avLst>
          </a:prstGeom>
          <a:solidFill>
            <a:srgbClr val="FFF0E7"/>
          </a:solidFill>
          <a:ln w="12700">
            <a:solidFill>
              <a:srgbClr val="FFF0E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215798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973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430768" y="2596896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>
                    <a:alpha val="7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CONTROL PLANES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3310128"/>
            <a:ext cx="5230368" cy="2331720"/>
          </a:xfrm>
          <a:prstGeom prst="roundRect">
            <a:avLst>
              <a:gd name="adj" fmla="val 9020"/>
            </a:avLst>
          </a:prstGeom>
          <a:solidFill>
            <a:srgbClr val="FFFFFF"/>
          </a:solidFill>
          <a:ln w="12700">
            <a:solidFill>
              <a:srgbClr val="D9E3DD"/>
            </a:solidFill>
            <a:prstDash val="solid"/>
          </a:ln>
          <a:effectLst>
            <a:outerShdw sx="100000" sy="100000" kx="0" ky="0" algn="bl" rotWithShape="0" blurRad="2.183067706146787e+41" dist="4.366135412293574e+41" dir="2.72097792e+49">
              <a:srgbClr val="0A241C">
                <a:alpha val="1.3e+49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41832" y="3602736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DDF7E8"/>
          </a:solidFill>
          <a:ln w="12700">
            <a:solidFill>
              <a:srgbClr val="DDF7E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4984" y="3602736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50976" y="4087368"/>
            <a:ext cx="173736" cy="1737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408736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261872" y="4050792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Vercel app + credential-free demo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50976" y="4453128"/>
            <a:ext cx="173736" cy="1737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" y="445312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261872" y="4416552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Authenticated owner and customer journeys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50976" y="4818888"/>
            <a:ext cx="173736" cy="1737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" y="481888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261872" y="4782312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 XGBoost candidate predictions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50976" y="5184648"/>
            <a:ext cx="173736" cy="1737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976" y="518464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261872" y="5148072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approval → live marketplace deal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44768" y="3310128"/>
            <a:ext cx="5413248" cy="2331720"/>
          </a:xfrm>
          <a:prstGeom prst="roundRect">
            <a:avLst>
              <a:gd name="adj" fmla="val 9020"/>
            </a:avLst>
          </a:prstGeom>
          <a:solidFill>
            <a:srgbClr val="FFFFFF"/>
          </a:solidFill>
          <a:ln w="12700">
            <a:solidFill>
              <a:srgbClr val="D9E3DD"/>
            </a:solidFill>
            <a:prstDash val="solid"/>
          </a:ln>
          <a:effectLst>
            <a:outerShdw sx="100000" sy="100000" kx="0" ky="0" algn="bl" rotWithShape="0" blurRad="2.7724959868064195e+45" dist="5.544991973612839e+45" dir="1.6325867520000003e+54">
              <a:srgbClr val="0A241C">
                <a:alpha val="1.2999999999999999e+54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46520" y="3602736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FF0E7"/>
          </a:solidFill>
          <a:ln w="12700">
            <a:solidFill>
              <a:srgbClr val="FFF0E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9672" y="3602736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YET CLAIMED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55664" y="4087368"/>
            <a:ext cx="173736" cy="173736"/>
          </a:xfrm>
          <a:prstGeom prst="ellipse">
            <a:avLst/>
          </a:prstGeom>
          <a:solidFill>
            <a:srgbClr val="FFF0E7"/>
          </a:solidFill>
          <a:ln w="12700">
            <a:solidFill>
              <a:srgbClr val="FFF0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55664" y="408736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766560" y="405079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Real-store forecast quality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55664" y="4453128"/>
            <a:ext cx="173736" cy="173736"/>
          </a:xfrm>
          <a:prstGeom prst="ellipse">
            <a:avLst/>
          </a:prstGeom>
          <a:solidFill>
            <a:srgbClr val="FFF0E7"/>
          </a:solidFill>
          <a:ln w="12700">
            <a:solidFill>
              <a:srgbClr val="FFF0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55664" y="445312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766560" y="441655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Incremental sales or waste reduction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55664" y="4818888"/>
            <a:ext cx="173736" cy="173736"/>
          </a:xfrm>
          <a:prstGeom prst="ellipse">
            <a:avLst/>
          </a:prstGeom>
          <a:solidFill>
            <a:srgbClr val="FFF0E7"/>
          </a:solidFill>
          <a:ln w="12700">
            <a:solidFill>
              <a:srgbClr val="FFF0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55664" y="481888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766560" y="478231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price elasticity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55664" y="5184648"/>
            <a:ext cx="173736" cy="173736"/>
          </a:xfrm>
          <a:prstGeom prst="ellipse">
            <a:avLst/>
          </a:prstGeom>
          <a:solidFill>
            <a:srgbClr val="FFF0E7"/>
          </a:solidFill>
          <a:ln w="12700">
            <a:solidFill>
              <a:srgbClr val="FFF0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55664" y="518464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766560" y="514807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3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payment and concurrency guarantees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58368" y="596188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u="sng" dirty="0">
                <a:solidFill>
                  <a:srgbClr val="10B981"/>
                </a:solidFill>
                <a:uFill>
                  <a:solidFill>
                    <a:srgbClr val="10B981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freshsaver-ai.vercel.app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703320" y="59801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080760" y="596188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u="sng" dirty="0">
                <a:solidFill>
                  <a:srgbClr val="7C3AED"/>
                </a:solidFill>
                <a:uFill>
                  <a:solidFill>
                    <a:srgbClr val="7C3AE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freshsaver-demand-model.onrender.com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921240" y="598017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API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02920" y="6419088"/>
            <a:ext cx="10744200" cy="0"/>
          </a:xfrm>
          <a:prstGeom prst="line">
            <a:avLst/>
          </a:prstGeom>
          <a:noFill/>
          <a:ln w="10160">
            <a:solidFill>
              <a:srgbClr val="D9E3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0352" y="647395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40" kern="0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FRESHSAVER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572768" y="647395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3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&amp; demo readiness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2938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PILOT, MEASURE, THEN SCALE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next claim will come from a controlled pilot.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3533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CB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FreshSaver is ready for shadow recommendations with independent grocers.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21408"/>
            <a:ext cx="2331720" cy="2029968"/>
          </a:xfrm>
          <a:prstGeom prst="roundRect">
            <a:avLst>
              <a:gd name="adj" fmla="val 10360"/>
            </a:avLst>
          </a:prstGeom>
          <a:solidFill>
            <a:srgbClr val="BEF264"/>
          </a:solidFill>
          <a:ln w="12700">
            <a:solidFill>
              <a:srgbClr val="BEF2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40864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173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" y="276148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D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Shadow mode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3255264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15A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without changing prices.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46704" y="2121408"/>
            <a:ext cx="2331720" cy="2029968"/>
          </a:xfrm>
          <a:prstGeom prst="roundRect">
            <a:avLst>
              <a:gd name="adj" fmla="val 10360"/>
            </a:avLst>
          </a:prstGeom>
          <a:solidFill>
            <a:srgbClr val="244E42"/>
          </a:solidFill>
          <a:ln w="12700">
            <a:solidFill>
              <a:srgbClr val="4165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2340864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547872" y="276148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Controlled rollout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47872" y="3255264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BD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approvals, overrides, and outcomes.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53328" y="2121408"/>
            <a:ext cx="2331720" cy="2029968"/>
          </a:xfrm>
          <a:prstGeom prst="roundRect">
            <a:avLst>
              <a:gd name="adj" fmla="val 10360"/>
            </a:avLst>
          </a:prstGeom>
          <a:solidFill>
            <a:srgbClr val="244E42"/>
          </a:solidFill>
          <a:ln w="12700">
            <a:solidFill>
              <a:srgbClr val="4165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2340864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54496" y="276148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 elasticity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54496" y="3255264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BD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Retrain from intervention response.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59952" y="2121408"/>
            <a:ext cx="2331720" cy="2029968"/>
          </a:xfrm>
          <a:prstGeom prst="roundRect">
            <a:avLst>
              <a:gd name="adj" fmla="val 10360"/>
            </a:avLst>
          </a:prstGeom>
          <a:solidFill>
            <a:srgbClr val="244E42"/>
          </a:solidFill>
          <a:ln w="12700">
            <a:solidFill>
              <a:srgbClr val="4165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0" y="2340864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961120" y="276148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 + shelf labels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61120" y="3255264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BD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 only within owner policy.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526280"/>
            <a:ext cx="7498080" cy="987552"/>
          </a:xfrm>
          <a:prstGeom prst="roundRect">
            <a:avLst>
              <a:gd name="adj" fmla="val 18519"/>
            </a:avLst>
          </a:prstGeom>
          <a:solidFill>
            <a:srgbClr val="244E42"/>
          </a:solidFill>
          <a:ln w="12700">
            <a:solidFill>
              <a:srgbClr val="244E4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7365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BUSINESS MODEL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96112" y="5047488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 of attributable campaign sales  •  no setup fee  •  impact measured before ROI is claimed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30768" y="4462272"/>
            <a:ext cx="3090672" cy="1325880"/>
          </a:xfrm>
          <a:prstGeom prst="roundRect">
            <a:avLst>
              <a:gd name="adj" fmla="val 15172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05088" y="46817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D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Would you pilot this?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796528" y="50749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 for the live product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851392" y="53766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10B981"/>
                </a:solidFill>
                <a:uFill>
                  <a:solidFill>
                    <a:srgbClr val="10B981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LIVE DEMO  →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34440" y="59618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EF2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 risk. Protect margin. Reach the right shopper.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02920" y="6419088"/>
            <a:ext cx="10744200" cy="0"/>
          </a:xfrm>
          <a:prstGeom prst="line">
            <a:avLst/>
          </a:prstGeom>
          <a:noFill/>
          <a:ln w="10160">
            <a:solidFill>
              <a:srgbClr val="40645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647395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40" kern="0" dirty="0">
                <a:solidFill>
                  <a:srgbClr val="BEF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FRESHSAVER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572768" y="647395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0A9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FreshSaver AI · live product and source linked</a:t>
            </a:r>
            <a:endParaRPr lang="en-US" sz="750" dirty="0"/>
          </a:p>
        </p:txBody>
      </p:sp>
      <p:pic>
        <p:nvPicPr>
          <p:cNvPr id="33" name="Image 0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4617720"/>
            <a:ext cx="566928" cy="566928"/>
          </a:xfrm>
          <a:prstGeom prst="rect">
            <a:avLst/>
          </a:prstGeom>
        </p:spPr>
      </p:pic>
      <p:pic>
        <p:nvPicPr>
          <p:cNvPr id="34" name="Image 1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5779008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6ADA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AI Builders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FreshSaver — Protect Margin Before Food Becomes Waste</dc:title>
  <dc:subject>Explainable AI markdown decisions for independent grocers</dc:subject>
  <dc:creator>FreshSaver AI</dc:creator>
  <cp:lastModifiedBy>FreshSaver AI</cp:lastModifiedBy>
  <cp:revision>1</cp:revision>
  <dcterms:created xsi:type="dcterms:W3CDTF">2026-09-15T22:45:56Z</dcterms:created>
  <dcterms:modified xsi:type="dcterms:W3CDTF">2026-09-15T22:45:56Z</dcterms:modified>
</cp:coreProperties>
</file>